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56" r:id="rId2"/>
    <p:sldId id="257" r:id="rId3"/>
    <p:sldId id="289" r:id="rId4"/>
    <p:sldId id="293" r:id="rId5"/>
    <p:sldId id="296" r:id="rId6"/>
    <p:sldId id="277" r:id="rId7"/>
    <p:sldId id="294" r:id="rId8"/>
    <p:sldId id="301" r:id="rId9"/>
    <p:sldId id="295" r:id="rId10"/>
    <p:sldId id="297" r:id="rId11"/>
    <p:sldId id="298" r:id="rId12"/>
    <p:sldId id="318" r:id="rId13"/>
    <p:sldId id="299" r:id="rId14"/>
    <p:sldId id="300" r:id="rId15"/>
    <p:sldId id="337" r:id="rId16"/>
    <p:sldId id="317" r:id="rId17"/>
    <p:sldId id="303" r:id="rId18"/>
    <p:sldId id="304" r:id="rId19"/>
    <p:sldId id="305" r:id="rId20"/>
    <p:sldId id="306" r:id="rId21"/>
    <p:sldId id="307" r:id="rId22"/>
    <p:sldId id="308" r:id="rId23"/>
    <p:sldId id="302" r:id="rId24"/>
    <p:sldId id="311" r:id="rId25"/>
    <p:sldId id="309" r:id="rId26"/>
    <p:sldId id="313" r:id="rId27"/>
    <p:sldId id="314" r:id="rId28"/>
    <p:sldId id="312" r:id="rId29"/>
    <p:sldId id="330" r:id="rId30"/>
    <p:sldId id="310" r:id="rId31"/>
    <p:sldId id="329" r:id="rId32"/>
    <p:sldId id="333" r:id="rId33"/>
    <p:sldId id="331" r:id="rId34"/>
    <p:sldId id="328" r:id="rId35"/>
    <p:sldId id="315" r:id="rId36"/>
    <p:sldId id="320" r:id="rId37"/>
    <p:sldId id="322" r:id="rId38"/>
    <p:sldId id="321" r:id="rId39"/>
    <p:sldId id="323" r:id="rId40"/>
    <p:sldId id="324" r:id="rId41"/>
    <p:sldId id="325" r:id="rId42"/>
    <p:sldId id="326" r:id="rId43"/>
    <p:sldId id="327" r:id="rId44"/>
    <p:sldId id="316" r:id="rId45"/>
    <p:sldId id="319"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092F5"/>
    <a:srgbClr val="91AC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5896" autoAdjust="0"/>
    <p:restoredTop sz="94843" autoAdjust="0"/>
  </p:normalViewPr>
  <p:slideViewPr>
    <p:cSldViewPr snapToGrid="0">
      <p:cViewPr varScale="1">
        <p:scale>
          <a:sx n="35" d="100"/>
          <a:sy n="35" d="100"/>
        </p:scale>
        <p:origin x="64" y="6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1D00F6-8571-4D6A-8CD0-A5D2C0337292}" type="datetimeFigureOut">
              <a:rPr lang="en-IN" smtClean="0"/>
              <a:t>26-05-2026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772C26-F88E-49E2-BB61-E8881EA03FFB}" type="slidenum">
              <a:rPr lang="en-IN" smtClean="0"/>
              <a:t>‹#›</a:t>
            </a:fld>
            <a:endParaRPr lang="en-IN"/>
          </a:p>
        </p:txBody>
      </p:sp>
    </p:spTree>
    <p:extLst>
      <p:ext uri="{BB962C8B-B14F-4D97-AF65-F5344CB8AC3E}">
        <p14:creationId xmlns:p14="http://schemas.microsoft.com/office/powerpoint/2010/main" val="17066006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linkedin.com/pulse/components-centrifugal-pump-innovative-engineers-network-6bdfc/"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endParaRPr lang="en-US" dirty="0" smtClean="0"/>
          </a:p>
          <a:p>
            <a:endParaRPr lang="en-US" dirty="0" smtClean="0"/>
          </a:p>
          <a:p>
            <a:r>
              <a:rPr lang="en-IN" b="1" dirty="0" smtClean="0"/>
              <a:t>https://www.slideshare.net/slideshow/size-reduction-237810791/237810791</a:t>
            </a:r>
            <a:endParaRPr lang="en-IN" b="1" dirty="0"/>
          </a:p>
        </p:txBody>
      </p:sp>
      <p:sp>
        <p:nvSpPr>
          <p:cNvPr id="4" name="Slide Number Placeholder 3"/>
          <p:cNvSpPr>
            <a:spLocks noGrp="1"/>
          </p:cNvSpPr>
          <p:nvPr>
            <p:ph type="sldNum" sz="quarter" idx="10"/>
          </p:nvPr>
        </p:nvSpPr>
        <p:spPr/>
        <p:txBody>
          <a:bodyPr/>
          <a:lstStyle/>
          <a:p>
            <a:fld id="{0F772C26-F88E-49E2-BB61-E8881EA03FFB}" type="slidenum">
              <a:rPr lang="en-IN" smtClean="0"/>
              <a:t>2</a:t>
            </a:fld>
            <a:endParaRPr lang="en-IN"/>
          </a:p>
        </p:txBody>
      </p:sp>
    </p:spTree>
    <p:extLst>
      <p:ext uri="{BB962C8B-B14F-4D97-AF65-F5344CB8AC3E}">
        <p14:creationId xmlns:p14="http://schemas.microsoft.com/office/powerpoint/2010/main" val="2072566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hlinkClick r:id="rId3"/>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hlinkClick r:id="rId3"/>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hlinkClick r:id="rId3"/>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hlinkClick r:id="rId3"/>
              </a:rPr>
              <a:t>https://www.linkedin.com/pulse/components-centrifugal-pump-innovative-engineers-network-6bdfc/</a:t>
            </a:r>
            <a:endParaRPr lang="en-US" dirty="0" smtClean="0"/>
          </a:p>
          <a:p>
            <a:endParaRPr lang="en-IN" dirty="0"/>
          </a:p>
        </p:txBody>
      </p:sp>
      <p:sp>
        <p:nvSpPr>
          <p:cNvPr id="4" name="Slide Number Placeholder 3"/>
          <p:cNvSpPr>
            <a:spLocks noGrp="1"/>
          </p:cNvSpPr>
          <p:nvPr>
            <p:ph type="sldNum" sz="quarter" idx="10"/>
          </p:nvPr>
        </p:nvSpPr>
        <p:spPr/>
        <p:txBody>
          <a:bodyPr/>
          <a:lstStyle/>
          <a:p>
            <a:fld id="{0F772C26-F88E-49E2-BB61-E8881EA03FFB}" type="slidenum">
              <a:rPr lang="en-IN" smtClean="0"/>
              <a:t>15</a:t>
            </a:fld>
            <a:endParaRPr lang="en-IN"/>
          </a:p>
        </p:txBody>
      </p:sp>
    </p:spTree>
    <p:extLst>
      <p:ext uri="{BB962C8B-B14F-4D97-AF65-F5344CB8AC3E}">
        <p14:creationId xmlns:p14="http://schemas.microsoft.com/office/powerpoint/2010/main" val="32568190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6F83AB15-F754-46DB-9AA7-079C25768979}" type="datetimeFigureOut">
              <a:rPr lang="en-IN" smtClean="0"/>
              <a:t>26-05-2026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5A7025-8516-4CF3-BF5E-DBEF627ED75B}" type="slidenum">
              <a:rPr lang="en-IN" smtClean="0"/>
              <a:t>‹#›</a:t>
            </a:fld>
            <a:endParaRPr lang="en-IN"/>
          </a:p>
        </p:txBody>
      </p:sp>
    </p:spTree>
    <p:extLst>
      <p:ext uri="{BB962C8B-B14F-4D97-AF65-F5344CB8AC3E}">
        <p14:creationId xmlns:p14="http://schemas.microsoft.com/office/powerpoint/2010/main" val="314954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3200" b="1">
                <a:solidFill>
                  <a:schemeClr val="accent1"/>
                </a:solidFill>
                <a:latin typeface="+mn-lt"/>
              </a:defRPr>
            </a:lvl1pPr>
          </a:lstStyle>
          <a:p>
            <a:r>
              <a:rPr lang="en-US" dirty="0" smtClean="0"/>
              <a:t>Click to edit Master title style</a:t>
            </a:r>
            <a:endParaRPr lang="en-IN" dirty="0"/>
          </a:p>
        </p:txBody>
      </p:sp>
      <p:sp>
        <p:nvSpPr>
          <p:cNvPr id="3" name="Content Placeholder 2"/>
          <p:cNvSpPr>
            <a:spLocks noGrp="1"/>
          </p:cNvSpPr>
          <p:nvPr>
            <p:ph idx="1"/>
          </p:nvPr>
        </p:nvSpPr>
        <p:spPr/>
        <p:txBody>
          <a:bodyPr/>
          <a:lstStyle>
            <a:lvl1pPr>
              <a:defRPr sz="2400"/>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4" name="Date Placeholder 3"/>
          <p:cNvSpPr>
            <a:spLocks noGrp="1"/>
          </p:cNvSpPr>
          <p:nvPr>
            <p:ph type="dt" sz="half" idx="10"/>
          </p:nvPr>
        </p:nvSpPr>
        <p:spPr/>
        <p:txBody>
          <a:bodyPr/>
          <a:lstStyle/>
          <a:p>
            <a:fld id="{6F83AB15-F754-46DB-9AA7-079C25768979}" type="datetimeFigureOut">
              <a:rPr lang="en-IN" smtClean="0"/>
              <a:t>26-05-2026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5A7025-8516-4CF3-BF5E-DBEF627ED75B}" type="slidenum">
              <a:rPr lang="en-IN" smtClean="0"/>
              <a:t>‹#›</a:t>
            </a:fld>
            <a:endParaRPr lang="en-IN"/>
          </a:p>
        </p:txBody>
      </p:sp>
    </p:spTree>
    <p:extLst>
      <p:ext uri="{BB962C8B-B14F-4D97-AF65-F5344CB8AC3E}">
        <p14:creationId xmlns:p14="http://schemas.microsoft.com/office/powerpoint/2010/main" val="40452340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F83AB15-F754-46DB-9AA7-079C25768979}" type="datetimeFigureOut">
              <a:rPr lang="en-IN" smtClean="0"/>
              <a:t>26-05-2026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5A7025-8516-4CF3-BF5E-DBEF627ED75B}" type="slidenum">
              <a:rPr lang="en-IN" smtClean="0"/>
              <a:t>‹#›</a:t>
            </a:fld>
            <a:endParaRPr lang="en-IN"/>
          </a:p>
        </p:txBody>
      </p:sp>
    </p:spTree>
    <p:extLst>
      <p:ext uri="{BB962C8B-B14F-4D97-AF65-F5344CB8AC3E}">
        <p14:creationId xmlns:p14="http://schemas.microsoft.com/office/powerpoint/2010/main" val="3858033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6F83AB15-F754-46DB-9AA7-079C25768979}" type="datetimeFigureOut">
              <a:rPr lang="en-IN" smtClean="0"/>
              <a:t>26-05-2026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85A7025-8516-4CF3-BF5E-DBEF627ED75B}" type="slidenum">
              <a:rPr lang="en-IN" smtClean="0"/>
              <a:t>‹#›</a:t>
            </a:fld>
            <a:endParaRPr lang="en-IN"/>
          </a:p>
        </p:txBody>
      </p:sp>
    </p:spTree>
    <p:extLst>
      <p:ext uri="{BB962C8B-B14F-4D97-AF65-F5344CB8AC3E}">
        <p14:creationId xmlns:p14="http://schemas.microsoft.com/office/powerpoint/2010/main" val="38686899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6F83AB15-F754-46DB-9AA7-079C25768979}" type="datetimeFigureOut">
              <a:rPr lang="en-IN" smtClean="0"/>
              <a:t>26-05-2026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85A7025-8516-4CF3-BF5E-DBEF627ED75B}" type="slidenum">
              <a:rPr lang="en-IN" smtClean="0"/>
              <a:t>‹#›</a:t>
            </a:fld>
            <a:endParaRPr lang="en-IN"/>
          </a:p>
        </p:txBody>
      </p:sp>
    </p:spTree>
    <p:extLst>
      <p:ext uri="{BB962C8B-B14F-4D97-AF65-F5344CB8AC3E}">
        <p14:creationId xmlns:p14="http://schemas.microsoft.com/office/powerpoint/2010/main" val="27255308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6F83AB15-F754-46DB-9AA7-079C25768979}" type="datetimeFigureOut">
              <a:rPr lang="en-IN" smtClean="0"/>
              <a:t>26-05-2026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85A7025-8516-4CF3-BF5E-DBEF627ED75B}" type="slidenum">
              <a:rPr lang="en-IN" smtClean="0"/>
              <a:t>‹#›</a:t>
            </a:fld>
            <a:endParaRPr lang="en-IN"/>
          </a:p>
        </p:txBody>
      </p:sp>
    </p:spTree>
    <p:extLst>
      <p:ext uri="{BB962C8B-B14F-4D97-AF65-F5344CB8AC3E}">
        <p14:creationId xmlns:p14="http://schemas.microsoft.com/office/powerpoint/2010/main" val="4201470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83AB15-F754-46DB-9AA7-079C25768979}" type="datetimeFigureOut">
              <a:rPr lang="en-IN" smtClean="0"/>
              <a:t>26-05-2026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85A7025-8516-4CF3-BF5E-DBEF627ED75B}" type="slidenum">
              <a:rPr lang="en-IN" smtClean="0"/>
              <a:t>‹#›</a:t>
            </a:fld>
            <a:endParaRPr lang="en-IN"/>
          </a:p>
        </p:txBody>
      </p:sp>
    </p:spTree>
    <p:extLst>
      <p:ext uri="{BB962C8B-B14F-4D97-AF65-F5344CB8AC3E}">
        <p14:creationId xmlns:p14="http://schemas.microsoft.com/office/powerpoint/2010/main" val="2548400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F83AB15-F754-46DB-9AA7-079C25768979}" type="datetimeFigureOut">
              <a:rPr lang="en-IN" smtClean="0"/>
              <a:t>26-05-2026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85A7025-8516-4CF3-BF5E-DBEF627ED75B}" type="slidenum">
              <a:rPr lang="en-IN" smtClean="0"/>
              <a:t>‹#›</a:t>
            </a:fld>
            <a:endParaRPr lang="en-IN"/>
          </a:p>
        </p:txBody>
      </p:sp>
    </p:spTree>
    <p:extLst>
      <p:ext uri="{BB962C8B-B14F-4D97-AF65-F5344CB8AC3E}">
        <p14:creationId xmlns:p14="http://schemas.microsoft.com/office/powerpoint/2010/main" val="9088658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F83AB15-F754-46DB-9AA7-079C25768979}" type="datetimeFigureOut">
              <a:rPr lang="en-IN" smtClean="0"/>
              <a:t>26-05-2026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85A7025-8516-4CF3-BF5E-DBEF627ED75B}" type="slidenum">
              <a:rPr lang="en-IN" smtClean="0"/>
              <a:t>‹#›</a:t>
            </a:fld>
            <a:endParaRPr lang="en-IN"/>
          </a:p>
        </p:txBody>
      </p:sp>
    </p:spTree>
    <p:extLst>
      <p:ext uri="{BB962C8B-B14F-4D97-AF65-F5344CB8AC3E}">
        <p14:creationId xmlns:p14="http://schemas.microsoft.com/office/powerpoint/2010/main" val="37875779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F83AB15-F754-46DB-9AA7-079C25768979}" type="datetimeFigureOut">
              <a:rPr lang="en-IN" smtClean="0"/>
              <a:t>26-05-2026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5A7025-8516-4CF3-BF5E-DBEF627ED75B}" type="slidenum">
              <a:rPr lang="en-IN" smtClean="0"/>
              <a:t>‹#›</a:t>
            </a:fld>
            <a:endParaRPr lang="en-IN"/>
          </a:p>
        </p:txBody>
      </p:sp>
    </p:spTree>
    <p:extLst>
      <p:ext uri="{BB962C8B-B14F-4D97-AF65-F5344CB8AC3E}">
        <p14:creationId xmlns:p14="http://schemas.microsoft.com/office/powerpoint/2010/main" val="2787586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F83AB15-F754-46DB-9AA7-079C25768979}" type="datetimeFigureOut">
              <a:rPr lang="en-IN" smtClean="0"/>
              <a:t>26-05-2026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5A7025-8516-4CF3-BF5E-DBEF627ED75B}" type="slidenum">
              <a:rPr lang="en-IN" smtClean="0"/>
              <a:t>‹#›</a:t>
            </a:fld>
            <a:endParaRPr lang="en-IN"/>
          </a:p>
        </p:txBody>
      </p:sp>
    </p:spTree>
    <p:extLst>
      <p:ext uri="{BB962C8B-B14F-4D97-AF65-F5344CB8AC3E}">
        <p14:creationId xmlns:p14="http://schemas.microsoft.com/office/powerpoint/2010/main" val="4218400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83AB15-F754-46DB-9AA7-079C25768979}" type="datetimeFigureOut">
              <a:rPr lang="en-IN" smtClean="0"/>
              <a:t>26-05-2026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5A7025-8516-4CF3-BF5E-DBEF627ED75B}" type="slidenum">
              <a:rPr lang="en-IN" smtClean="0"/>
              <a:t>‹#›</a:t>
            </a:fld>
            <a:endParaRPr lang="en-IN"/>
          </a:p>
        </p:txBody>
      </p:sp>
    </p:spTree>
    <p:extLst>
      <p:ext uri="{BB962C8B-B14F-4D97-AF65-F5344CB8AC3E}">
        <p14:creationId xmlns:p14="http://schemas.microsoft.com/office/powerpoint/2010/main" val="2975880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59.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620.png"/><Relationship Id="rId4" Type="http://schemas.openxmlformats.org/officeDocument/2006/relationships/image" Target="../media/image37.png"/></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UNIT OPERATIONS AND FLUID MECHANICS </a:t>
            </a:r>
            <a:endParaRPr lang="en-IN" dirty="0"/>
          </a:p>
        </p:txBody>
      </p:sp>
      <p:sp>
        <p:nvSpPr>
          <p:cNvPr id="3" name="Subtitle 2"/>
          <p:cNvSpPr>
            <a:spLocks noGrp="1"/>
          </p:cNvSpPr>
          <p:nvPr>
            <p:ph type="subTitle" idx="1"/>
          </p:nvPr>
        </p:nvSpPr>
        <p:spPr/>
        <p:txBody>
          <a:bodyPr/>
          <a:lstStyle/>
          <a:p>
            <a:r>
              <a:rPr lang="en-US" dirty="0" smtClean="0"/>
              <a:t>UNIT-3  Part -2 </a:t>
            </a:r>
            <a:endParaRPr lang="en-IN" dirty="0"/>
          </a:p>
        </p:txBody>
      </p:sp>
    </p:spTree>
    <p:extLst>
      <p:ext uri="{BB962C8B-B14F-4D97-AF65-F5344CB8AC3E}">
        <p14:creationId xmlns:p14="http://schemas.microsoft.com/office/powerpoint/2010/main" val="129327387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descr="https://lh7-rt.googleusercontent.com/slidesz/AGV_vUcIZ3iEQFv4oRvl-iFlPLXPaH2s--Hg6j6GRNrgE1EP_F60qEwSrFUA3SkhCDrGAPBtkBOD0W6vdlL9H0UVzterCbxBPFrbBi4gQqv50gEnXOCEGq8gdZTG1DTA-7OiZemmXi0U=s2048?key=N6TQLV7gnCe3qPG3XFrtP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32619" y="1027906"/>
            <a:ext cx="11543071" cy="23204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126266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FLUID MECHANICS </a:t>
            </a:r>
            <a:endParaRPr lang="en-IN" dirty="0"/>
          </a:p>
        </p:txBody>
      </p:sp>
      <p:pic>
        <p:nvPicPr>
          <p:cNvPr id="4" name="Picture 2" descr="https://lh7-rt.googleusercontent.com/slidesz/AGV_vUcIZ3iEQFv4oRvl-iFlPLXPaH2s--Hg6j6GRNrgE1EP_F60qEwSrFUA3SkhCDrGAPBtkBOD0W6vdlL9H0UVzterCbxBPFrbBi4gQqv50gEnXOCEGq8gdZTG1DTA-7OiZemmXi0U=s2048?key=N6TQLV7gnCe3qPG3XFrt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690688"/>
            <a:ext cx="10695039" cy="19019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586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37765"/>
          </a:xfrm>
        </p:spPr>
        <p:txBody>
          <a:bodyPr>
            <a:normAutofit fontScale="90000"/>
          </a:bodyPr>
          <a:lstStyle/>
          <a:p>
            <a:r>
              <a:rPr lang="en-US" i="1" dirty="0"/>
              <a:t>Fluid mechanics is an important area of engineering science. </a:t>
            </a:r>
            <a:br>
              <a:rPr lang="en-US" i="1" dirty="0"/>
            </a:br>
            <a:endParaRPr lang="en-IN" dirty="0"/>
          </a:p>
        </p:txBody>
      </p:sp>
      <p:sp>
        <p:nvSpPr>
          <p:cNvPr id="3" name="Content Placeholder 2"/>
          <p:cNvSpPr>
            <a:spLocks noGrp="1"/>
          </p:cNvSpPr>
          <p:nvPr>
            <p:ph idx="1"/>
          </p:nvPr>
        </p:nvSpPr>
        <p:spPr>
          <a:xfrm>
            <a:off x="838200" y="1002890"/>
            <a:ext cx="10515600" cy="5174073"/>
          </a:xfrm>
        </p:spPr>
        <p:txBody>
          <a:bodyPr>
            <a:normAutofit/>
          </a:bodyPr>
          <a:lstStyle/>
          <a:p>
            <a:r>
              <a:rPr lang="en-US" i="1" dirty="0" smtClean="0"/>
              <a:t>The </a:t>
            </a:r>
            <a:r>
              <a:rPr lang="en-US" i="1" dirty="0"/>
              <a:t>nature of flow in pipes, pumps and reactors depends on </a:t>
            </a:r>
            <a:endParaRPr lang="en-US" i="1" dirty="0" smtClean="0"/>
          </a:p>
          <a:p>
            <a:pPr lvl="1"/>
            <a:r>
              <a:rPr lang="en-US" i="1" dirty="0">
                <a:solidFill>
                  <a:schemeClr val="accent1">
                    <a:lumMod val="75000"/>
                  </a:schemeClr>
                </a:solidFill>
              </a:rPr>
              <a:t>T</a:t>
            </a:r>
            <a:r>
              <a:rPr lang="en-US" i="1" dirty="0" smtClean="0">
                <a:solidFill>
                  <a:schemeClr val="accent1">
                    <a:lumMod val="75000"/>
                  </a:schemeClr>
                </a:solidFill>
              </a:rPr>
              <a:t>he power </a:t>
            </a:r>
            <a:r>
              <a:rPr lang="en-US" i="1" dirty="0">
                <a:solidFill>
                  <a:schemeClr val="accent1">
                    <a:lumMod val="75000"/>
                  </a:schemeClr>
                </a:solidFill>
              </a:rPr>
              <a:t>input to the system and </a:t>
            </a:r>
            <a:endParaRPr lang="en-US" i="1" dirty="0" smtClean="0">
              <a:solidFill>
                <a:schemeClr val="accent1">
                  <a:lumMod val="75000"/>
                </a:schemeClr>
              </a:solidFill>
            </a:endParaRPr>
          </a:p>
          <a:p>
            <a:pPr lvl="1"/>
            <a:r>
              <a:rPr lang="en-US" i="1" dirty="0">
                <a:solidFill>
                  <a:schemeClr val="accent1">
                    <a:lumMod val="75000"/>
                  </a:schemeClr>
                </a:solidFill>
              </a:rPr>
              <a:t>T</a:t>
            </a:r>
            <a:r>
              <a:rPr lang="en-US" i="1" dirty="0" smtClean="0">
                <a:solidFill>
                  <a:schemeClr val="accent1">
                    <a:lumMod val="75000"/>
                  </a:schemeClr>
                </a:solidFill>
              </a:rPr>
              <a:t>he </a:t>
            </a:r>
            <a:r>
              <a:rPr lang="en-US" i="1" dirty="0">
                <a:solidFill>
                  <a:schemeClr val="accent1">
                    <a:lumMod val="75000"/>
                  </a:schemeClr>
                </a:solidFill>
              </a:rPr>
              <a:t>physical characteristics of the fluid</a:t>
            </a:r>
            <a:r>
              <a:rPr lang="en-US" i="1" dirty="0" smtClean="0">
                <a:solidFill>
                  <a:schemeClr val="accent1">
                    <a:lumMod val="75000"/>
                  </a:schemeClr>
                </a:solidFill>
              </a:rPr>
              <a:t>.</a:t>
            </a:r>
          </a:p>
          <a:p>
            <a:r>
              <a:rPr lang="en-US" i="1" dirty="0" smtClean="0"/>
              <a:t> </a:t>
            </a:r>
            <a:r>
              <a:rPr lang="en-US" i="1" dirty="0"/>
              <a:t>In fermenters, fluid properties </a:t>
            </a:r>
            <a:r>
              <a:rPr lang="en-US" i="1" dirty="0" smtClean="0"/>
              <a:t>affect </a:t>
            </a:r>
            <a:r>
              <a:rPr lang="en-US" i="1" dirty="0" smtClean="0">
                <a:solidFill>
                  <a:schemeClr val="accent1">
                    <a:lumMod val="75000"/>
                  </a:schemeClr>
                </a:solidFill>
              </a:rPr>
              <a:t>process energy requirements </a:t>
            </a:r>
            <a:r>
              <a:rPr lang="en-US" i="1" dirty="0"/>
              <a:t>and the </a:t>
            </a:r>
            <a:r>
              <a:rPr lang="en-US" i="1" dirty="0">
                <a:solidFill>
                  <a:schemeClr val="accent1">
                    <a:lumMod val="75000"/>
                  </a:schemeClr>
                </a:solidFill>
              </a:rPr>
              <a:t>effectiveness of mixing</a:t>
            </a:r>
            <a:r>
              <a:rPr lang="en-US" i="1" dirty="0"/>
              <a:t>, which can have a dramatic influence on productivity and the success of </a:t>
            </a:r>
            <a:r>
              <a:rPr lang="en-US" i="1" dirty="0" smtClean="0"/>
              <a:t>equipment scale-up</a:t>
            </a:r>
            <a:r>
              <a:rPr lang="en-US" i="1" dirty="0"/>
              <a:t>. </a:t>
            </a:r>
            <a:endParaRPr lang="en-US" i="1" dirty="0" smtClean="0"/>
          </a:p>
          <a:p>
            <a:r>
              <a:rPr lang="en-US" i="1" dirty="0" smtClean="0"/>
              <a:t> </a:t>
            </a:r>
            <a:r>
              <a:rPr lang="en-US" i="1" dirty="0">
                <a:solidFill>
                  <a:schemeClr val="accent1">
                    <a:lumMod val="75000"/>
                  </a:schemeClr>
                </a:solidFill>
              </a:rPr>
              <a:t>T</a:t>
            </a:r>
            <a:r>
              <a:rPr lang="en-US" i="1" dirty="0" smtClean="0">
                <a:solidFill>
                  <a:schemeClr val="accent1">
                    <a:lumMod val="75000"/>
                  </a:schemeClr>
                </a:solidFill>
              </a:rPr>
              <a:t>ransport </a:t>
            </a:r>
            <a:r>
              <a:rPr lang="en-US" i="1" dirty="0">
                <a:solidFill>
                  <a:schemeClr val="accent1">
                    <a:lumMod val="75000"/>
                  </a:schemeClr>
                </a:solidFill>
              </a:rPr>
              <a:t>of heat and mass is often coupled with fluid flow. </a:t>
            </a:r>
            <a:endParaRPr lang="en-US" i="1" dirty="0" smtClean="0">
              <a:solidFill>
                <a:schemeClr val="accent1">
                  <a:lumMod val="75000"/>
                </a:schemeClr>
              </a:solidFill>
            </a:endParaRPr>
          </a:p>
          <a:p>
            <a:r>
              <a:rPr lang="en-US" i="1" dirty="0" smtClean="0"/>
              <a:t>To</a:t>
            </a:r>
            <a:r>
              <a:rPr lang="en-US" i="1" dirty="0"/>
              <a:t> </a:t>
            </a:r>
            <a:r>
              <a:rPr lang="en-US" i="1" dirty="0" smtClean="0"/>
              <a:t>understand </a:t>
            </a:r>
            <a:r>
              <a:rPr lang="en-US" i="1" dirty="0"/>
              <a:t>the mechanisms of these important </a:t>
            </a:r>
            <a:r>
              <a:rPr lang="en-US" i="1" dirty="0" smtClean="0"/>
              <a:t>transport processes</a:t>
            </a:r>
            <a:r>
              <a:rPr lang="en-US" i="1" dirty="0"/>
              <a:t>, we must </a:t>
            </a:r>
            <a:r>
              <a:rPr lang="en-US" i="1" dirty="0" smtClean="0"/>
              <a:t>first </a:t>
            </a:r>
            <a:r>
              <a:rPr lang="en-US" i="1" dirty="0"/>
              <a:t>examine the </a:t>
            </a:r>
            <a:r>
              <a:rPr lang="en-US" i="1" dirty="0" smtClean="0"/>
              <a:t>behavior </a:t>
            </a:r>
            <a:r>
              <a:rPr lang="en-US" i="1" dirty="0"/>
              <a:t>of fluid near </a:t>
            </a:r>
            <a:r>
              <a:rPr lang="en-US" i="1" dirty="0" smtClean="0"/>
              <a:t>surfaces and </a:t>
            </a:r>
            <a:r>
              <a:rPr lang="en-US" i="1" dirty="0"/>
              <a:t>interfaces. </a:t>
            </a:r>
            <a:endParaRPr lang="en-US" i="1" dirty="0" smtClean="0"/>
          </a:p>
          <a:p>
            <a:r>
              <a:rPr lang="en-US" i="1" dirty="0" smtClean="0"/>
              <a:t>Fluids </a:t>
            </a:r>
            <a:r>
              <a:rPr lang="en-US" i="1" dirty="0"/>
              <a:t>in bioprocessing often contain </a:t>
            </a:r>
            <a:r>
              <a:rPr lang="en-US" i="1" dirty="0">
                <a:solidFill>
                  <a:schemeClr val="accent1">
                    <a:lumMod val="75000"/>
                  </a:schemeClr>
                </a:solidFill>
              </a:rPr>
              <a:t>suspended solids</a:t>
            </a:r>
            <a:r>
              <a:rPr lang="en-US" i="1" dirty="0"/>
              <a:t>, consist of </a:t>
            </a:r>
            <a:r>
              <a:rPr lang="en-US" i="1" dirty="0">
                <a:solidFill>
                  <a:schemeClr val="accent1">
                    <a:lumMod val="75000"/>
                  </a:schemeClr>
                </a:solidFill>
              </a:rPr>
              <a:t>more than one phase</a:t>
            </a:r>
            <a:r>
              <a:rPr lang="en-US" i="1" dirty="0"/>
              <a:t>, and </a:t>
            </a:r>
            <a:r>
              <a:rPr lang="en-US" i="1" dirty="0" smtClean="0"/>
              <a:t>have </a:t>
            </a:r>
            <a:r>
              <a:rPr lang="en-US" i="1" dirty="0" smtClean="0">
                <a:solidFill>
                  <a:schemeClr val="accent1">
                    <a:lumMod val="75000"/>
                  </a:schemeClr>
                </a:solidFill>
              </a:rPr>
              <a:t>non-Newtonian </a:t>
            </a:r>
            <a:r>
              <a:rPr lang="en-US" i="1" dirty="0">
                <a:solidFill>
                  <a:schemeClr val="accent1">
                    <a:lumMod val="75000"/>
                  </a:schemeClr>
                </a:solidFill>
              </a:rPr>
              <a:t>properties</a:t>
            </a:r>
            <a:r>
              <a:rPr lang="en-US" i="1" dirty="0"/>
              <a:t>. </a:t>
            </a:r>
            <a:endParaRPr lang="en-US" i="1" dirty="0" smtClean="0"/>
          </a:p>
          <a:p>
            <a:r>
              <a:rPr lang="en-US" i="1" dirty="0" smtClean="0"/>
              <a:t>All </a:t>
            </a:r>
            <a:r>
              <a:rPr lang="en-US" i="1" dirty="0"/>
              <a:t>of these features complicate analysis of flow </a:t>
            </a:r>
            <a:r>
              <a:rPr lang="en-US" i="1" dirty="0" err="1"/>
              <a:t>behaviour</a:t>
            </a:r>
            <a:r>
              <a:rPr lang="en-US" i="1" dirty="0"/>
              <a:t> and present many challenges </a:t>
            </a:r>
            <a:r>
              <a:rPr lang="en-US" i="1" dirty="0" smtClean="0"/>
              <a:t>in </a:t>
            </a:r>
            <a:r>
              <a:rPr lang="en-IN" i="1" dirty="0" smtClean="0"/>
              <a:t>bioprocess </a:t>
            </a:r>
            <a:r>
              <a:rPr lang="en-IN" i="1" dirty="0"/>
              <a:t>design.</a:t>
            </a:r>
            <a:endParaRPr lang="en-IN" dirty="0"/>
          </a:p>
        </p:txBody>
      </p:sp>
    </p:spTree>
    <p:extLst>
      <p:ext uri="{BB962C8B-B14F-4D97-AF65-F5344CB8AC3E}">
        <p14:creationId xmlns:p14="http://schemas.microsoft.com/office/powerpoint/2010/main" val="1007070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00135" y="0"/>
            <a:ext cx="4691865" cy="1325563"/>
          </a:xfrm>
        </p:spPr>
        <p:txBody>
          <a:bodyPr>
            <a:normAutofit/>
          </a:bodyPr>
          <a:lstStyle/>
          <a:p>
            <a:r>
              <a:rPr lang="en-US" sz="2000" dirty="0">
                <a:solidFill>
                  <a:schemeClr val="tx1"/>
                </a:solidFill>
              </a:rPr>
              <a:t>Figure 7.2 Streamlines for </a:t>
            </a:r>
            <a:r>
              <a:rPr lang="en-US" sz="2000" dirty="0" smtClean="0">
                <a:solidFill>
                  <a:schemeClr val="tx1"/>
                </a:solidFill>
              </a:rPr>
              <a:t/>
            </a:r>
            <a:br>
              <a:rPr lang="en-US" sz="2000" dirty="0" smtClean="0">
                <a:solidFill>
                  <a:schemeClr val="tx1"/>
                </a:solidFill>
              </a:rPr>
            </a:br>
            <a:r>
              <a:rPr lang="en-US" sz="2000" dirty="0" smtClean="0">
                <a:solidFill>
                  <a:schemeClr val="tx1"/>
                </a:solidFill>
              </a:rPr>
              <a:t>(</a:t>
            </a:r>
            <a:r>
              <a:rPr lang="en-US" sz="2000" dirty="0">
                <a:solidFill>
                  <a:schemeClr val="tx1"/>
                </a:solidFill>
              </a:rPr>
              <a:t>a) constant fluid velocity; </a:t>
            </a:r>
            <a:r>
              <a:rPr lang="en-US" sz="2000" dirty="0" smtClean="0">
                <a:solidFill>
                  <a:schemeClr val="tx1"/>
                </a:solidFill>
              </a:rPr>
              <a:t/>
            </a:r>
            <a:br>
              <a:rPr lang="en-US" sz="2000" dirty="0" smtClean="0">
                <a:solidFill>
                  <a:schemeClr val="tx1"/>
                </a:solidFill>
              </a:rPr>
            </a:br>
            <a:r>
              <a:rPr lang="en-US" sz="2000" dirty="0" smtClean="0">
                <a:solidFill>
                  <a:schemeClr val="tx1"/>
                </a:solidFill>
              </a:rPr>
              <a:t>(b)steady </a:t>
            </a:r>
            <a:r>
              <a:rPr lang="en-US" sz="2000" dirty="0">
                <a:solidFill>
                  <a:schemeClr val="tx1"/>
                </a:solidFill>
              </a:rPr>
              <a:t>flow over a submerged object</a:t>
            </a:r>
            <a:r>
              <a:rPr lang="en-US" sz="2000" dirty="0" smtClean="0">
                <a:solidFill>
                  <a:schemeClr val="tx1"/>
                </a:solidFill>
              </a:rPr>
              <a:t>.</a:t>
            </a:r>
            <a:endParaRPr lang="en-IN" sz="2000" dirty="0">
              <a:solidFill>
                <a:schemeClr val="tx1"/>
              </a:solidFill>
            </a:endParaRPr>
          </a:p>
        </p:txBody>
      </p:sp>
      <p:pic>
        <p:nvPicPr>
          <p:cNvPr id="4" name="Content Placeholder 3"/>
          <p:cNvPicPr>
            <a:picLocks noGrp="1" noChangeAspect="1"/>
          </p:cNvPicPr>
          <p:nvPr>
            <p:ph idx="1"/>
          </p:nvPr>
        </p:nvPicPr>
        <p:blipFill>
          <a:blip r:embed="rId2"/>
          <a:stretch>
            <a:fillRect/>
          </a:stretch>
        </p:blipFill>
        <p:spPr>
          <a:xfrm>
            <a:off x="7676180" y="1105751"/>
            <a:ext cx="3549832" cy="2152761"/>
          </a:xfrm>
          <a:prstGeom prst="rect">
            <a:avLst/>
          </a:prstGeom>
        </p:spPr>
      </p:pic>
      <p:pic>
        <p:nvPicPr>
          <p:cNvPr id="5" name="Picture 4"/>
          <p:cNvPicPr>
            <a:picLocks noChangeAspect="1"/>
          </p:cNvPicPr>
          <p:nvPr/>
        </p:nvPicPr>
        <p:blipFill>
          <a:blip r:embed="rId3"/>
          <a:stretch>
            <a:fillRect/>
          </a:stretch>
        </p:blipFill>
        <p:spPr>
          <a:xfrm>
            <a:off x="7695231" y="3245628"/>
            <a:ext cx="3530781" cy="2895749"/>
          </a:xfrm>
          <a:prstGeom prst="rect">
            <a:avLst/>
          </a:prstGeom>
        </p:spPr>
      </p:pic>
      <p:sp>
        <p:nvSpPr>
          <p:cNvPr id="3" name="Rectangle 2"/>
          <p:cNvSpPr/>
          <p:nvPr/>
        </p:nvSpPr>
        <p:spPr>
          <a:xfrm>
            <a:off x="1306474" y="4190546"/>
            <a:ext cx="6096000" cy="646331"/>
          </a:xfrm>
          <a:prstGeom prst="rect">
            <a:avLst/>
          </a:prstGeom>
        </p:spPr>
        <p:txBody>
          <a:bodyPr>
            <a:spAutoFit/>
          </a:bodyPr>
          <a:lstStyle/>
          <a:p>
            <a:r>
              <a:rPr lang="en-US" dirty="0"/>
              <a:t>the effect of shear force in planar and rotational systems is illustrated in Figure 7.1. </a:t>
            </a:r>
          </a:p>
        </p:txBody>
      </p:sp>
      <p:pic>
        <p:nvPicPr>
          <p:cNvPr id="6" name="Picture 5"/>
          <p:cNvPicPr>
            <a:picLocks noChangeAspect="1"/>
          </p:cNvPicPr>
          <p:nvPr/>
        </p:nvPicPr>
        <p:blipFill>
          <a:blip r:embed="rId4"/>
          <a:stretch>
            <a:fillRect/>
          </a:stretch>
        </p:blipFill>
        <p:spPr>
          <a:xfrm>
            <a:off x="1501683" y="173718"/>
            <a:ext cx="5295478" cy="4016828"/>
          </a:xfrm>
          <a:prstGeom prst="rect">
            <a:avLst/>
          </a:prstGeom>
        </p:spPr>
      </p:pic>
      <p:sp>
        <p:nvSpPr>
          <p:cNvPr id="7" name="Rectangle 6"/>
          <p:cNvSpPr/>
          <p:nvPr/>
        </p:nvSpPr>
        <p:spPr>
          <a:xfrm>
            <a:off x="1404135" y="5001618"/>
            <a:ext cx="6096000" cy="923330"/>
          </a:xfrm>
          <a:prstGeom prst="rect">
            <a:avLst/>
          </a:prstGeom>
        </p:spPr>
        <p:txBody>
          <a:bodyPr>
            <a:spAutoFit/>
          </a:bodyPr>
          <a:lstStyle/>
          <a:p>
            <a:r>
              <a:rPr lang="en-US" dirty="0"/>
              <a:t>Shear forces in these examples cause </a:t>
            </a:r>
            <a:r>
              <a:rPr lang="en-US" i="1" dirty="0"/>
              <a:t>deformation, </a:t>
            </a:r>
            <a:endParaRPr lang="en-US" i="1" dirty="0" smtClean="0"/>
          </a:p>
          <a:p>
            <a:r>
              <a:rPr lang="en-US" dirty="0" smtClean="0"/>
              <a:t>which </a:t>
            </a:r>
            <a:r>
              <a:rPr lang="en-US" dirty="0"/>
              <a:t>is a change in the relative positions of parts of a body. </a:t>
            </a:r>
            <a:endParaRPr lang="en-US" dirty="0" smtClean="0"/>
          </a:p>
          <a:p>
            <a:r>
              <a:rPr lang="en-US" dirty="0" smtClean="0"/>
              <a:t>A </a:t>
            </a:r>
            <a:r>
              <a:rPr lang="en-US" dirty="0"/>
              <a:t>shear force must be applied to produce fluid flow.</a:t>
            </a:r>
          </a:p>
        </p:txBody>
      </p:sp>
    </p:spTree>
    <p:extLst>
      <p:ext uri="{BB962C8B-B14F-4D97-AF65-F5344CB8AC3E}">
        <p14:creationId xmlns:p14="http://schemas.microsoft.com/office/powerpoint/2010/main" val="15998681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There are two types of stress that a structure can experience: </a:t>
            </a:r>
            <a:endParaRPr lang="en-US" dirty="0" smtClean="0"/>
          </a:p>
          <a:p>
            <a:r>
              <a:rPr lang="en-US" dirty="0" smtClean="0"/>
              <a:t>1</a:t>
            </a:r>
            <a:r>
              <a:rPr lang="en-US" dirty="0"/>
              <a:t>. </a:t>
            </a:r>
            <a:r>
              <a:rPr lang="en-US" b="1" dirty="0"/>
              <a:t>Normal Stress</a:t>
            </a:r>
            <a:r>
              <a:rPr lang="en-US" dirty="0"/>
              <a:t> and 2. </a:t>
            </a:r>
            <a:r>
              <a:rPr lang="en-US" b="1" dirty="0"/>
              <a:t>Shear Stress</a:t>
            </a:r>
            <a:r>
              <a:rPr lang="en-US" dirty="0"/>
              <a:t>. </a:t>
            </a:r>
            <a:endParaRPr lang="en-US" dirty="0" smtClean="0"/>
          </a:p>
          <a:p>
            <a:r>
              <a:rPr lang="en-US" dirty="0" smtClean="0"/>
              <a:t>When </a:t>
            </a:r>
            <a:r>
              <a:rPr lang="en-US" dirty="0"/>
              <a:t>a force acts perpendicular (or "normal") to the surface of an object, it exerts a normal stress. </a:t>
            </a:r>
            <a:endParaRPr lang="en-US" dirty="0" smtClean="0"/>
          </a:p>
          <a:p>
            <a:r>
              <a:rPr lang="en-US" dirty="0" smtClean="0"/>
              <a:t>When </a:t>
            </a:r>
            <a:r>
              <a:rPr lang="en-US" dirty="0"/>
              <a:t>a </a:t>
            </a:r>
            <a:r>
              <a:rPr lang="en-US" dirty="0" smtClean="0"/>
              <a:t>force (shear force) </a:t>
            </a:r>
            <a:r>
              <a:rPr lang="en-US" dirty="0"/>
              <a:t>acts parallel to the surface of an object, it exerts a shear stress.</a:t>
            </a:r>
            <a:endParaRPr lang="en-IN" dirty="0"/>
          </a:p>
        </p:txBody>
      </p:sp>
    </p:spTree>
    <p:extLst>
      <p:ext uri="{BB962C8B-B14F-4D97-AF65-F5344CB8AC3E}">
        <p14:creationId xmlns:p14="http://schemas.microsoft.com/office/powerpoint/2010/main" val="11382084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6923" y="247138"/>
            <a:ext cx="10515600" cy="913069"/>
          </a:xfrm>
        </p:spPr>
        <p:txBody>
          <a:bodyPr>
            <a:normAutofit fontScale="90000"/>
          </a:bodyPr>
          <a:lstStyle/>
          <a:p>
            <a:r>
              <a:rPr lang="en-IN" dirty="0"/>
              <a:t>Classification of Fluids</a:t>
            </a:r>
            <a:br>
              <a:rPr lang="en-IN" dirty="0"/>
            </a:br>
            <a:endParaRPr lang="en-IN" dirty="0"/>
          </a:p>
        </p:txBody>
      </p:sp>
      <p:sp>
        <p:nvSpPr>
          <p:cNvPr id="3" name="Content Placeholder 2"/>
          <p:cNvSpPr>
            <a:spLocks noGrp="1"/>
          </p:cNvSpPr>
          <p:nvPr>
            <p:ph idx="1"/>
          </p:nvPr>
        </p:nvSpPr>
        <p:spPr>
          <a:xfrm>
            <a:off x="326923" y="801874"/>
            <a:ext cx="11782332" cy="5650296"/>
          </a:xfrm>
        </p:spPr>
        <p:txBody>
          <a:bodyPr>
            <a:normAutofit/>
          </a:bodyPr>
          <a:lstStyle/>
          <a:p>
            <a:r>
              <a:rPr lang="en-US" i="1" dirty="0" smtClean="0"/>
              <a:t>A </a:t>
            </a:r>
            <a:r>
              <a:rPr lang="en-US" i="1" dirty="0"/>
              <a:t>fluid is a substance which undergoes continuous </a:t>
            </a:r>
            <a:r>
              <a:rPr lang="en-US" i="1" dirty="0" smtClean="0"/>
              <a:t>deformation when </a:t>
            </a:r>
            <a:r>
              <a:rPr lang="en-US" i="1" dirty="0"/>
              <a:t>subjected to a shearing force. </a:t>
            </a:r>
            <a:r>
              <a:rPr lang="en-US" dirty="0"/>
              <a:t>A simple shearing force is </a:t>
            </a:r>
            <a:r>
              <a:rPr lang="en-US" dirty="0" smtClean="0"/>
              <a:t>one which </a:t>
            </a:r>
            <a:r>
              <a:rPr lang="en-US" dirty="0"/>
              <a:t>causes thin parallel plates to slide over each other, as in </a:t>
            </a:r>
            <a:r>
              <a:rPr lang="en-US" dirty="0" smtClean="0"/>
              <a:t>a pack </a:t>
            </a:r>
            <a:r>
              <a:rPr lang="en-US" dirty="0"/>
              <a:t>of cards. </a:t>
            </a:r>
            <a:endParaRPr lang="en-US" dirty="0" smtClean="0"/>
          </a:p>
          <a:p>
            <a:r>
              <a:rPr lang="en-US" dirty="0" smtClean="0"/>
              <a:t>Shear </a:t>
            </a:r>
            <a:r>
              <a:rPr lang="en-US" dirty="0"/>
              <a:t>can also occur in other geometries; </a:t>
            </a:r>
            <a:endParaRPr lang="en-US" dirty="0" smtClean="0"/>
          </a:p>
          <a:p>
            <a:pPr marL="0" indent="0">
              <a:buNone/>
            </a:pPr>
            <a:r>
              <a:rPr lang="en-US" dirty="0" smtClean="0"/>
              <a:t>                                              Fluids </a:t>
            </a:r>
            <a:r>
              <a:rPr lang="en-US" dirty="0"/>
              <a:t>can be either </a:t>
            </a:r>
            <a:r>
              <a:rPr lang="en-US" dirty="0" smtClean="0"/>
              <a:t>gases or </a:t>
            </a:r>
            <a:r>
              <a:rPr lang="en-US" dirty="0"/>
              <a:t>liquids. </a:t>
            </a:r>
            <a:endParaRPr lang="en-US" dirty="0" smtClean="0"/>
          </a:p>
          <a:p>
            <a:r>
              <a:rPr lang="en-US" dirty="0" smtClean="0"/>
              <a:t>Two </a:t>
            </a:r>
            <a:r>
              <a:rPr lang="en-US" dirty="0"/>
              <a:t>physical properties, </a:t>
            </a:r>
            <a:r>
              <a:rPr lang="en-US" dirty="0">
                <a:solidFill>
                  <a:schemeClr val="accent2">
                    <a:lumMod val="75000"/>
                  </a:schemeClr>
                </a:solidFill>
              </a:rPr>
              <a:t>viscosity</a:t>
            </a:r>
            <a:r>
              <a:rPr lang="en-US" dirty="0"/>
              <a:t> and </a:t>
            </a:r>
            <a:r>
              <a:rPr lang="en-US" dirty="0">
                <a:solidFill>
                  <a:schemeClr val="accent2">
                    <a:lumMod val="75000"/>
                  </a:schemeClr>
                </a:solidFill>
              </a:rPr>
              <a:t>density, </a:t>
            </a:r>
            <a:r>
              <a:rPr lang="en-US" dirty="0" smtClean="0"/>
              <a:t>are used </a:t>
            </a:r>
            <a:r>
              <a:rPr lang="en-US" dirty="0"/>
              <a:t>to classify fluids</a:t>
            </a:r>
            <a:r>
              <a:rPr lang="en-US" dirty="0" smtClean="0"/>
              <a:t>.</a:t>
            </a:r>
          </a:p>
          <a:p>
            <a:pPr lvl="1"/>
            <a:r>
              <a:rPr lang="en-US" dirty="0" smtClean="0"/>
              <a:t> </a:t>
            </a:r>
            <a:r>
              <a:rPr lang="en-US" dirty="0"/>
              <a:t>If the density of a fluid changes </a:t>
            </a:r>
            <a:r>
              <a:rPr lang="en-US" dirty="0" smtClean="0"/>
              <a:t>with pressure</a:t>
            </a:r>
            <a:r>
              <a:rPr lang="en-US" dirty="0"/>
              <a:t>, the fluid is </a:t>
            </a:r>
            <a:r>
              <a:rPr lang="en-US" i="1" dirty="0"/>
              <a:t>compressible</a:t>
            </a:r>
            <a:r>
              <a:rPr lang="en-US" i="1" dirty="0" smtClean="0"/>
              <a:t>. </a:t>
            </a:r>
          </a:p>
          <a:p>
            <a:pPr lvl="2"/>
            <a:r>
              <a:rPr lang="en-US" b="1" dirty="0" smtClean="0">
                <a:solidFill>
                  <a:srgbClr val="00B0F0"/>
                </a:solidFill>
              </a:rPr>
              <a:t>Gases</a:t>
            </a:r>
            <a:r>
              <a:rPr lang="en-US" dirty="0" smtClean="0"/>
              <a:t> </a:t>
            </a:r>
            <a:r>
              <a:rPr lang="en-US" dirty="0"/>
              <a:t>are generally classed </a:t>
            </a:r>
            <a:r>
              <a:rPr lang="en-US" dirty="0" smtClean="0"/>
              <a:t>as </a:t>
            </a:r>
            <a:r>
              <a:rPr lang="en-US" b="1" dirty="0" smtClean="0">
                <a:solidFill>
                  <a:srgbClr val="00B0F0"/>
                </a:solidFill>
              </a:rPr>
              <a:t>compressible </a:t>
            </a:r>
            <a:r>
              <a:rPr lang="en-US" b="1" dirty="0">
                <a:solidFill>
                  <a:srgbClr val="00B0F0"/>
                </a:solidFill>
              </a:rPr>
              <a:t>fluids</a:t>
            </a:r>
            <a:r>
              <a:rPr lang="en-US" dirty="0"/>
              <a:t>. </a:t>
            </a:r>
            <a:r>
              <a:rPr lang="el-GR" b="1" dirty="0">
                <a:solidFill>
                  <a:srgbClr val="FFC000"/>
                </a:solidFill>
              </a:rPr>
              <a:t>ρ</a:t>
            </a:r>
            <a:r>
              <a:rPr lang="en-US" b="1" dirty="0" smtClean="0">
                <a:solidFill>
                  <a:srgbClr val="FFC000"/>
                </a:solidFill>
              </a:rPr>
              <a:t> = fun ( pressure)</a:t>
            </a:r>
          </a:p>
          <a:p>
            <a:pPr lvl="1"/>
            <a:r>
              <a:rPr lang="en-US" dirty="0" smtClean="0"/>
              <a:t>The </a:t>
            </a:r>
            <a:r>
              <a:rPr lang="en-US" dirty="0"/>
              <a:t>density of liquids is </a:t>
            </a:r>
            <a:r>
              <a:rPr lang="en-US" dirty="0" smtClean="0"/>
              <a:t>practically independent </a:t>
            </a:r>
            <a:r>
              <a:rPr lang="en-US" dirty="0"/>
              <a:t>of pressure; </a:t>
            </a:r>
            <a:endParaRPr lang="en-US" dirty="0" smtClean="0"/>
          </a:p>
          <a:p>
            <a:pPr lvl="2"/>
            <a:r>
              <a:rPr lang="en-US" b="1" dirty="0" smtClean="0">
                <a:solidFill>
                  <a:srgbClr val="00B0F0"/>
                </a:solidFill>
              </a:rPr>
              <a:t>liquids</a:t>
            </a:r>
            <a:r>
              <a:rPr lang="en-US" dirty="0" smtClean="0"/>
              <a:t> </a:t>
            </a:r>
            <a:r>
              <a:rPr lang="en-US" dirty="0"/>
              <a:t>are </a:t>
            </a:r>
            <a:r>
              <a:rPr lang="en-US" b="1" i="1" dirty="0">
                <a:solidFill>
                  <a:srgbClr val="00B0F0"/>
                </a:solidFill>
              </a:rPr>
              <a:t>incompressible </a:t>
            </a:r>
            <a:r>
              <a:rPr lang="en-US" dirty="0"/>
              <a:t>fluids</a:t>
            </a:r>
            <a:r>
              <a:rPr lang="en-US" dirty="0" smtClean="0"/>
              <a:t>. </a:t>
            </a:r>
            <a:r>
              <a:rPr lang="el-GR" b="1" dirty="0">
                <a:solidFill>
                  <a:srgbClr val="FFC000"/>
                </a:solidFill>
              </a:rPr>
              <a:t>ρ</a:t>
            </a:r>
            <a:r>
              <a:rPr lang="en-US" b="1" dirty="0">
                <a:solidFill>
                  <a:srgbClr val="FFC000"/>
                </a:solidFill>
              </a:rPr>
              <a:t> = fun ( pressure</a:t>
            </a:r>
            <a:r>
              <a:rPr lang="en-US" b="1" dirty="0" smtClean="0">
                <a:solidFill>
                  <a:srgbClr val="FFC000"/>
                </a:solidFill>
              </a:rPr>
              <a:t>)</a:t>
            </a:r>
            <a:endParaRPr lang="en-US" dirty="0"/>
          </a:p>
          <a:p>
            <a:r>
              <a:rPr lang="en-US" dirty="0"/>
              <a:t>Sometimes the distinction between compressible and </a:t>
            </a:r>
            <a:r>
              <a:rPr lang="en-US" dirty="0" smtClean="0"/>
              <a:t>incompressible fluid </a:t>
            </a:r>
            <a:r>
              <a:rPr lang="en-US" dirty="0"/>
              <a:t>is not well defined; for example, a gas may </a:t>
            </a:r>
            <a:r>
              <a:rPr lang="en-US" dirty="0" smtClean="0"/>
              <a:t>be treated </a:t>
            </a:r>
            <a:r>
              <a:rPr lang="en-US" dirty="0"/>
              <a:t>as incompressible if variations of pressure and </a:t>
            </a:r>
            <a:r>
              <a:rPr lang="en-US" dirty="0" smtClean="0"/>
              <a:t>temperature </a:t>
            </a:r>
            <a:r>
              <a:rPr lang="en-IN" dirty="0" smtClean="0"/>
              <a:t>are </a:t>
            </a:r>
            <a:r>
              <a:rPr lang="en-IN" dirty="0"/>
              <a:t>small</a:t>
            </a:r>
            <a:r>
              <a:rPr lang="en-IN" dirty="0" smtClean="0"/>
              <a:t>.</a:t>
            </a:r>
            <a:endParaRPr lang="en-IN" dirty="0"/>
          </a:p>
        </p:txBody>
      </p:sp>
      <p:cxnSp>
        <p:nvCxnSpPr>
          <p:cNvPr id="5" name="Straight Connector 4"/>
          <p:cNvCxnSpPr/>
          <p:nvPr/>
        </p:nvCxnSpPr>
        <p:spPr>
          <a:xfrm flipH="1">
            <a:off x="5239820" y="4448709"/>
            <a:ext cx="61645" cy="14383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1187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6973" y="-199954"/>
            <a:ext cx="10515600" cy="1325563"/>
          </a:xfrm>
        </p:spPr>
        <p:txBody>
          <a:bodyPr/>
          <a:lstStyle/>
          <a:p>
            <a:r>
              <a:rPr lang="en-US" dirty="0"/>
              <a:t>Fluids are also classified on the basis of viscosity</a:t>
            </a:r>
            <a:endParaRPr lang="en-IN" dirty="0"/>
          </a:p>
        </p:txBody>
      </p:sp>
      <p:sp>
        <p:nvSpPr>
          <p:cNvPr id="3" name="Content Placeholder 2"/>
          <p:cNvSpPr>
            <a:spLocks noGrp="1"/>
          </p:cNvSpPr>
          <p:nvPr>
            <p:ph idx="1"/>
          </p:nvPr>
        </p:nvSpPr>
        <p:spPr>
          <a:xfrm>
            <a:off x="838200" y="1125610"/>
            <a:ext cx="10515600" cy="5051354"/>
          </a:xfrm>
        </p:spPr>
        <p:txBody>
          <a:bodyPr>
            <a:normAutofit/>
          </a:bodyPr>
          <a:lstStyle/>
          <a:p>
            <a:r>
              <a:rPr lang="en-US" dirty="0" smtClean="0"/>
              <a:t> </a:t>
            </a:r>
            <a:r>
              <a:rPr lang="en-US" dirty="0"/>
              <a:t>Viscosity is the property of fluids responsible for internal friction during flow</a:t>
            </a:r>
            <a:r>
              <a:rPr lang="en-US" dirty="0" smtClean="0"/>
              <a:t>.</a:t>
            </a:r>
          </a:p>
          <a:p>
            <a:r>
              <a:rPr lang="en-US" b="1" dirty="0"/>
              <a:t>Friction</a:t>
            </a:r>
            <a:r>
              <a:rPr lang="en-US" dirty="0"/>
              <a:t> is the force that resists movement when two surfaces touch</a:t>
            </a:r>
          </a:p>
          <a:p>
            <a:r>
              <a:rPr lang="en-US" dirty="0" smtClean="0"/>
              <a:t> </a:t>
            </a:r>
            <a:r>
              <a:rPr lang="en-US" dirty="0"/>
              <a:t>An </a:t>
            </a:r>
            <a:r>
              <a:rPr lang="en-US" i="1" dirty="0"/>
              <a:t>ideal </a:t>
            </a:r>
            <a:r>
              <a:rPr lang="en-US" dirty="0"/>
              <a:t>or </a:t>
            </a:r>
            <a:r>
              <a:rPr lang="en-US" i="1" dirty="0"/>
              <a:t>perfect </a:t>
            </a:r>
            <a:r>
              <a:rPr lang="en-US" dirty="0"/>
              <a:t>fluid is a hypothetical liquid or </a:t>
            </a:r>
            <a:r>
              <a:rPr lang="en-US" dirty="0" smtClean="0"/>
              <a:t>gas.</a:t>
            </a:r>
          </a:p>
          <a:p>
            <a:r>
              <a:rPr lang="en-US" dirty="0"/>
              <a:t>which is incompressible and has </a:t>
            </a:r>
            <a:r>
              <a:rPr lang="en-US" b="1" dirty="0">
                <a:solidFill>
                  <a:srgbClr val="00B0F0"/>
                </a:solidFill>
              </a:rPr>
              <a:t>zero viscosity</a:t>
            </a:r>
            <a:r>
              <a:rPr lang="en-US" dirty="0"/>
              <a:t>. The term </a:t>
            </a:r>
            <a:r>
              <a:rPr lang="en-US" b="1" i="1" dirty="0" err="1" smtClean="0">
                <a:solidFill>
                  <a:srgbClr val="00B0F0"/>
                </a:solidFill>
              </a:rPr>
              <a:t>inviscid</a:t>
            </a:r>
            <a:r>
              <a:rPr lang="en-US" i="1" dirty="0"/>
              <a:t> </a:t>
            </a:r>
            <a:r>
              <a:rPr lang="en-US" dirty="0" smtClean="0"/>
              <a:t>applies </a:t>
            </a:r>
            <a:r>
              <a:rPr lang="en-US" dirty="0"/>
              <a:t>to fluids with zero viscosity. </a:t>
            </a:r>
            <a:endParaRPr lang="en-US" dirty="0" smtClean="0"/>
          </a:p>
          <a:p>
            <a:r>
              <a:rPr lang="en-US" dirty="0" smtClean="0"/>
              <a:t>All </a:t>
            </a:r>
            <a:r>
              <a:rPr lang="en-US" i="1" dirty="0"/>
              <a:t>real </a:t>
            </a:r>
            <a:r>
              <a:rPr lang="en-US" dirty="0"/>
              <a:t>fluids </a:t>
            </a:r>
            <a:r>
              <a:rPr lang="en-US" dirty="0" smtClean="0"/>
              <a:t>have finite </a:t>
            </a:r>
            <a:r>
              <a:rPr lang="en-US" dirty="0"/>
              <a:t>viscosity and are therefore called </a:t>
            </a:r>
            <a:r>
              <a:rPr lang="en-US" b="1" i="1" dirty="0" err="1">
                <a:solidFill>
                  <a:srgbClr val="00B0F0"/>
                </a:solidFill>
              </a:rPr>
              <a:t>viscidor</a:t>
            </a:r>
            <a:r>
              <a:rPr lang="en-US" i="1" dirty="0"/>
              <a:t> viscous </a:t>
            </a:r>
            <a:r>
              <a:rPr lang="en-US" dirty="0"/>
              <a:t>fluids</a:t>
            </a:r>
            <a:r>
              <a:rPr lang="en-US" dirty="0" smtClean="0"/>
              <a:t>.</a:t>
            </a:r>
          </a:p>
          <a:p>
            <a:r>
              <a:rPr lang="en-US" dirty="0" smtClean="0">
                <a:solidFill>
                  <a:schemeClr val="accent1"/>
                </a:solidFill>
              </a:rPr>
              <a:t>Drag </a:t>
            </a:r>
            <a:r>
              <a:rPr lang="en-US" dirty="0">
                <a:solidFill>
                  <a:schemeClr val="accent1"/>
                </a:solidFill>
              </a:rPr>
              <a:t>force and viscosity are related but distinct concepts. Viscosity is an intrinsic property of a fluid that describes its resistance to flow, while drag force is a force that opposes the motion of an object through a fluid. </a:t>
            </a:r>
            <a:endParaRPr lang="en-US" dirty="0" smtClean="0">
              <a:solidFill>
                <a:schemeClr val="accent1"/>
              </a:solidFill>
            </a:endParaRPr>
          </a:p>
          <a:p>
            <a:r>
              <a:rPr lang="en-US" dirty="0" smtClean="0">
                <a:solidFill>
                  <a:schemeClr val="accent1"/>
                </a:solidFill>
              </a:rPr>
              <a:t>Viscosity </a:t>
            </a:r>
            <a:r>
              <a:rPr lang="en-US" dirty="0">
                <a:solidFill>
                  <a:schemeClr val="accent1"/>
                </a:solidFill>
              </a:rPr>
              <a:t>is the cause, drag force is the effect. </a:t>
            </a:r>
          </a:p>
          <a:p>
            <a:pPr marL="0" indent="0">
              <a:buNone/>
            </a:pPr>
            <a:endParaRPr lang="en-IN" dirty="0">
              <a:solidFill>
                <a:schemeClr val="accent1"/>
              </a:solidFill>
            </a:endParaRPr>
          </a:p>
        </p:txBody>
      </p:sp>
    </p:spTree>
    <p:extLst>
      <p:ext uri="{BB962C8B-B14F-4D97-AF65-F5344CB8AC3E}">
        <p14:creationId xmlns:p14="http://schemas.microsoft.com/office/powerpoint/2010/main" val="1640824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7690" y="-97211"/>
            <a:ext cx="10634609" cy="878048"/>
          </a:xfrm>
        </p:spPr>
        <p:txBody>
          <a:bodyPr/>
          <a:lstStyle/>
          <a:p>
            <a:r>
              <a:rPr lang="en-IN" dirty="0"/>
              <a:t>Fluids in </a:t>
            </a:r>
            <a:r>
              <a:rPr lang="en-IN" dirty="0" smtClean="0"/>
              <a:t>Motion</a:t>
            </a:r>
            <a:endParaRPr lang="en-IN" dirty="0"/>
          </a:p>
        </p:txBody>
      </p:sp>
      <p:sp>
        <p:nvSpPr>
          <p:cNvPr id="3" name="Content Placeholder 2"/>
          <p:cNvSpPr>
            <a:spLocks noGrp="1"/>
          </p:cNvSpPr>
          <p:nvPr>
            <p:ph idx="1"/>
          </p:nvPr>
        </p:nvSpPr>
        <p:spPr>
          <a:xfrm>
            <a:off x="475733" y="645311"/>
            <a:ext cx="8314306" cy="6119283"/>
          </a:xfrm>
        </p:spPr>
        <p:txBody>
          <a:bodyPr>
            <a:normAutofit fontScale="92500" lnSpcReduction="10000"/>
          </a:bodyPr>
          <a:lstStyle/>
          <a:p>
            <a:r>
              <a:rPr lang="en-US" dirty="0" smtClean="0"/>
              <a:t>Bioprocesses </a:t>
            </a:r>
            <a:r>
              <a:rPr lang="en-US" dirty="0"/>
              <a:t>involve fluids in motion in vessels and </a:t>
            </a:r>
            <a:r>
              <a:rPr lang="en-US" dirty="0" smtClean="0"/>
              <a:t>pipes. </a:t>
            </a:r>
          </a:p>
          <a:p>
            <a:r>
              <a:rPr lang="en-US" dirty="0" smtClean="0"/>
              <a:t>General </a:t>
            </a:r>
            <a:r>
              <a:rPr lang="en-US" dirty="0"/>
              <a:t>characteristics of fluid flow are </a:t>
            </a:r>
            <a:r>
              <a:rPr lang="en-IN" b="1" dirty="0" smtClean="0"/>
              <a:t>Streamlines</a:t>
            </a:r>
            <a:endParaRPr lang="en-IN" b="1" dirty="0"/>
          </a:p>
          <a:p>
            <a:r>
              <a:rPr lang="en-US" dirty="0"/>
              <a:t>When a fluid flows through a pipe or over a solid object, </a:t>
            </a:r>
            <a:r>
              <a:rPr lang="en-US" dirty="0" smtClean="0"/>
              <a:t>the velocity </a:t>
            </a:r>
            <a:r>
              <a:rPr lang="en-US" dirty="0"/>
              <a:t>of the fluid varies depending on position. One way </a:t>
            </a:r>
            <a:r>
              <a:rPr lang="en-US" dirty="0" smtClean="0"/>
              <a:t>of representing </a:t>
            </a:r>
            <a:r>
              <a:rPr lang="en-US" dirty="0"/>
              <a:t>variation in velocity is </a:t>
            </a:r>
            <a:r>
              <a:rPr lang="en-US" i="1" dirty="0"/>
              <a:t>streamlines, </a:t>
            </a:r>
            <a:r>
              <a:rPr lang="en-US" dirty="0"/>
              <a:t>which </a:t>
            </a:r>
            <a:r>
              <a:rPr lang="en-US" dirty="0" smtClean="0"/>
              <a:t>follow the </a:t>
            </a:r>
            <a:r>
              <a:rPr lang="en-US" dirty="0"/>
              <a:t>flow path. Constant velocity is shown by equidistant </a:t>
            </a:r>
            <a:r>
              <a:rPr lang="en-US" dirty="0" smtClean="0"/>
              <a:t>spacing of </a:t>
            </a:r>
            <a:r>
              <a:rPr lang="en-US" dirty="0"/>
              <a:t>parallel streamlines as shown in Figure 7.2(a). </a:t>
            </a:r>
            <a:r>
              <a:rPr lang="en-US" dirty="0" smtClean="0"/>
              <a:t>The velocity </a:t>
            </a:r>
            <a:r>
              <a:rPr lang="en-US" dirty="0"/>
              <a:t>profile for slow-moving fluid flowing over a </a:t>
            </a:r>
            <a:r>
              <a:rPr lang="en-US" dirty="0" smtClean="0"/>
              <a:t>submerged object </a:t>
            </a:r>
            <a:r>
              <a:rPr lang="en-US" dirty="0"/>
              <a:t>is shown in Figure 7.2(b); reduced </a:t>
            </a:r>
            <a:r>
              <a:rPr lang="en-US" dirty="0" smtClean="0"/>
              <a:t>spacing between </a:t>
            </a:r>
            <a:r>
              <a:rPr lang="en-US" dirty="0"/>
              <a:t>the streamlines indicates that the velocity at the </a:t>
            </a:r>
            <a:r>
              <a:rPr lang="en-US" dirty="0" smtClean="0"/>
              <a:t>top and </a:t>
            </a:r>
            <a:r>
              <a:rPr lang="en-US" dirty="0"/>
              <a:t>bottom of the object is greater than at the front and back.</a:t>
            </a:r>
          </a:p>
          <a:p>
            <a:r>
              <a:rPr lang="en-US" dirty="0"/>
              <a:t>Streamlines show only the net effect of fluid </a:t>
            </a:r>
            <a:r>
              <a:rPr lang="en-US" dirty="0" smtClean="0"/>
              <a:t>motion; although </a:t>
            </a:r>
            <a:r>
              <a:rPr lang="en-US" dirty="0"/>
              <a:t>streamlines suggest smooth continuous flow, fluid</a:t>
            </a:r>
          </a:p>
          <a:p>
            <a:r>
              <a:rPr lang="en-US" dirty="0"/>
              <a:t>molecules may actually be moving in an erratic fashion. </a:t>
            </a:r>
            <a:r>
              <a:rPr lang="en-US" dirty="0" smtClean="0"/>
              <a:t>The slower </a:t>
            </a:r>
            <a:r>
              <a:rPr lang="en-US" dirty="0"/>
              <a:t>the flow the more closely the streamlines </a:t>
            </a:r>
            <a:r>
              <a:rPr lang="en-US" dirty="0" smtClean="0"/>
              <a:t>represent actual </a:t>
            </a:r>
            <a:r>
              <a:rPr lang="en-US" dirty="0"/>
              <a:t>motion. Slow fluid flow is therefore called </a:t>
            </a:r>
            <a:r>
              <a:rPr lang="en-US" i="1" dirty="0">
                <a:solidFill>
                  <a:srgbClr val="00B0F0"/>
                </a:solidFill>
              </a:rPr>
              <a:t>streamline </a:t>
            </a:r>
            <a:r>
              <a:rPr lang="en-US" dirty="0" smtClean="0">
                <a:solidFill>
                  <a:srgbClr val="00B0F0"/>
                </a:solidFill>
              </a:rPr>
              <a:t>or </a:t>
            </a:r>
            <a:r>
              <a:rPr lang="en-US" i="1" dirty="0" smtClean="0">
                <a:solidFill>
                  <a:srgbClr val="00B0F0"/>
                </a:solidFill>
              </a:rPr>
              <a:t>laminar </a:t>
            </a:r>
            <a:r>
              <a:rPr lang="en-US" dirty="0">
                <a:solidFill>
                  <a:srgbClr val="00B0F0"/>
                </a:solidFill>
              </a:rPr>
              <a:t>flow</a:t>
            </a:r>
            <a:r>
              <a:rPr lang="en-US" dirty="0" smtClean="0"/>
              <a:t>.</a:t>
            </a:r>
          </a:p>
          <a:p>
            <a:r>
              <a:rPr lang="en-US" dirty="0" smtClean="0"/>
              <a:t> </a:t>
            </a:r>
            <a:r>
              <a:rPr lang="en-US" dirty="0"/>
              <a:t>In fast motion, fluid particles frequently </a:t>
            </a:r>
            <a:r>
              <a:rPr lang="en-US" dirty="0" smtClean="0"/>
              <a:t>cross and </a:t>
            </a:r>
            <a:r>
              <a:rPr lang="en-US" dirty="0" err="1"/>
              <a:t>recross</a:t>
            </a:r>
            <a:r>
              <a:rPr lang="en-US" dirty="0"/>
              <a:t> the streamlines. This motion is called </a:t>
            </a:r>
            <a:r>
              <a:rPr lang="en-US" i="1" dirty="0" smtClean="0">
                <a:solidFill>
                  <a:srgbClr val="00B0F0"/>
                </a:solidFill>
              </a:rPr>
              <a:t>turbulent </a:t>
            </a:r>
            <a:r>
              <a:rPr lang="en-US" dirty="0" smtClean="0">
                <a:solidFill>
                  <a:srgbClr val="00B0F0"/>
                </a:solidFill>
              </a:rPr>
              <a:t>flow</a:t>
            </a:r>
            <a:r>
              <a:rPr lang="en-US" dirty="0" smtClean="0"/>
              <a:t> </a:t>
            </a:r>
            <a:r>
              <a:rPr lang="en-US" dirty="0"/>
              <a:t>and is </a:t>
            </a:r>
            <a:r>
              <a:rPr lang="en-US" dirty="0" err="1"/>
              <a:t>characterised</a:t>
            </a:r>
            <a:r>
              <a:rPr lang="en-US" dirty="0"/>
              <a:t> by formation of </a:t>
            </a:r>
            <a:r>
              <a:rPr lang="en-US" i="1" dirty="0"/>
              <a:t>eddies.</a:t>
            </a:r>
            <a:endParaRPr lang="en-IN" dirty="0"/>
          </a:p>
        </p:txBody>
      </p:sp>
      <p:pic>
        <p:nvPicPr>
          <p:cNvPr id="4" name="Picture 3"/>
          <p:cNvPicPr>
            <a:picLocks noChangeAspect="1"/>
          </p:cNvPicPr>
          <p:nvPr/>
        </p:nvPicPr>
        <p:blipFill>
          <a:blip r:embed="rId2"/>
          <a:stretch>
            <a:fillRect/>
          </a:stretch>
        </p:blipFill>
        <p:spPr>
          <a:xfrm>
            <a:off x="8790039" y="645311"/>
            <a:ext cx="3333135" cy="5145889"/>
          </a:xfrm>
          <a:prstGeom prst="rect">
            <a:avLst/>
          </a:prstGeom>
        </p:spPr>
      </p:pic>
    </p:spTree>
    <p:extLst>
      <p:ext uri="{BB962C8B-B14F-4D97-AF65-F5344CB8AC3E}">
        <p14:creationId xmlns:p14="http://schemas.microsoft.com/office/powerpoint/2010/main" val="563966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0157"/>
            <a:ext cx="10515600" cy="913069"/>
          </a:xfrm>
        </p:spPr>
        <p:txBody>
          <a:bodyPr/>
          <a:lstStyle/>
          <a:p>
            <a:r>
              <a:rPr lang="en-IN" dirty="0"/>
              <a:t>Reynolds </a:t>
            </a:r>
            <a:r>
              <a:rPr lang="en-IN" dirty="0" smtClean="0"/>
              <a:t>Number</a:t>
            </a:r>
            <a:endParaRPr lang="en-IN" dirty="0"/>
          </a:p>
        </p:txBody>
      </p:sp>
      <p:sp>
        <p:nvSpPr>
          <p:cNvPr id="3" name="Content Placeholder 2"/>
          <p:cNvSpPr>
            <a:spLocks noGrp="1"/>
          </p:cNvSpPr>
          <p:nvPr>
            <p:ph idx="1"/>
          </p:nvPr>
        </p:nvSpPr>
        <p:spPr>
          <a:xfrm>
            <a:off x="491613" y="983226"/>
            <a:ext cx="10862187" cy="5193737"/>
          </a:xfrm>
        </p:spPr>
        <p:txBody>
          <a:bodyPr/>
          <a:lstStyle/>
          <a:p>
            <a:r>
              <a:rPr lang="en-US" dirty="0" smtClean="0"/>
              <a:t>Transition </a:t>
            </a:r>
            <a:r>
              <a:rPr lang="en-US" dirty="0"/>
              <a:t>from laminar to turbulent flow depends not </a:t>
            </a:r>
            <a:r>
              <a:rPr lang="en-US" dirty="0" smtClean="0"/>
              <a:t>only on </a:t>
            </a:r>
            <a:r>
              <a:rPr lang="en-US" dirty="0"/>
              <a:t>the velocity of the fluid, but also on its viscosity and </a:t>
            </a:r>
            <a:r>
              <a:rPr lang="en-US" dirty="0" smtClean="0"/>
              <a:t>density and </a:t>
            </a:r>
            <a:r>
              <a:rPr lang="en-US" dirty="0"/>
              <a:t>the geometry of the flow conduit</a:t>
            </a:r>
            <a:r>
              <a:rPr lang="en-US" dirty="0" smtClean="0"/>
              <a:t>.</a:t>
            </a:r>
          </a:p>
          <a:p>
            <a:r>
              <a:rPr lang="en-US" dirty="0" smtClean="0"/>
              <a:t> </a:t>
            </a:r>
            <a:r>
              <a:rPr lang="en-US" dirty="0"/>
              <a:t>A parameter used </a:t>
            </a:r>
            <a:r>
              <a:rPr lang="en-US" dirty="0" smtClean="0"/>
              <a:t>to </a:t>
            </a:r>
            <a:r>
              <a:rPr lang="en-US" dirty="0" err="1" smtClean="0"/>
              <a:t>characterise</a:t>
            </a:r>
            <a:r>
              <a:rPr lang="en-US" dirty="0" smtClean="0"/>
              <a:t> </a:t>
            </a:r>
            <a:r>
              <a:rPr lang="en-US" dirty="0"/>
              <a:t>fluid flow is the </a:t>
            </a:r>
            <a:r>
              <a:rPr lang="en-US" i="1" dirty="0"/>
              <a:t>Reynolds number. </a:t>
            </a:r>
            <a:r>
              <a:rPr lang="en-US" dirty="0"/>
              <a:t>For full flow </a:t>
            </a:r>
            <a:r>
              <a:rPr lang="en-US" dirty="0" smtClean="0"/>
              <a:t>in pipes </a:t>
            </a:r>
            <a:r>
              <a:rPr lang="en-US" dirty="0"/>
              <a:t>with circular </a:t>
            </a:r>
            <a:r>
              <a:rPr lang="en-US" dirty="0" smtClean="0"/>
              <a:t>cross-section</a:t>
            </a:r>
            <a:r>
              <a:rPr lang="en-US" dirty="0"/>
              <a:t>, Reynolds number </a:t>
            </a:r>
            <a:r>
              <a:rPr lang="en-US" i="1" dirty="0"/>
              <a:t>Re </a:t>
            </a:r>
            <a:r>
              <a:rPr lang="en-US" dirty="0" smtClean="0"/>
              <a:t>is </a:t>
            </a:r>
            <a:r>
              <a:rPr lang="en-IN" dirty="0" smtClean="0"/>
              <a:t>defined </a:t>
            </a:r>
            <a:r>
              <a:rPr lang="en-IN" dirty="0"/>
              <a:t>as</a:t>
            </a:r>
            <a:r>
              <a:rPr lang="en-IN" dirty="0" smtClean="0"/>
              <a:t>:</a:t>
            </a:r>
          </a:p>
          <a:p>
            <a:pPr marL="0" indent="0">
              <a:buNone/>
            </a:pPr>
            <a:endParaRPr lang="en-IN" dirty="0" smtClean="0"/>
          </a:p>
          <a:p>
            <a:r>
              <a:rPr lang="en-US" dirty="0"/>
              <a:t> </a:t>
            </a:r>
            <a:r>
              <a:rPr lang="en-US" dirty="0" smtClean="0"/>
              <a:t> </a:t>
            </a:r>
            <a:r>
              <a:rPr lang="en-US" dirty="0"/>
              <a:t>where D is pipe diameter, u is average linear velocity of </a:t>
            </a:r>
            <a:r>
              <a:rPr lang="en-US" dirty="0" smtClean="0"/>
              <a:t>the fluid</a:t>
            </a:r>
            <a:r>
              <a:rPr lang="en-US" dirty="0"/>
              <a:t>, </a:t>
            </a:r>
            <a:r>
              <a:rPr lang="el-GR" dirty="0" smtClean="0"/>
              <a:t>ρ</a:t>
            </a:r>
            <a:r>
              <a:rPr lang="en-US" dirty="0" smtClean="0"/>
              <a:t> </a:t>
            </a:r>
            <a:r>
              <a:rPr lang="en-US" dirty="0"/>
              <a:t>is fluid density, and </a:t>
            </a:r>
            <a:r>
              <a:rPr lang="en-US" dirty="0" smtClean="0"/>
              <a:t>)</a:t>
            </a:r>
            <a:r>
              <a:rPr lang="el-GR" dirty="0"/>
              <a:t> µ</a:t>
            </a:r>
            <a:r>
              <a:rPr lang="en-US" dirty="0" smtClean="0"/>
              <a:t> </a:t>
            </a:r>
            <a:r>
              <a:rPr lang="en-US" dirty="0"/>
              <a:t>is fluid viscosity. </a:t>
            </a:r>
            <a:endParaRPr lang="en-US" dirty="0" smtClean="0"/>
          </a:p>
          <a:p>
            <a:r>
              <a:rPr lang="en-US" dirty="0" smtClean="0"/>
              <a:t>For </a:t>
            </a:r>
            <a:r>
              <a:rPr lang="en-US" dirty="0">
                <a:solidFill>
                  <a:srgbClr val="00B0F0"/>
                </a:solidFill>
              </a:rPr>
              <a:t>stirred </a:t>
            </a:r>
            <a:r>
              <a:rPr lang="en-US" dirty="0" smtClean="0">
                <a:solidFill>
                  <a:srgbClr val="00B0F0"/>
                </a:solidFill>
              </a:rPr>
              <a:t>vessels </a:t>
            </a:r>
            <a:r>
              <a:rPr lang="en-US" dirty="0" smtClean="0"/>
              <a:t>there </a:t>
            </a:r>
            <a:r>
              <a:rPr lang="en-US" dirty="0"/>
              <a:t>is another definition of Reynolds number</a:t>
            </a:r>
            <a:r>
              <a:rPr lang="en-US" dirty="0" smtClean="0"/>
              <a:t>:</a:t>
            </a:r>
          </a:p>
          <a:p>
            <a:pPr marL="0" indent="0">
              <a:buNone/>
            </a:pPr>
            <a:endParaRPr lang="en-US" dirty="0" smtClean="0"/>
          </a:p>
          <a:p>
            <a:r>
              <a:rPr lang="en-US" dirty="0"/>
              <a:t> where </a:t>
            </a:r>
            <a:r>
              <a:rPr lang="en-US" i="1" dirty="0" err="1" smtClean="0"/>
              <a:t>Re</a:t>
            </a:r>
            <a:r>
              <a:rPr lang="en-US" b="1" i="1" baseline="-25000" dirty="0" err="1" smtClean="0"/>
              <a:t>i</a:t>
            </a:r>
            <a:r>
              <a:rPr lang="en-US" i="1" dirty="0" smtClean="0"/>
              <a:t> </a:t>
            </a:r>
            <a:r>
              <a:rPr lang="en-US" dirty="0" smtClean="0"/>
              <a:t>is </a:t>
            </a:r>
            <a:r>
              <a:rPr lang="en-US" dirty="0"/>
              <a:t>the </a:t>
            </a:r>
            <a:r>
              <a:rPr lang="en-US" i="1" dirty="0"/>
              <a:t>impeller Reynolds number, </a:t>
            </a:r>
            <a:r>
              <a:rPr lang="en-US" i="1" dirty="0" smtClean="0"/>
              <a:t>N</a:t>
            </a:r>
            <a:r>
              <a:rPr lang="en-US" b="1" i="1" baseline="-25000" dirty="0"/>
              <a:t>i</a:t>
            </a:r>
            <a:r>
              <a:rPr lang="en-US" i="1" dirty="0"/>
              <a:t> </a:t>
            </a:r>
            <a:r>
              <a:rPr lang="en-US" i="1" dirty="0" smtClean="0"/>
              <a:t> </a:t>
            </a:r>
            <a:r>
              <a:rPr lang="en-US" dirty="0"/>
              <a:t>is stirrer speed,</a:t>
            </a:r>
          </a:p>
          <a:p>
            <a:pPr marL="0" indent="0">
              <a:buNone/>
            </a:pPr>
            <a:r>
              <a:rPr lang="en-US" dirty="0" smtClean="0"/>
              <a:t>      D</a:t>
            </a:r>
            <a:r>
              <a:rPr lang="en-US" b="1" i="1" baseline="-25000" dirty="0"/>
              <a:t>i</a:t>
            </a:r>
            <a:r>
              <a:rPr lang="en-US" i="1" dirty="0"/>
              <a:t> </a:t>
            </a:r>
            <a:r>
              <a:rPr lang="en-US" dirty="0" smtClean="0"/>
              <a:t> </a:t>
            </a:r>
            <a:r>
              <a:rPr lang="en-US" dirty="0"/>
              <a:t>is impeller </a:t>
            </a:r>
            <a:r>
              <a:rPr lang="en-US" dirty="0" smtClean="0"/>
              <a:t>diameter (stirrer ), </a:t>
            </a:r>
            <a:r>
              <a:rPr lang="el-GR" dirty="0" smtClean="0"/>
              <a:t>ρ</a:t>
            </a:r>
            <a:r>
              <a:rPr lang="en-US" dirty="0" smtClean="0"/>
              <a:t> </a:t>
            </a:r>
            <a:r>
              <a:rPr lang="en-US" dirty="0"/>
              <a:t>is fluid density </a:t>
            </a:r>
            <a:r>
              <a:rPr lang="en-US" dirty="0" smtClean="0"/>
              <a:t>and</a:t>
            </a:r>
            <a:r>
              <a:rPr lang="en-US" dirty="0"/>
              <a:t> </a:t>
            </a:r>
            <a:r>
              <a:rPr lang="el-GR" dirty="0"/>
              <a:t>µ</a:t>
            </a:r>
            <a:r>
              <a:rPr lang="en-US" dirty="0" smtClean="0"/>
              <a:t> </a:t>
            </a:r>
            <a:r>
              <a:rPr lang="en-US" dirty="0"/>
              <a:t>is fluid viscosity.</a:t>
            </a:r>
            <a:endParaRPr lang="en-IN" dirty="0"/>
          </a:p>
        </p:txBody>
      </p:sp>
      <p:pic>
        <p:nvPicPr>
          <p:cNvPr id="4" name="Picture 3"/>
          <p:cNvPicPr>
            <a:picLocks noChangeAspect="1"/>
          </p:cNvPicPr>
          <p:nvPr/>
        </p:nvPicPr>
        <p:blipFill>
          <a:blip r:embed="rId2"/>
          <a:stretch>
            <a:fillRect/>
          </a:stretch>
        </p:blipFill>
        <p:spPr>
          <a:xfrm>
            <a:off x="9371043" y="2163912"/>
            <a:ext cx="1422319" cy="844760"/>
          </a:xfrm>
          <a:prstGeom prst="rect">
            <a:avLst/>
          </a:prstGeom>
        </p:spPr>
      </p:pic>
      <p:pic>
        <p:nvPicPr>
          <p:cNvPr id="5" name="Picture 4"/>
          <p:cNvPicPr>
            <a:picLocks noChangeAspect="1"/>
          </p:cNvPicPr>
          <p:nvPr/>
        </p:nvPicPr>
        <p:blipFill>
          <a:blip r:embed="rId3"/>
          <a:stretch>
            <a:fillRect/>
          </a:stretch>
        </p:blipFill>
        <p:spPr>
          <a:xfrm>
            <a:off x="9371043" y="3700912"/>
            <a:ext cx="1589574" cy="644946"/>
          </a:xfrm>
          <a:prstGeom prst="rect">
            <a:avLst/>
          </a:prstGeom>
        </p:spPr>
      </p:pic>
    </p:spTree>
    <p:extLst>
      <p:ext uri="{BB962C8B-B14F-4D97-AF65-F5344CB8AC3E}">
        <p14:creationId xmlns:p14="http://schemas.microsoft.com/office/powerpoint/2010/main" val="17907819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1781" y="304800"/>
            <a:ext cx="11375922" cy="5872163"/>
          </a:xfrm>
        </p:spPr>
        <p:txBody>
          <a:bodyPr>
            <a:normAutofit lnSpcReduction="10000"/>
          </a:bodyPr>
          <a:lstStyle/>
          <a:p>
            <a:r>
              <a:rPr lang="en-US" dirty="0"/>
              <a:t>The Reynolds number is a </a:t>
            </a:r>
            <a:r>
              <a:rPr lang="en-US" dirty="0">
                <a:solidFill>
                  <a:srgbClr val="00B0F0"/>
                </a:solidFill>
              </a:rPr>
              <a:t>dimensionless variable</a:t>
            </a:r>
            <a:r>
              <a:rPr lang="en-US" dirty="0"/>
              <a:t>; the </a:t>
            </a:r>
            <a:r>
              <a:rPr lang="en-US" dirty="0" smtClean="0"/>
              <a:t>units and </a:t>
            </a:r>
            <a:r>
              <a:rPr lang="en-US" dirty="0"/>
              <a:t>dimensions of the parameters in </a:t>
            </a:r>
            <a:r>
              <a:rPr lang="en-US" dirty="0" err="1"/>
              <a:t>Eqs</a:t>
            </a:r>
            <a:r>
              <a:rPr lang="en-US" dirty="0"/>
              <a:t> (7.1) and (7.2) </a:t>
            </a:r>
            <a:r>
              <a:rPr lang="en-US" dirty="0" smtClean="0"/>
              <a:t>cancel </a:t>
            </a:r>
            <a:r>
              <a:rPr lang="en-IN" dirty="0" smtClean="0"/>
              <a:t>completely.</a:t>
            </a:r>
          </a:p>
          <a:p>
            <a:r>
              <a:rPr lang="en-IN" dirty="0" smtClean="0"/>
              <a:t> </a:t>
            </a:r>
            <a:r>
              <a:rPr lang="en-US" dirty="0" smtClean="0"/>
              <a:t>Reynolds </a:t>
            </a:r>
            <a:r>
              <a:rPr lang="en-US" dirty="0"/>
              <a:t>number is named after Osborne Reynolds, </a:t>
            </a:r>
            <a:r>
              <a:rPr lang="en-US" dirty="0" smtClean="0"/>
              <a:t>who published </a:t>
            </a:r>
            <a:r>
              <a:rPr lang="en-US" dirty="0"/>
              <a:t>in 1883 a classical series of papers on the </a:t>
            </a:r>
            <a:r>
              <a:rPr lang="en-US" dirty="0">
                <a:solidFill>
                  <a:srgbClr val="00B0F0"/>
                </a:solidFill>
              </a:rPr>
              <a:t>nature </a:t>
            </a:r>
            <a:r>
              <a:rPr lang="en-US" dirty="0" smtClean="0">
                <a:solidFill>
                  <a:srgbClr val="00B0F0"/>
                </a:solidFill>
              </a:rPr>
              <a:t>of flow </a:t>
            </a:r>
            <a:r>
              <a:rPr lang="en-US" dirty="0">
                <a:solidFill>
                  <a:srgbClr val="00B0F0"/>
                </a:solidFill>
              </a:rPr>
              <a:t>in pipes</a:t>
            </a:r>
            <a:r>
              <a:rPr lang="en-US" dirty="0"/>
              <a:t>. One of the most significant outcomes </a:t>
            </a:r>
            <a:r>
              <a:rPr lang="en-US" dirty="0" smtClean="0"/>
              <a:t>of Reynolds</a:t>
            </a:r>
            <a:r>
              <a:rPr lang="en-US" dirty="0"/>
              <a:t>' experiments is that there is a </a:t>
            </a:r>
            <a:r>
              <a:rPr lang="en-US" i="1" dirty="0">
                <a:solidFill>
                  <a:srgbClr val="00B0F0"/>
                </a:solidFill>
              </a:rPr>
              <a:t>critical Reynolds </a:t>
            </a:r>
            <a:r>
              <a:rPr lang="en-US" i="1" dirty="0" smtClean="0">
                <a:solidFill>
                  <a:srgbClr val="00B0F0"/>
                </a:solidFill>
              </a:rPr>
              <a:t>number </a:t>
            </a:r>
            <a:r>
              <a:rPr lang="en-US" i="1" dirty="0" smtClean="0"/>
              <a:t>which </a:t>
            </a:r>
            <a:r>
              <a:rPr lang="en-US" dirty="0" smtClean="0"/>
              <a:t>marks </a:t>
            </a:r>
            <a:r>
              <a:rPr lang="en-US" dirty="0"/>
              <a:t>the upper boundary for laminar flow in pipes.</a:t>
            </a:r>
          </a:p>
          <a:p>
            <a:r>
              <a:rPr lang="en-US" dirty="0">
                <a:solidFill>
                  <a:srgbClr val="00B0F0"/>
                </a:solidFill>
              </a:rPr>
              <a:t>In smooth pipes</a:t>
            </a:r>
            <a:r>
              <a:rPr lang="en-US" dirty="0"/>
              <a:t>, </a:t>
            </a:r>
            <a:endParaRPr lang="en-US" dirty="0" smtClean="0"/>
          </a:p>
          <a:p>
            <a:r>
              <a:rPr lang="en-US" dirty="0" smtClean="0"/>
              <a:t>Flow is </a:t>
            </a:r>
            <a:r>
              <a:rPr lang="en-US" dirty="0" smtClean="0">
                <a:solidFill>
                  <a:srgbClr val="00B0F0"/>
                </a:solidFill>
              </a:rPr>
              <a:t>laminar </a:t>
            </a:r>
            <a:r>
              <a:rPr lang="en-US" dirty="0">
                <a:solidFill>
                  <a:srgbClr val="00B0F0"/>
                </a:solidFill>
              </a:rPr>
              <a:t>flow </a:t>
            </a:r>
            <a:r>
              <a:rPr lang="en-US" dirty="0" smtClean="0"/>
              <a:t>at </a:t>
            </a:r>
            <a:r>
              <a:rPr lang="en-US" b="1" dirty="0" smtClean="0">
                <a:solidFill>
                  <a:srgbClr val="00B0F0"/>
                </a:solidFill>
              </a:rPr>
              <a:t>Re</a:t>
            </a:r>
            <a:r>
              <a:rPr lang="en-US" dirty="0" smtClean="0"/>
              <a:t> </a:t>
            </a:r>
            <a:r>
              <a:rPr lang="en-US" b="1" dirty="0" smtClean="0">
                <a:solidFill>
                  <a:srgbClr val="00B0F0"/>
                </a:solidFill>
              </a:rPr>
              <a:t>&lt;</a:t>
            </a:r>
            <a:r>
              <a:rPr lang="en-US" dirty="0" smtClean="0"/>
              <a:t> </a:t>
            </a:r>
            <a:r>
              <a:rPr lang="en-US" dirty="0" smtClean="0">
                <a:solidFill>
                  <a:srgbClr val="00B0F0"/>
                </a:solidFill>
              </a:rPr>
              <a:t>2100</a:t>
            </a:r>
            <a:r>
              <a:rPr lang="en-US" dirty="0"/>
              <a:t> </a:t>
            </a:r>
            <a:r>
              <a:rPr lang="en-US" dirty="0" smtClean="0"/>
              <a:t>       Under </a:t>
            </a:r>
            <a:r>
              <a:rPr lang="en-US" dirty="0"/>
              <a:t>normal conditions, </a:t>
            </a:r>
            <a:endParaRPr lang="en-US" dirty="0" smtClean="0"/>
          </a:p>
          <a:p>
            <a:r>
              <a:rPr lang="en-US" dirty="0" smtClean="0"/>
              <a:t>flow is </a:t>
            </a:r>
            <a:r>
              <a:rPr lang="en-US" dirty="0" smtClean="0">
                <a:solidFill>
                  <a:srgbClr val="00B0F0"/>
                </a:solidFill>
              </a:rPr>
              <a:t>turbulent</a:t>
            </a:r>
            <a:r>
              <a:rPr lang="en-US" dirty="0" smtClean="0"/>
              <a:t> </a:t>
            </a:r>
            <a:r>
              <a:rPr lang="en-US" dirty="0"/>
              <a:t>at </a:t>
            </a:r>
            <a:r>
              <a:rPr lang="en-US" b="1" i="1" dirty="0">
                <a:solidFill>
                  <a:srgbClr val="00B0F0"/>
                </a:solidFill>
              </a:rPr>
              <a:t>Re </a:t>
            </a:r>
            <a:r>
              <a:rPr lang="en-US" b="1" dirty="0" smtClean="0">
                <a:solidFill>
                  <a:srgbClr val="00B0F0"/>
                </a:solidFill>
              </a:rPr>
              <a:t>&gt;  </a:t>
            </a:r>
            <a:r>
              <a:rPr lang="en-US" b="1" dirty="0">
                <a:solidFill>
                  <a:srgbClr val="00B0F0"/>
                </a:solidFill>
              </a:rPr>
              <a:t>4000</a:t>
            </a:r>
            <a:r>
              <a:rPr lang="en-US" b="1" dirty="0" smtClean="0">
                <a:solidFill>
                  <a:srgbClr val="00B0F0"/>
                </a:solidFill>
              </a:rPr>
              <a:t>.</a:t>
            </a:r>
          </a:p>
          <a:p>
            <a:r>
              <a:rPr lang="en-US" b="1" dirty="0" smtClean="0">
                <a:solidFill>
                  <a:srgbClr val="00B0F0"/>
                </a:solidFill>
              </a:rPr>
              <a:t>2100 &gt; </a:t>
            </a:r>
            <a:r>
              <a:rPr lang="en-US" b="1" dirty="0">
                <a:solidFill>
                  <a:srgbClr val="00B0F0"/>
                </a:solidFill>
              </a:rPr>
              <a:t>Re &lt;</a:t>
            </a:r>
            <a:r>
              <a:rPr lang="en-US" b="1" dirty="0" smtClean="0">
                <a:solidFill>
                  <a:srgbClr val="00B0F0"/>
                </a:solidFill>
              </a:rPr>
              <a:t>   </a:t>
            </a:r>
            <a:r>
              <a:rPr lang="en-US" b="1" dirty="0">
                <a:solidFill>
                  <a:srgbClr val="00B0F0"/>
                </a:solidFill>
              </a:rPr>
              <a:t>4000</a:t>
            </a:r>
            <a:r>
              <a:rPr lang="en-US" dirty="0"/>
              <a:t> </a:t>
            </a:r>
            <a:r>
              <a:rPr lang="en-US" dirty="0" smtClean="0"/>
              <a:t>is </a:t>
            </a:r>
            <a:r>
              <a:rPr lang="en-US" dirty="0" smtClean="0">
                <a:solidFill>
                  <a:srgbClr val="00B0F0"/>
                </a:solidFill>
              </a:rPr>
              <a:t>the </a:t>
            </a:r>
            <a:r>
              <a:rPr lang="en-US" i="1" dirty="0">
                <a:solidFill>
                  <a:srgbClr val="00B0F0"/>
                </a:solidFill>
              </a:rPr>
              <a:t>transition region </a:t>
            </a:r>
            <a:r>
              <a:rPr lang="en-US" dirty="0"/>
              <a:t>where flow may be either laminar or </a:t>
            </a:r>
            <a:r>
              <a:rPr lang="en-US" dirty="0" smtClean="0"/>
              <a:t>turbulent depending </a:t>
            </a:r>
            <a:r>
              <a:rPr lang="en-US" dirty="0"/>
              <a:t>on conditions at the entrance of the </a:t>
            </a:r>
            <a:r>
              <a:rPr lang="en-US" dirty="0" smtClean="0"/>
              <a:t>pipe and </a:t>
            </a:r>
            <a:r>
              <a:rPr lang="en-US" dirty="0"/>
              <a:t>other variables. </a:t>
            </a:r>
            <a:endParaRPr lang="en-US" dirty="0" smtClean="0"/>
          </a:p>
          <a:p>
            <a:r>
              <a:rPr lang="en-US" dirty="0" smtClean="0">
                <a:solidFill>
                  <a:srgbClr val="00B0F0"/>
                </a:solidFill>
              </a:rPr>
              <a:t>Flow </a:t>
            </a:r>
            <a:r>
              <a:rPr lang="en-US" dirty="0">
                <a:solidFill>
                  <a:srgbClr val="00B0F0"/>
                </a:solidFill>
              </a:rPr>
              <a:t>in stirred tanks may also be </a:t>
            </a:r>
            <a:r>
              <a:rPr lang="en-US" dirty="0" smtClean="0">
                <a:solidFill>
                  <a:srgbClr val="00B0F0"/>
                </a:solidFill>
              </a:rPr>
              <a:t>laminar or </a:t>
            </a:r>
            <a:r>
              <a:rPr lang="en-US" dirty="0">
                <a:solidFill>
                  <a:srgbClr val="00B0F0"/>
                </a:solidFill>
              </a:rPr>
              <a:t>turbulent as a function of the impeller Reynolds number</a:t>
            </a:r>
            <a:r>
              <a:rPr lang="en-US" dirty="0" smtClean="0">
                <a:solidFill>
                  <a:srgbClr val="00B0F0"/>
                </a:solidFill>
              </a:rPr>
              <a:t>.</a:t>
            </a:r>
          </a:p>
          <a:p>
            <a:r>
              <a:rPr lang="en-US" dirty="0"/>
              <a:t> The value of </a:t>
            </a:r>
            <a:r>
              <a:rPr lang="en-US" i="1" dirty="0" err="1" smtClean="0"/>
              <a:t>Re</a:t>
            </a:r>
            <a:r>
              <a:rPr lang="en-US" b="1" i="1" baseline="-25000" dirty="0" err="1"/>
              <a:t>i</a:t>
            </a:r>
            <a:r>
              <a:rPr lang="en-US" i="1" dirty="0" smtClean="0"/>
              <a:t>  </a:t>
            </a:r>
            <a:r>
              <a:rPr lang="en-US" dirty="0"/>
              <a:t>marking the transition between these </a:t>
            </a:r>
            <a:r>
              <a:rPr lang="en-US" dirty="0" smtClean="0"/>
              <a:t>flow regimes </a:t>
            </a:r>
            <a:r>
              <a:rPr lang="en-US" dirty="0"/>
              <a:t>depends on the geometry of the impeller and </a:t>
            </a:r>
            <a:r>
              <a:rPr lang="en-US" dirty="0" smtClean="0"/>
              <a:t>tank.</a:t>
            </a:r>
          </a:p>
          <a:p>
            <a:r>
              <a:rPr lang="en-US" dirty="0" smtClean="0"/>
              <a:t>for several </a:t>
            </a:r>
            <a:r>
              <a:rPr lang="en-US" dirty="0"/>
              <a:t>commonly-used </a:t>
            </a:r>
            <a:r>
              <a:rPr lang="en-US" dirty="0">
                <a:solidFill>
                  <a:srgbClr val="00B0F0"/>
                </a:solidFill>
              </a:rPr>
              <a:t>mixing systems, laminar flow is </a:t>
            </a:r>
            <a:r>
              <a:rPr lang="en-US" dirty="0" smtClean="0">
                <a:solidFill>
                  <a:srgbClr val="00B0F0"/>
                </a:solidFill>
              </a:rPr>
              <a:t>found </a:t>
            </a:r>
            <a:r>
              <a:rPr lang="en-IN" dirty="0" smtClean="0">
                <a:solidFill>
                  <a:srgbClr val="00B0F0"/>
                </a:solidFill>
              </a:rPr>
              <a:t>at Re</a:t>
            </a:r>
            <a:r>
              <a:rPr lang="en-US" b="1" i="1" baseline="-25000" dirty="0" err="1" smtClean="0">
                <a:solidFill>
                  <a:srgbClr val="00B0F0"/>
                </a:solidFill>
              </a:rPr>
              <a:t>i</a:t>
            </a:r>
            <a:r>
              <a:rPr lang="en-IN" dirty="0" smtClean="0">
                <a:solidFill>
                  <a:srgbClr val="00B0F0"/>
                </a:solidFill>
              </a:rPr>
              <a:t> </a:t>
            </a:r>
            <a:r>
              <a:rPr lang="en-IN" dirty="0">
                <a:solidFill>
                  <a:srgbClr val="00B0F0"/>
                </a:solidFill>
              </a:rPr>
              <a:t>~&lt; 10</a:t>
            </a:r>
            <a:r>
              <a:rPr lang="en-IN" dirty="0"/>
              <a:t>.</a:t>
            </a:r>
          </a:p>
        </p:txBody>
      </p:sp>
    </p:spTree>
    <p:extLst>
      <p:ext uri="{BB962C8B-B14F-4D97-AF65-F5344CB8AC3E}">
        <p14:creationId xmlns:p14="http://schemas.microsoft.com/office/powerpoint/2010/main" val="161448725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19778"/>
          </a:xfrm>
        </p:spPr>
        <p:txBody>
          <a:bodyPr>
            <a:normAutofit fontScale="90000"/>
          </a:bodyPr>
          <a:lstStyle/>
          <a:p>
            <a:endParaRPr lang="en-IN" dirty="0"/>
          </a:p>
        </p:txBody>
      </p:sp>
      <p:sp>
        <p:nvSpPr>
          <p:cNvPr id="3" name="Content Placeholder 2"/>
          <p:cNvSpPr>
            <a:spLocks noGrp="1"/>
          </p:cNvSpPr>
          <p:nvPr>
            <p:ph idx="1"/>
          </p:nvPr>
        </p:nvSpPr>
        <p:spPr>
          <a:xfrm>
            <a:off x="285135" y="973394"/>
            <a:ext cx="12015019" cy="5203569"/>
          </a:xfrm>
        </p:spPr>
        <p:txBody>
          <a:bodyPr>
            <a:normAutofit lnSpcReduction="10000"/>
          </a:bodyPr>
          <a:lstStyle/>
          <a:p>
            <a:r>
              <a:rPr lang="en-US" b="1" i="1" dirty="0" smtClean="0">
                <a:solidFill>
                  <a:schemeClr val="accent1">
                    <a:lumMod val="50000"/>
                  </a:schemeClr>
                </a:solidFill>
              </a:rPr>
              <a:t> Potential flow / </a:t>
            </a:r>
            <a:r>
              <a:rPr lang="en-US" b="1" i="1" dirty="0" err="1" smtClean="0">
                <a:solidFill>
                  <a:schemeClr val="accent1">
                    <a:lumMod val="50000"/>
                  </a:schemeClr>
                </a:solidFill>
              </a:rPr>
              <a:t>Irrotational</a:t>
            </a:r>
            <a:r>
              <a:rPr lang="en-US" b="1" i="1" dirty="0" smtClean="0">
                <a:solidFill>
                  <a:schemeClr val="accent1">
                    <a:lumMod val="50000"/>
                  </a:schemeClr>
                </a:solidFill>
              </a:rPr>
              <a:t> flow /Ideal flow : </a:t>
            </a:r>
            <a:r>
              <a:rPr lang="en-US" b="1" i="1" dirty="0">
                <a:solidFill>
                  <a:schemeClr val="accent1">
                    <a:lumMod val="50000"/>
                  </a:schemeClr>
                </a:solidFill>
              </a:rPr>
              <a:t>(µ =0) </a:t>
            </a:r>
            <a:endParaRPr lang="en-US" b="1" i="1" dirty="0" smtClean="0">
              <a:solidFill>
                <a:schemeClr val="accent1">
                  <a:lumMod val="50000"/>
                </a:schemeClr>
              </a:solidFill>
            </a:endParaRPr>
          </a:p>
          <a:p>
            <a:r>
              <a:rPr lang="en-US" b="1" i="1" dirty="0">
                <a:solidFill>
                  <a:schemeClr val="accent1">
                    <a:lumMod val="50000"/>
                  </a:schemeClr>
                </a:solidFill>
              </a:rPr>
              <a:t> </a:t>
            </a:r>
            <a:r>
              <a:rPr lang="en-US" b="1" i="1" dirty="0" err="1" smtClean="0">
                <a:solidFill>
                  <a:schemeClr val="accent1">
                    <a:lumMod val="50000"/>
                  </a:schemeClr>
                </a:solidFill>
              </a:rPr>
              <a:t>Rotaional</a:t>
            </a:r>
            <a:r>
              <a:rPr lang="en-US" b="1" i="1" dirty="0" smtClean="0">
                <a:solidFill>
                  <a:schemeClr val="accent1">
                    <a:lumMod val="50000"/>
                  </a:schemeClr>
                </a:solidFill>
              </a:rPr>
              <a:t> / real flow : </a:t>
            </a:r>
            <a:r>
              <a:rPr lang="en-US" b="1" dirty="0"/>
              <a:t>fluid particles rotate about their own axis</a:t>
            </a:r>
            <a:r>
              <a:rPr lang="en-US" dirty="0"/>
              <a:t> as they move </a:t>
            </a:r>
            <a:r>
              <a:rPr lang="en-US" dirty="0" smtClean="0"/>
              <a:t>             through </a:t>
            </a:r>
            <a:r>
              <a:rPr lang="en-US" dirty="0"/>
              <a:t>the flow.</a:t>
            </a:r>
            <a:r>
              <a:rPr lang="en-US" b="1" i="1" dirty="0" smtClean="0">
                <a:solidFill>
                  <a:schemeClr val="accent1">
                    <a:lumMod val="50000"/>
                  </a:schemeClr>
                </a:solidFill>
              </a:rPr>
              <a:t> </a:t>
            </a:r>
          </a:p>
          <a:p>
            <a:r>
              <a:rPr lang="en-US" b="1" i="1" dirty="0">
                <a:solidFill>
                  <a:schemeClr val="accent1">
                    <a:lumMod val="50000"/>
                  </a:schemeClr>
                </a:solidFill>
              </a:rPr>
              <a:t> </a:t>
            </a:r>
            <a:r>
              <a:rPr lang="en-US" b="1" i="1" dirty="0" smtClean="0">
                <a:solidFill>
                  <a:schemeClr val="accent1">
                    <a:lumMod val="50000"/>
                  </a:schemeClr>
                </a:solidFill>
              </a:rPr>
              <a:t>Compressible     : </a:t>
            </a:r>
            <a:r>
              <a:rPr lang="el-GR" b="1" i="1" dirty="0" smtClean="0">
                <a:solidFill>
                  <a:schemeClr val="accent1">
                    <a:lumMod val="50000"/>
                  </a:schemeClr>
                </a:solidFill>
              </a:rPr>
              <a:t>ρ</a:t>
            </a:r>
            <a:r>
              <a:rPr lang="en-US" b="1" i="1" dirty="0" smtClean="0">
                <a:solidFill>
                  <a:schemeClr val="accent1">
                    <a:lumMod val="50000"/>
                  </a:schemeClr>
                </a:solidFill>
              </a:rPr>
              <a:t> = fun( pressure)          ex : gases      </a:t>
            </a:r>
            <a:r>
              <a:rPr lang="en-US" b="1" i="1" dirty="0" smtClean="0">
                <a:solidFill>
                  <a:schemeClr val="accent1"/>
                </a:solidFill>
              </a:rPr>
              <a:t> </a:t>
            </a:r>
            <a:r>
              <a:rPr lang="en-US" b="1" i="1" dirty="0" err="1" smtClean="0">
                <a:solidFill>
                  <a:schemeClr val="accent1"/>
                </a:solidFill>
              </a:rPr>
              <a:t>inviscid</a:t>
            </a:r>
            <a:r>
              <a:rPr lang="en-US" b="1" i="1" dirty="0" smtClean="0">
                <a:solidFill>
                  <a:schemeClr val="accent1"/>
                </a:solidFill>
              </a:rPr>
              <a:t> </a:t>
            </a:r>
            <a:r>
              <a:rPr lang="en-US" b="1" i="1" dirty="0" smtClean="0">
                <a:solidFill>
                  <a:schemeClr val="accent1">
                    <a:lumMod val="50000"/>
                  </a:schemeClr>
                </a:solidFill>
              </a:rPr>
              <a:t>(µ =0) </a:t>
            </a:r>
          </a:p>
          <a:p>
            <a:r>
              <a:rPr lang="en-US" b="1" i="1" dirty="0">
                <a:solidFill>
                  <a:schemeClr val="accent1">
                    <a:lumMod val="50000"/>
                  </a:schemeClr>
                </a:solidFill>
              </a:rPr>
              <a:t> </a:t>
            </a:r>
            <a:r>
              <a:rPr lang="en-US" b="1" i="1" dirty="0" smtClean="0">
                <a:solidFill>
                  <a:schemeClr val="accent1">
                    <a:lumMod val="50000"/>
                  </a:schemeClr>
                </a:solidFill>
              </a:rPr>
              <a:t>In </a:t>
            </a:r>
            <a:r>
              <a:rPr lang="en-US" b="1" i="1" dirty="0">
                <a:solidFill>
                  <a:schemeClr val="accent1">
                    <a:lumMod val="50000"/>
                  </a:schemeClr>
                </a:solidFill>
              </a:rPr>
              <a:t>Compressible </a:t>
            </a:r>
            <a:r>
              <a:rPr lang="en-US" b="1" i="1" dirty="0" smtClean="0">
                <a:solidFill>
                  <a:schemeClr val="accent1">
                    <a:lumMod val="50000"/>
                  </a:schemeClr>
                </a:solidFill>
              </a:rPr>
              <a:t>: </a:t>
            </a:r>
            <a:r>
              <a:rPr lang="el-GR" b="1" i="1" dirty="0" smtClean="0">
                <a:solidFill>
                  <a:schemeClr val="accent1">
                    <a:lumMod val="50000"/>
                  </a:schemeClr>
                </a:solidFill>
              </a:rPr>
              <a:t>ρ</a:t>
            </a:r>
            <a:r>
              <a:rPr lang="en-US" b="1" i="1" dirty="0" smtClean="0">
                <a:solidFill>
                  <a:schemeClr val="accent1">
                    <a:lumMod val="50000"/>
                  </a:schemeClr>
                </a:solidFill>
              </a:rPr>
              <a:t> = fun ( pressure)         ex: liquids      </a:t>
            </a:r>
            <a:r>
              <a:rPr lang="en-US" b="1" i="1" dirty="0" err="1" smtClean="0">
                <a:solidFill>
                  <a:schemeClr val="accent1"/>
                </a:solidFill>
              </a:rPr>
              <a:t>viscidor</a:t>
            </a:r>
            <a:r>
              <a:rPr lang="en-US" b="1" i="1" dirty="0" smtClean="0">
                <a:solidFill>
                  <a:schemeClr val="accent1"/>
                </a:solidFill>
              </a:rPr>
              <a:t> </a:t>
            </a:r>
            <a:r>
              <a:rPr lang="en-US" b="1" i="1" dirty="0">
                <a:solidFill>
                  <a:schemeClr val="accent1">
                    <a:lumMod val="50000"/>
                  </a:schemeClr>
                </a:solidFill>
              </a:rPr>
              <a:t>(µ =0) </a:t>
            </a:r>
          </a:p>
          <a:p>
            <a:r>
              <a:rPr lang="en-US" b="1" i="1" dirty="0" smtClean="0">
                <a:solidFill>
                  <a:schemeClr val="accent1">
                    <a:lumMod val="50000"/>
                  </a:schemeClr>
                </a:solidFill>
              </a:rPr>
              <a:t> Laminar  flow           :  Re &lt; 2100</a:t>
            </a:r>
          </a:p>
          <a:p>
            <a:r>
              <a:rPr lang="en-US" b="1" i="1" dirty="0">
                <a:solidFill>
                  <a:schemeClr val="accent1">
                    <a:lumMod val="50000"/>
                  </a:schemeClr>
                </a:solidFill>
              </a:rPr>
              <a:t> T</a:t>
            </a:r>
            <a:r>
              <a:rPr lang="en-US" b="1" i="1" dirty="0" smtClean="0">
                <a:solidFill>
                  <a:schemeClr val="accent1">
                    <a:lumMod val="50000"/>
                  </a:schemeClr>
                </a:solidFill>
              </a:rPr>
              <a:t>urbulent flow         : Re &gt; 4000</a:t>
            </a:r>
          </a:p>
          <a:p>
            <a:r>
              <a:rPr lang="en-US" b="1" i="1" dirty="0" smtClean="0">
                <a:solidFill>
                  <a:schemeClr val="accent1">
                    <a:lumMod val="50000"/>
                  </a:schemeClr>
                </a:solidFill>
              </a:rPr>
              <a:t> Transition  region   :2000 &lt; Re &gt; 4000  either laminar or turbulent depend up on the fluid entering the plate. </a:t>
            </a:r>
            <a:r>
              <a:rPr lang="en-US" b="1" i="1" dirty="0" smtClean="0">
                <a:solidFill>
                  <a:schemeClr val="accent1"/>
                </a:solidFill>
              </a:rPr>
              <a:t>Critical Reynolds number.</a:t>
            </a:r>
          </a:p>
          <a:p>
            <a:r>
              <a:rPr lang="en-US" b="1" i="1" dirty="0" smtClean="0">
                <a:solidFill>
                  <a:schemeClr val="accent1">
                    <a:lumMod val="50000"/>
                  </a:schemeClr>
                </a:solidFill>
              </a:rPr>
              <a:t>Uniform                  :   Velocity = constant</a:t>
            </a:r>
          </a:p>
          <a:p>
            <a:r>
              <a:rPr lang="en-US" b="1" i="1" dirty="0" smtClean="0">
                <a:solidFill>
                  <a:schemeClr val="accent1">
                    <a:lumMod val="50000"/>
                  </a:schemeClr>
                </a:solidFill>
              </a:rPr>
              <a:t>Non Uniform flow :  Velocity = constant</a:t>
            </a:r>
          </a:p>
          <a:p>
            <a:r>
              <a:rPr lang="en-US" b="1" i="1" dirty="0" smtClean="0">
                <a:solidFill>
                  <a:schemeClr val="accent1">
                    <a:lumMod val="50000"/>
                  </a:schemeClr>
                </a:solidFill>
              </a:rPr>
              <a:t>Steady flow :   </a:t>
            </a:r>
            <a:r>
              <a:rPr lang="en-US" dirty="0"/>
              <a:t>flow conditions like velocity, pressure, </a:t>
            </a:r>
            <a:r>
              <a:rPr lang="en-US" dirty="0" smtClean="0"/>
              <a:t>density </a:t>
            </a:r>
            <a:r>
              <a:rPr lang="en-US" dirty="0" err="1" smtClean="0"/>
              <a:t>etc</a:t>
            </a:r>
            <a:r>
              <a:rPr lang="en-US" dirty="0" smtClean="0"/>
              <a:t> </a:t>
            </a:r>
            <a:r>
              <a:rPr lang="en-US" dirty="0" smtClean="0">
                <a:solidFill>
                  <a:schemeClr val="accent1"/>
                </a:solidFill>
              </a:rPr>
              <a:t>doesn’t change with time </a:t>
            </a:r>
            <a:endParaRPr lang="en-US" b="1" i="1" dirty="0" smtClean="0">
              <a:solidFill>
                <a:schemeClr val="accent1"/>
              </a:solidFill>
            </a:endParaRPr>
          </a:p>
          <a:p>
            <a:r>
              <a:rPr lang="en-US" b="1" i="1" dirty="0" err="1" smtClean="0">
                <a:solidFill>
                  <a:schemeClr val="accent1">
                    <a:lumMod val="50000"/>
                  </a:schemeClr>
                </a:solidFill>
              </a:rPr>
              <a:t>UnSteady</a:t>
            </a:r>
            <a:r>
              <a:rPr lang="en-US" b="1" i="1" dirty="0" smtClean="0">
                <a:solidFill>
                  <a:schemeClr val="accent1">
                    <a:lumMod val="50000"/>
                  </a:schemeClr>
                </a:solidFill>
              </a:rPr>
              <a:t> </a:t>
            </a:r>
            <a:r>
              <a:rPr lang="en-US" b="1" i="1" dirty="0">
                <a:solidFill>
                  <a:schemeClr val="accent1">
                    <a:lumMod val="50000"/>
                  </a:schemeClr>
                </a:solidFill>
              </a:rPr>
              <a:t>flow </a:t>
            </a:r>
            <a:r>
              <a:rPr lang="en-US" b="1" i="1" dirty="0" smtClean="0">
                <a:solidFill>
                  <a:schemeClr val="accent1">
                    <a:lumMod val="50000"/>
                  </a:schemeClr>
                </a:solidFill>
              </a:rPr>
              <a:t>: </a:t>
            </a:r>
            <a:r>
              <a:rPr lang="en-US" dirty="0"/>
              <a:t>flow conditions like velocity, pressure, density </a:t>
            </a:r>
            <a:r>
              <a:rPr lang="en-US" dirty="0" err="1" smtClean="0"/>
              <a:t>etc</a:t>
            </a:r>
            <a:r>
              <a:rPr lang="en-US" dirty="0" smtClean="0"/>
              <a:t> </a:t>
            </a:r>
            <a:r>
              <a:rPr lang="en-US" dirty="0">
                <a:solidFill>
                  <a:schemeClr val="accent1"/>
                </a:solidFill>
              </a:rPr>
              <a:t>change with time </a:t>
            </a:r>
            <a:endParaRPr lang="en-US" b="1" i="1" dirty="0">
              <a:solidFill>
                <a:schemeClr val="accent1"/>
              </a:solidFill>
            </a:endParaRPr>
          </a:p>
          <a:p>
            <a:endParaRPr lang="en-IN" b="1" i="1" dirty="0">
              <a:solidFill>
                <a:schemeClr val="accent1">
                  <a:lumMod val="50000"/>
                </a:schemeClr>
              </a:solidFill>
            </a:endParaRPr>
          </a:p>
          <a:p>
            <a:endParaRPr lang="en-IN" b="1" i="1" dirty="0">
              <a:solidFill>
                <a:schemeClr val="accent1">
                  <a:lumMod val="50000"/>
                </a:schemeClr>
              </a:solidFill>
            </a:endParaRPr>
          </a:p>
        </p:txBody>
      </p:sp>
      <p:sp>
        <p:nvSpPr>
          <p:cNvPr id="4" name="Rectangle 3"/>
          <p:cNvSpPr/>
          <p:nvPr/>
        </p:nvSpPr>
        <p:spPr>
          <a:xfrm>
            <a:off x="3785944" y="0"/>
            <a:ext cx="4620112" cy="923330"/>
          </a:xfrm>
          <a:prstGeom prst="rect">
            <a:avLst/>
          </a:prstGeom>
          <a:noFill/>
        </p:spPr>
        <p:txBody>
          <a:bodyPr wrap="none" lIns="91440" tIns="45720" rIns="91440" bIns="45720">
            <a:spAutoFit/>
          </a:bodyPr>
          <a:lstStyle/>
          <a:p>
            <a:pPr algn="ctr"/>
            <a:r>
              <a:rPr lang="en-US" sz="5400" b="1" cap="none" spc="0" dirty="0" smtClean="0">
                <a:ln w="22225">
                  <a:solidFill>
                    <a:schemeClr val="accent2"/>
                  </a:solidFill>
                  <a:prstDash val="solid"/>
                </a:ln>
                <a:solidFill>
                  <a:schemeClr val="accent2">
                    <a:lumMod val="40000"/>
                    <a:lumOff val="60000"/>
                  </a:schemeClr>
                </a:solidFill>
                <a:effectLst/>
              </a:rPr>
              <a:t>Different flows </a:t>
            </a:r>
            <a:endParaRPr lang="en-IN" sz="5400" b="1" cap="none" spc="0" dirty="0">
              <a:ln w="22225">
                <a:solidFill>
                  <a:schemeClr val="accent2"/>
                </a:solidFill>
                <a:prstDash val="solid"/>
              </a:ln>
              <a:solidFill>
                <a:schemeClr val="accent2">
                  <a:lumMod val="40000"/>
                  <a:lumOff val="60000"/>
                </a:schemeClr>
              </a:solidFill>
              <a:effectLst/>
            </a:endParaRPr>
          </a:p>
        </p:txBody>
      </p:sp>
      <p:cxnSp>
        <p:nvCxnSpPr>
          <p:cNvPr id="6" name="Straight Connector 5"/>
          <p:cNvCxnSpPr/>
          <p:nvPr/>
        </p:nvCxnSpPr>
        <p:spPr>
          <a:xfrm flipH="1">
            <a:off x="3136491" y="2625210"/>
            <a:ext cx="108679" cy="186813"/>
          </a:xfrm>
          <a:prstGeom prst="line">
            <a:avLst/>
          </a:prstGeom>
        </p:spPr>
        <p:style>
          <a:lnRef idx="3">
            <a:schemeClr val="accent2"/>
          </a:lnRef>
          <a:fillRef idx="0">
            <a:schemeClr val="accent2"/>
          </a:fillRef>
          <a:effectRef idx="2">
            <a:schemeClr val="accent2"/>
          </a:effectRef>
          <a:fontRef idx="minor">
            <a:schemeClr val="tx1"/>
          </a:fontRef>
        </p:style>
      </p:cxnSp>
      <p:cxnSp>
        <p:nvCxnSpPr>
          <p:cNvPr id="7" name="Straight Connector 6"/>
          <p:cNvCxnSpPr/>
          <p:nvPr/>
        </p:nvCxnSpPr>
        <p:spPr>
          <a:xfrm flipH="1">
            <a:off x="8824453" y="2644876"/>
            <a:ext cx="108679" cy="186813"/>
          </a:xfrm>
          <a:prstGeom prst="line">
            <a:avLst/>
          </a:prstGeom>
        </p:spPr>
        <p:style>
          <a:lnRef idx="3">
            <a:schemeClr val="accent2"/>
          </a:lnRef>
          <a:fillRef idx="0">
            <a:schemeClr val="accent2"/>
          </a:fillRef>
          <a:effectRef idx="2">
            <a:schemeClr val="accent2"/>
          </a:effectRef>
          <a:fontRef idx="minor">
            <a:schemeClr val="tx1"/>
          </a:fontRef>
        </p:style>
      </p:cxnSp>
      <p:cxnSp>
        <p:nvCxnSpPr>
          <p:cNvPr id="8" name="Straight Connector 7"/>
          <p:cNvCxnSpPr/>
          <p:nvPr/>
        </p:nvCxnSpPr>
        <p:spPr>
          <a:xfrm flipH="1">
            <a:off x="4242621" y="4586747"/>
            <a:ext cx="108679" cy="186813"/>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3589036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57430"/>
          </a:xfrm>
        </p:spPr>
        <p:txBody>
          <a:bodyPr>
            <a:normAutofit fontScale="90000"/>
          </a:bodyPr>
          <a:lstStyle/>
          <a:p>
            <a:r>
              <a:rPr lang="en-IN" dirty="0">
                <a:latin typeface="Times New Roman" panose="02020603050405020304" pitchFamily="18" charset="0"/>
              </a:rPr>
              <a:t>Hydrodynamic Boundary Layers</a:t>
            </a:r>
            <a:br>
              <a:rPr lang="en-IN" dirty="0">
                <a:latin typeface="Times New Roman" panose="02020603050405020304" pitchFamily="18" charset="0"/>
              </a:rPr>
            </a:br>
            <a:endParaRPr lang="en-IN" dirty="0"/>
          </a:p>
        </p:txBody>
      </p:sp>
      <p:pic>
        <p:nvPicPr>
          <p:cNvPr id="4" name="Content Placeholder 3"/>
          <p:cNvPicPr>
            <a:picLocks noGrp="1" noChangeAspect="1"/>
          </p:cNvPicPr>
          <p:nvPr>
            <p:ph idx="1"/>
          </p:nvPr>
        </p:nvPicPr>
        <p:blipFill>
          <a:blip r:embed="rId2"/>
          <a:stretch>
            <a:fillRect/>
          </a:stretch>
        </p:blipFill>
        <p:spPr>
          <a:xfrm>
            <a:off x="8121446" y="795953"/>
            <a:ext cx="4503174" cy="4916128"/>
          </a:xfrm>
          <a:prstGeom prst="rect">
            <a:avLst/>
          </a:prstGeom>
        </p:spPr>
      </p:pic>
      <p:sp>
        <p:nvSpPr>
          <p:cNvPr id="5" name="Rectangle 4"/>
          <p:cNvSpPr/>
          <p:nvPr/>
        </p:nvSpPr>
        <p:spPr>
          <a:xfrm>
            <a:off x="88489" y="795953"/>
            <a:ext cx="8436079" cy="5109091"/>
          </a:xfrm>
          <a:prstGeom prst="rect">
            <a:avLst/>
          </a:prstGeom>
        </p:spPr>
        <p:txBody>
          <a:bodyPr wrap="square">
            <a:spAutoFit/>
          </a:bodyPr>
          <a:lstStyle/>
          <a:p>
            <a:r>
              <a:rPr lang="en-US" dirty="0" smtClean="0">
                <a:solidFill>
                  <a:srgbClr val="002060"/>
                </a:solidFill>
                <a:latin typeface="Times New Roman" panose="02020603050405020304" pitchFamily="18" charset="0"/>
              </a:rPr>
              <a:t>In </a:t>
            </a:r>
            <a:r>
              <a:rPr lang="en-US" dirty="0">
                <a:solidFill>
                  <a:srgbClr val="002060"/>
                </a:solidFill>
                <a:latin typeface="Times New Roman" panose="02020603050405020304" pitchFamily="18" charset="0"/>
              </a:rPr>
              <a:t>most practical applications, fluid flow occurs in the </a:t>
            </a:r>
            <a:r>
              <a:rPr lang="en-US" dirty="0" smtClean="0">
                <a:solidFill>
                  <a:srgbClr val="002060"/>
                </a:solidFill>
                <a:latin typeface="Times New Roman" panose="02020603050405020304" pitchFamily="18" charset="0"/>
              </a:rPr>
              <a:t>presence of </a:t>
            </a:r>
            <a:r>
              <a:rPr lang="en-US" dirty="0">
                <a:solidFill>
                  <a:srgbClr val="002060"/>
                </a:solidFill>
                <a:latin typeface="Times New Roman" panose="02020603050405020304" pitchFamily="18" charset="0"/>
              </a:rPr>
              <a:t>a stationary solid surface, such as the walls of a pipe </a:t>
            </a:r>
            <a:r>
              <a:rPr lang="en-US" dirty="0" smtClean="0">
                <a:solidFill>
                  <a:srgbClr val="002060"/>
                </a:solidFill>
                <a:latin typeface="Times New Roman" panose="02020603050405020304" pitchFamily="18" charset="0"/>
              </a:rPr>
              <a:t>or tank</a:t>
            </a:r>
            <a:r>
              <a:rPr lang="en-US" dirty="0">
                <a:solidFill>
                  <a:srgbClr val="002060"/>
                </a:solidFill>
                <a:latin typeface="Times New Roman" panose="02020603050405020304" pitchFamily="18" charset="0"/>
              </a:rPr>
              <a:t>. </a:t>
            </a:r>
          </a:p>
          <a:p>
            <a:r>
              <a:rPr lang="en-US" dirty="0" smtClean="0">
                <a:solidFill>
                  <a:srgbClr val="002060"/>
                </a:solidFill>
                <a:latin typeface="Times New Roman" panose="02020603050405020304" pitchFamily="18" charset="0"/>
              </a:rPr>
              <a:t>That </a:t>
            </a:r>
            <a:r>
              <a:rPr lang="en-US" dirty="0">
                <a:solidFill>
                  <a:srgbClr val="002060"/>
                </a:solidFill>
                <a:latin typeface="Times New Roman" panose="02020603050405020304" pitchFamily="18" charset="0"/>
              </a:rPr>
              <a:t>part of the fluid where flow is affected by the solid </a:t>
            </a:r>
            <a:r>
              <a:rPr lang="en-US" dirty="0" smtClean="0">
                <a:solidFill>
                  <a:srgbClr val="002060"/>
                </a:solidFill>
                <a:latin typeface="Times New Roman" panose="02020603050405020304" pitchFamily="18" charset="0"/>
              </a:rPr>
              <a:t>is </a:t>
            </a:r>
            <a:r>
              <a:rPr lang="en-IN" dirty="0" smtClean="0">
                <a:solidFill>
                  <a:srgbClr val="002060"/>
                </a:solidFill>
                <a:latin typeface="Times New Roman" panose="02020603050405020304" pitchFamily="18" charset="0"/>
              </a:rPr>
              <a:t>called </a:t>
            </a:r>
            <a:r>
              <a:rPr lang="en-IN" dirty="0">
                <a:solidFill>
                  <a:srgbClr val="002060"/>
                </a:solidFill>
                <a:latin typeface="Times New Roman" panose="02020603050405020304" pitchFamily="18" charset="0"/>
              </a:rPr>
              <a:t>the </a:t>
            </a:r>
            <a:r>
              <a:rPr lang="en-IN" sz="2000" i="1" dirty="0">
                <a:solidFill>
                  <a:srgbClr val="002060"/>
                </a:solidFill>
                <a:latin typeface="Times New Roman" panose="02020603050405020304" pitchFamily="18" charset="0"/>
              </a:rPr>
              <a:t>boundary layer</a:t>
            </a:r>
            <a:r>
              <a:rPr lang="en-IN" sz="2800" i="1" dirty="0" smtClean="0">
                <a:solidFill>
                  <a:srgbClr val="002060"/>
                </a:solidFill>
                <a:latin typeface="Times New Roman" panose="02020603050405020304" pitchFamily="18" charset="0"/>
              </a:rPr>
              <a:t>.</a:t>
            </a:r>
          </a:p>
          <a:p>
            <a:endParaRPr lang="en-US" sz="2800" i="1" dirty="0">
              <a:solidFill>
                <a:srgbClr val="002060"/>
              </a:solidFill>
              <a:latin typeface="Times New Roman" panose="02020603050405020304" pitchFamily="18" charset="0"/>
            </a:endParaRPr>
          </a:p>
          <a:p>
            <a:r>
              <a:rPr lang="en-US" i="1" dirty="0"/>
              <a:t>As </a:t>
            </a:r>
            <a:r>
              <a:rPr lang="en-US" dirty="0"/>
              <a:t>an example, consider flow of </a:t>
            </a:r>
            <a:r>
              <a:rPr lang="en-US" dirty="0" smtClean="0"/>
              <a:t>fluid parallel </a:t>
            </a:r>
            <a:r>
              <a:rPr lang="en-US" dirty="0"/>
              <a:t>to the flat plate shown in </a:t>
            </a:r>
            <a:r>
              <a:rPr lang="en-US" dirty="0" smtClean="0"/>
              <a:t>Fig.</a:t>
            </a:r>
          </a:p>
          <a:p>
            <a:endParaRPr lang="en-US" dirty="0" smtClean="0"/>
          </a:p>
          <a:p>
            <a:r>
              <a:rPr lang="en-US" dirty="0" smtClean="0"/>
              <a:t>Contact between the </a:t>
            </a:r>
            <a:r>
              <a:rPr lang="en-US" dirty="0"/>
              <a:t>moving fluid and the plate causes </a:t>
            </a:r>
            <a:r>
              <a:rPr lang="en-US" dirty="0">
                <a:solidFill>
                  <a:srgbClr val="00B0F0"/>
                </a:solidFill>
              </a:rPr>
              <a:t>formation of a </a:t>
            </a:r>
            <a:r>
              <a:rPr lang="en-US" dirty="0" smtClean="0">
                <a:solidFill>
                  <a:srgbClr val="00B0F0"/>
                </a:solidFill>
              </a:rPr>
              <a:t>boundary </a:t>
            </a:r>
            <a:r>
              <a:rPr lang="en-US" dirty="0">
                <a:solidFill>
                  <a:srgbClr val="00B0F0"/>
                </a:solidFill>
              </a:rPr>
              <a:t>layer beginning at the leading edge and developing on </a:t>
            </a:r>
            <a:r>
              <a:rPr lang="en-US" dirty="0" smtClean="0">
                <a:solidFill>
                  <a:srgbClr val="00B0F0"/>
                </a:solidFill>
              </a:rPr>
              <a:t>both </a:t>
            </a:r>
            <a:r>
              <a:rPr lang="en-US" dirty="0">
                <a:solidFill>
                  <a:srgbClr val="00B0F0"/>
                </a:solidFill>
              </a:rPr>
              <a:t>top and bottom of the plate. </a:t>
            </a:r>
            <a:endParaRPr lang="en-US" dirty="0" smtClean="0">
              <a:solidFill>
                <a:srgbClr val="00B0F0"/>
              </a:solidFill>
            </a:endParaRPr>
          </a:p>
          <a:p>
            <a:r>
              <a:rPr lang="en-US" dirty="0" smtClean="0"/>
              <a:t>Figure </a:t>
            </a:r>
            <a:r>
              <a:rPr lang="en-US" dirty="0"/>
              <a:t>shows only the </a:t>
            </a:r>
            <a:r>
              <a:rPr lang="en-US" dirty="0" smtClean="0"/>
              <a:t>upper stream</a:t>
            </a:r>
            <a:r>
              <a:rPr lang="en-US" dirty="0"/>
              <a:t>; fluid motion below the plate will be a mirror image </a:t>
            </a:r>
            <a:r>
              <a:rPr lang="en-US" dirty="0" smtClean="0"/>
              <a:t>of </a:t>
            </a:r>
            <a:r>
              <a:rPr lang="en-IN" dirty="0" smtClean="0"/>
              <a:t>that </a:t>
            </a:r>
            <a:r>
              <a:rPr lang="en-IN" dirty="0"/>
              <a:t>above</a:t>
            </a:r>
            <a:r>
              <a:rPr lang="en-IN" dirty="0" smtClean="0"/>
              <a:t>.</a:t>
            </a:r>
          </a:p>
          <a:p>
            <a:r>
              <a:rPr lang="en-US" dirty="0" smtClean="0"/>
              <a:t>in Fig (a),</a:t>
            </a:r>
          </a:p>
          <a:p>
            <a:r>
              <a:rPr lang="en-US" dirty="0"/>
              <a:t> </a:t>
            </a:r>
            <a:r>
              <a:rPr lang="en-US" dirty="0">
                <a:solidFill>
                  <a:srgbClr val="00B0F0"/>
                </a:solidFill>
              </a:rPr>
              <a:t>A</a:t>
            </a:r>
            <a:r>
              <a:rPr lang="en-US" dirty="0" smtClean="0">
                <a:solidFill>
                  <a:srgbClr val="00B0F0"/>
                </a:solidFill>
              </a:rPr>
              <a:t>rrows </a:t>
            </a:r>
            <a:r>
              <a:rPr lang="en-US" dirty="0" smtClean="0">
                <a:sym typeface="Wingdings" panose="05000000000000000000" pitchFamily="2" charset="2"/>
              </a:rPr>
              <a:t></a:t>
            </a:r>
            <a:r>
              <a:rPr lang="en-US" dirty="0" smtClean="0"/>
              <a:t>the </a:t>
            </a:r>
            <a:r>
              <a:rPr lang="en-US" dirty="0"/>
              <a:t>bulk </a:t>
            </a:r>
            <a:r>
              <a:rPr lang="en-US" dirty="0" smtClean="0"/>
              <a:t>fluid velocity in front of the plate is uniform with magnitude </a:t>
            </a:r>
            <a:r>
              <a:rPr lang="en-US" b="1" dirty="0" err="1" smtClean="0"/>
              <a:t>u</a:t>
            </a:r>
            <a:r>
              <a:rPr lang="en-US" b="1" i="1" baseline="-25000" dirty="0" err="1" smtClean="0"/>
              <a:t>B</a:t>
            </a:r>
            <a:r>
              <a:rPr lang="en-US" dirty="0" smtClean="0"/>
              <a:t> .</a:t>
            </a:r>
          </a:p>
          <a:p>
            <a:r>
              <a:rPr lang="en-US" dirty="0" smtClean="0">
                <a:solidFill>
                  <a:srgbClr val="00B0F0"/>
                </a:solidFill>
              </a:rPr>
              <a:t>Broken </a:t>
            </a:r>
            <a:r>
              <a:rPr lang="en-US" dirty="0">
                <a:solidFill>
                  <a:srgbClr val="00B0F0"/>
                </a:solidFill>
              </a:rPr>
              <a:t>line </a:t>
            </a:r>
            <a:r>
              <a:rPr lang="en-US" dirty="0" smtClean="0">
                <a:sym typeface="Wingdings" panose="05000000000000000000" pitchFamily="2" charset="2"/>
              </a:rPr>
              <a:t></a:t>
            </a:r>
            <a:r>
              <a:rPr lang="en-US" dirty="0" smtClean="0"/>
              <a:t>The </a:t>
            </a:r>
            <a:r>
              <a:rPr lang="en-US" dirty="0"/>
              <a:t>extent of the boundary </a:t>
            </a:r>
            <a:r>
              <a:rPr lang="en-US" dirty="0" smtClean="0"/>
              <a:t>layer. </a:t>
            </a:r>
          </a:p>
          <a:p>
            <a:r>
              <a:rPr lang="en-US" dirty="0" smtClean="0"/>
              <a:t>Above </a:t>
            </a:r>
            <a:r>
              <a:rPr lang="en-US" dirty="0"/>
              <a:t>the boundary layer, fluid motion is the same as </a:t>
            </a:r>
            <a:r>
              <a:rPr lang="en-US" dirty="0" smtClean="0"/>
              <a:t>if the </a:t>
            </a:r>
            <a:r>
              <a:rPr lang="en-US" dirty="0"/>
              <a:t>plate were not there. </a:t>
            </a:r>
            <a:r>
              <a:rPr lang="en-US" dirty="0">
                <a:solidFill>
                  <a:srgbClr val="00B0F0"/>
                </a:solidFill>
              </a:rPr>
              <a:t>The boundary layer grows in </a:t>
            </a:r>
            <a:r>
              <a:rPr lang="en-US" dirty="0" smtClean="0">
                <a:solidFill>
                  <a:srgbClr val="00B0F0"/>
                </a:solidFill>
              </a:rPr>
              <a:t>thickness from </a:t>
            </a:r>
            <a:r>
              <a:rPr lang="en-US" dirty="0">
                <a:solidFill>
                  <a:srgbClr val="00B0F0"/>
                </a:solidFill>
              </a:rPr>
              <a:t>the leading edge until it </a:t>
            </a:r>
            <a:r>
              <a:rPr lang="en-US" dirty="0" smtClean="0">
                <a:solidFill>
                  <a:srgbClr val="00B0F0"/>
                </a:solidFill>
              </a:rPr>
              <a:t>fully developed</a:t>
            </a:r>
          </a:p>
          <a:p>
            <a:endParaRPr lang="en-US" dirty="0" smtClean="0"/>
          </a:p>
          <a:p>
            <a:r>
              <a:rPr lang="en-US" dirty="0" smtClean="0"/>
              <a:t>Final thickness </a:t>
            </a:r>
            <a:r>
              <a:rPr lang="en-US" dirty="0"/>
              <a:t>of the boundary layer depends on the </a:t>
            </a:r>
            <a:r>
              <a:rPr lang="en-US" dirty="0" smtClean="0"/>
              <a:t>Reynolds </a:t>
            </a:r>
            <a:r>
              <a:rPr lang="en-IN" dirty="0" smtClean="0"/>
              <a:t>number </a:t>
            </a:r>
            <a:r>
              <a:rPr lang="en-IN" dirty="0"/>
              <a:t>for bulk flow.</a:t>
            </a:r>
            <a:endParaRPr lang="en-IN" dirty="0">
              <a:solidFill>
                <a:srgbClr val="002060"/>
              </a:solidFill>
            </a:endParaRPr>
          </a:p>
        </p:txBody>
      </p:sp>
    </p:spTree>
    <p:extLst>
      <p:ext uri="{BB962C8B-B14F-4D97-AF65-F5344CB8AC3E}">
        <p14:creationId xmlns:p14="http://schemas.microsoft.com/office/powerpoint/2010/main" val="100743483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3123" y="127819"/>
            <a:ext cx="11533237" cy="7108723"/>
          </a:xfrm>
        </p:spPr>
        <p:txBody>
          <a:bodyPr>
            <a:normAutofit fontScale="92500" lnSpcReduction="10000"/>
          </a:bodyPr>
          <a:lstStyle/>
          <a:p>
            <a:r>
              <a:rPr lang="en-US" dirty="0"/>
              <a:t>When fluid flows over a stationary object, a thin film </a:t>
            </a:r>
            <a:r>
              <a:rPr lang="en-US" dirty="0" smtClean="0"/>
              <a:t>of fluid </a:t>
            </a:r>
            <a:r>
              <a:rPr lang="en-US" dirty="0"/>
              <a:t>in contact with the surface adheres to it to prevent </a:t>
            </a:r>
            <a:r>
              <a:rPr lang="en-US" dirty="0" smtClean="0"/>
              <a:t>slippage over </a:t>
            </a:r>
            <a:r>
              <a:rPr lang="en-US" dirty="0"/>
              <a:t>the surface. Fluid velocity at the surface of the </a:t>
            </a:r>
            <a:r>
              <a:rPr lang="en-US" dirty="0" smtClean="0"/>
              <a:t>plate </a:t>
            </a:r>
            <a:r>
              <a:rPr lang="en-US" dirty="0"/>
              <a:t>is therefore zero. </a:t>
            </a:r>
            <a:endParaRPr lang="en-US" dirty="0" smtClean="0"/>
          </a:p>
          <a:p>
            <a:r>
              <a:rPr lang="en-US" dirty="0" smtClean="0"/>
              <a:t>When </a:t>
            </a:r>
            <a:r>
              <a:rPr lang="en-US" dirty="0"/>
              <a:t>part of a flowing fluid </a:t>
            </a:r>
            <a:r>
              <a:rPr lang="en-US" dirty="0" smtClean="0"/>
              <a:t>has been </a:t>
            </a:r>
            <a:r>
              <a:rPr lang="en-US" dirty="0"/>
              <a:t>brought to rest, the flow of adjacent fluid layers is </a:t>
            </a:r>
            <a:r>
              <a:rPr lang="en-US" dirty="0" smtClean="0"/>
              <a:t>slowed down </a:t>
            </a:r>
            <a:r>
              <a:rPr lang="en-US" dirty="0"/>
              <a:t>by the action of </a:t>
            </a:r>
            <a:r>
              <a:rPr lang="en-US" b="1" i="1" dirty="0"/>
              <a:t>viscous drag</a:t>
            </a:r>
            <a:r>
              <a:rPr lang="en-US" i="1" dirty="0"/>
              <a:t>. (fluid </a:t>
            </a:r>
            <a:r>
              <a:rPr lang="en-US" i="1" dirty="0" smtClean="0"/>
              <a:t>resistance to  against moving object  ) </a:t>
            </a:r>
          </a:p>
          <a:p>
            <a:r>
              <a:rPr lang="en-US" i="1" dirty="0"/>
              <a:t> </a:t>
            </a:r>
            <a:r>
              <a:rPr lang="en-US" b="1" dirty="0"/>
              <a:t>Fluid's resistance</a:t>
            </a:r>
            <a:r>
              <a:rPr lang="en-US" dirty="0"/>
              <a:t>: When an object moves through a fluid (like air or water), the fluid molecules collide with the surface of the object, resisting </a:t>
            </a:r>
            <a:r>
              <a:rPr lang="en-US" dirty="0" smtClean="0"/>
              <a:t>object </a:t>
            </a:r>
            <a:r>
              <a:rPr lang="en-US" dirty="0"/>
              <a:t>motion. This resistance is what we call </a:t>
            </a:r>
            <a:r>
              <a:rPr lang="en-US" b="1" i="1" dirty="0">
                <a:solidFill>
                  <a:srgbClr val="FF0000"/>
                </a:solidFill>
              </a:rPr>
              <a:t>drag</a:t>
            </a:r>
            <a:r>
              <a:rPr lang="en-US" b="1" dirty="0">
                <a:solidFill>
                  <a:srgbClr val="FF0000"/>
                </a:solidFill>
              </a:rPr>
              <a:t>.</a:t>
            </a:r>
            <a:endParaRPr lang="en-US" b="1" i="1" dirty="0" smtClean="0">
              <a:solidFill>
                <a:srgbClr val="FF0000"/>
              </a:solidFill>
            </a:endParaRPr>
          </a:p>
          <a:p>
            <a:r>
              <a:rPr lang="en-US" i="1" dirty="0" smtClean="0"/>
              <a:t> </a:t>
            </a:r>
            <a:r>
              <a:rPr lang="en-US" i="1" dirty="0" smtClean="0">
                <a:solidFill>
                  <a:srgbClr val="00B0F0"/>
                </a:solidFill>
              </a:rPr>
              <a:t>u</a:t>
            </a:r>
            <a:r>
              <a:rPr lang="en-US" i="1" dirty="0" smtClean="0"/>
              <a:t> </a:t>
            </a:r>
            <a:r>
              <a:rPr lang="en-US" i="1" dirty="0" smtClean="0">
                <a:sym typeface="Wingdings" panose="05000000000000000000" pitchFamily="2" charset="2"/>
              </a:rPr>
              <a:t> </a:t>
            </a:r>
            <a:r>
              <a:rPr lang="en-US" dirty="0" smtClean="0"/>
              <a:t>Velocity </a:t>
            </a:r>
            <a:r>
              <a:rPr lang="en-US" dirty="0"/>
              <a:t>of fluid within the </a:t>
            </a:r>
            <a:r>
              <a:rPr lang="en-US" dirty="0" smtClean="0"/>
              <a:t>boundary layer; </a:t>
            </a:r>
            <a:r>
              <a:rPr lang="en-US" dirty="0"/>
              <a:t>u is zero at the surface of </a:t>
            </a:r>
            <a:r>
              <a:rPr lang="en-US" dirty="0" smtClean="0"/>
              <a:t>the plate.</a:t>
            </a:r>
          </a:p>
          <a:p>
            <a:r>
              <a:rPr lang="en-US" dirty="0"/>
              <a:t> </a:t>
            </a:r>
            <a:r>
              <a:rPr lang="en-US" dirty="0">
                <a:solidFill>
                  <a:srgbClr val="00B0F0"/>
                </a:solidFill>
              </a:rPr>
              <a:t>Viscous drag forces</a:t>
            </a:r>
            <a:r>
              <a:rPr lang="en-US" dirty="0"/>
              <a:t> are transmitted upwards through </a:t>
            </a:r>
            <a:r>
              <a:rPr lang="en-US" dirty="0" smtClean="0"/>
              <a:t>the </a:t>
            </a:r>
            <a:r>
              <a:rPr lang="en-US" dirty="0"/>
              <a:t>fluid from the stationary layer at the surface. The fluid </a:t>
            </a:r>
            <a:r>
              <a:rPr lang="en-US" dirty="0" smtClean="0"/>
              <a:t>layer just </a:t>
            </a:r>
            <a:r>
              <a:rPr lang="en-US" dirty="0"/>
              <a:t>above the surface moves at a slow but finite velocity; </a:t>
            </a:r>
            <a:r>
              <a:rPr lang="en-US" dirty="0" smtClean="0"/>
              <a:t>layers further </a:t>
            </a:r>
            <a:r>
              <a:rPr lang="en-US" dirty="0"/>
              <a:t>above move at increasing velocity as the drag </a:t>
            </a:r>
            <a:r>
              <a:rPr lang="en-US" dirty="0" smtClean="0"/>
              <a:t>forces associated </a:t>
            </a:r>
            <a:r>
              <a:rPr lang="en-US" dirty="0"/>
              <a:t>with the stationary layer decrease. At the edge of </a:t>
            </a:r>
            <a:r>
              <a:rPr lang="en-US" dirty="0" smtClean="0"/>
              <a:t>the boundary </a:t>
            </a:r>
            <a:r>
              <a:rPr lang="en-US" dirty="0"/>
              <a:t>layer, fluid is unaffected by the presence of the </a:t>
            </a:r>
            <a:r>
              <a:rPr lang="en-US" dirty="0" smtClean="0"/>
              <a:t>plate and </a:t>
            </a:r>
            <a:r>
              <a:rPr lang="en-US" dirty="0"/>
              <a:t>the velocity is close to that of the bulk flow</a:t>
            </a:r>
            <a:r>
              <a:rPr lang="en-US" dirty="0" smtClean="0"/>
              <a:t>, </a:t>
            </a:r>
            <a:r>
              <a:rPr lang="en-US" b="1" dirty="0" err="1" smtClean="0"/>
              <a:t>u</a:t>
            </a:r>
            <a:r>
              <a:rPr lang="en-US" b="1" i="1" baseline="-25000" dirty="0" err="1" smtClean="0"/>
              <a:t>B</a:t>
            </a:r>
            <a:r>
              <a:rPr lang="en-US" dirty="0" smtClean="0"/>
              <a:t>. </a:t>
            </a:r>
          </a:p>
          <a:p>
            <a:r>
              <a:rPr lang="en-US" dirty="0" smtClean="0"/>
              <a:t>The </a:t>
            </a:r>
            <a:r>
              <a:rPr lang="en-US" dirty="0">
                <a:solidFill>
                  <a:srgbClr val="00B0F0"/>
                </a:solidFill>
              </a:rPr>
              <a:t>line connecting the heads of the velocity</a:t>
            </a:r>
            <a:r>
              <a:rPr lang="en-US" dirty="0"/>
              <a:t> </a:t>
            </a:r>
            <a:r>
              <a:rPr lang="en-US" dirty="0" smtClean="0"/>
              <a:t>arrows shows </a:t>
            </a:r>
            <a:r>
              <a:rPr lang="en-US" dirty="0"/>
              <a:t>the </a:t>
            </a:r>
            <a:r>
              <a:rPr lang="en-US" i="1" dirty="0">
                <a:solidFill>
                  <a:srgbClr val="00B0F0"/>
                </a:solidFill>
              </a:rPr>
              <a:t>velocity profile </a:t>
            </a:r>
            <a:r>
              <a:rPr lang="en-US" dirty="0"/>
              <a:t>in the fluid. </a:t>
            </a:r>
            <a:endParaRPr lang="en-US" dirty="0" smtClean="0"/>
          </a:p>
          <a:p>
            <a:r>
              <a:rPr lang="en-US" dirty="0" smtClean="0"/>
              <a:t>A </a:t>
            </a:r>
            <a:r>
              <a:rPr lang="en-US" i="1" dirty="0">
                <a:solidFill>
                  <a:srgbClr val="00B0F0"/>
                </a:solidFill>
              </a:rPr>
              <a:t>V</a:t>
            </a:r>
            <a:r>
              <a:rPr lang="en-US" i="1" dirty="0" smtClean="0">
                <a:solidFill>
                  <a:srgbClr val="00B0F0"/>
                </a:solidFill>
              </a:rPr>
              <a:t>elocity </a:t>
            </a:r>
            <a:r>
              <a:rPr lang="en-US" i="1" dirty="0">
                <a:solidFill>
                  <a:srgbClr val="00B0F0"/>
                </a:solidFill>
              </a:rPr>
              <a:t>gradient</a:t>
            </a:r>
            <a:r>
              <a:rPr lang="en-US" i="1" dirty="0"/>
              <a:t>, </a:t>
            </a:r>
            <a:r>
              <a:rPr lang="en-US" dirty="0"/>
              <a:t>i.e. </a:t>
            </a:r>
            <a:r>
              <a:rPr lang="en-US" dirty="0" smtClean="0"/>
              <a:t>a change </a:t>
            </a:r>
            <a:r>
              <a:rPr lang="en-US" dirty="0"/>
              <a:t>in velocity with distance from the plate, is thus </a:t>
            </a:r>
            <a:r>
              <a:rPr lang="en-US" dirty="0" smtClean="0"/>
              <a:t>established in </a:t>
            </a:r>
            <a:r>
              <a:rPr lang="en-US" dirty="0"/>
              <a:t>a direction perpendicular to the direction of flow.</a:t>
            </a:r>
          </a:p>
          <a:p>
            <a:r>
              <a:rPr lang="en-US" dirty="0"/>
              <a:t>The velocity gradient forms as the drag force resulting </a:t>
            </a:r>
            <a:r>
              <a:rPr lang="en-US" dirty="0" smtClean="0"/>
              <a:t>from retardation </a:t>
            </a:r>
            <a:r>
              <a:rPr lang="en-US" dirty="0"/>
              <a:t>of fluid at the surface is transmitted through </a:t>
            </a:r>
            <a:r>
              <a:rPr lang="en-US" dirty="0" smtClean="0"/>
              <a:t>the </a:t>
            </a:r>
            <a:r>
              <a:rPr lang="en-IN" dirty="0" smtClean="0"/>
              <a:t>fluid</a:t>
            </a:r>
            <a:r>
              <a:rPr lang="en-IN" dirty="0"/>
              <a:t>.</a:t>
            </a:r>
          </a:p>
          <a:p>
            <a:r>
              <a:rPr lang="en-US" dirty="0">
                <a:solidFill>
                  <a:srgbClr val="FF0000"/>
                </a:solidFill>
              </a:rPr>
              <a:t>Formation of boundary layers is important not only </a:t>
            </a:r>
            <a:r>
              <a:rPr lang="en-US" dirty="0" smtClean="0">
                <a:solidFill>
                  <a:srgbClr val="FF0000"/>
                </a:solidFill>
              </a:rPr>
              <a:t>in determining </a:t>
            </a:r>
            <a:r>
              <a:rPr lang="en-US" dirty="0">
                <a:solidFill>
                  <a:srgbClr val="FF0000"/>
                </a:solidFill>
              </a:rPr>
              <a:t>characteristics of fluid flow, but also for </a:t>
            </a:r>
            <a:r>
              <a:rPr lang="en-US" dirty="0" smtClean="0">
                <a:solidFill>
                  <a:srgbClr val="FF0000"/>
                </a:solidFill>
              </a:rPr>
              <a:t>transfer of </a:t>
            </a:r>
            <a:r>
              <a:rPr lang="en-US" dirty="0">
                <a:solidFill>
                  <a:srgbClr val="FF0000"/>
                </a:solidFill>
              </a:rPr>
              <a:t>heat and mass between </a:t>
            </a:r>
            <a:r>
              <a:rPr lang="en-US" dirty="0" smtClean="0">
                <a:solidFill>
                  <a:srgbClr val="FF0000"/>
                </a:solidFill>
              </a:rPr>
              <a:t>phases.</a:t>
            </a:r>
            <a:endParaRPr lang="en-IN" dirty="0">
              <a:solidFill>
                <a:srgbClr val="FF0000"/>
              </a:solidFill>
            </a:endParaRPr>
          </a:p>
        </p:txBody>
      </p:sp>
    </p:spTree>
    <p:extLst>
      <p:ext uri="{BB962C8B-B14F-4D97-AF65-F5344CB8AC3E}">
        <p14:creationId xmlns:p14="http://schemas.microsoft.com/office/powerpoint/2010/main" val="385730254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9488"/>
            <a:ext cx="10515600" cy="657430"/>
          </a:xfrm>
        </p:spPr>
        <p:txBody>
          <a:bodyPr>
            <a:normAutofit/>
          </a:bodyPr>
          <a:lstStyle/>
          <a:p>
            <a:r>
              <a:rPr lang="en-US" sz="2000" dirty="0" smtClean="0"/>
              <a:t>Difference between viscosity, Drag, friction. </a:t>
            </a:r>
            <a:endParaRPr lang="en-IN" sz="2000" dirty="0"/>
          </a:p>
        </p:txBody>
      </p:sp>
      <p:sp>
        <p:nvSpPr>
          <p:cNvPr id="3" name="Content Placeholder 2"/>
          <p:cNvSpPr>
            <a:spLocks noGrp="1"/>
          </p:cNvSpPr>
          <p:nvPr>
            <p:ph idx="1"/>
          </p:nvPr>
        </p:nvSpPr>
        <p:spPr/>
        <p:txBody>
          <a:bodyPr/>
          <a:lstStyle/>
          <a:p>
            <a:r>
              <a:rPr lang="en-US" dirty="0" smtClean="0"/>
              <a:t> </a:t>
            </a:r>
          </a:p>
          <a:p>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3640329579"/>
              </p:ext>
            </p:extLst>
          </p:nvPr>
        </p:nvGraphicFramePr>
        <p:xfrm>
          <a:off x="1032387" y="1032386"/>
          <a:ext cx="10864644" cy="5256133"/>
        </p:xfrm>
        <a:graphic>
          <a:graphicData uri="http://schemas.openxmlformats.org/drawingml/2006/table">
            <a:tbl>
              <a:tblPr firstRow="1" bandRow="1">
                <a:tableStyleId>{5C22544A-7EE6-4342-B048-85BDC9FD1C3A}</a:tableStyleId>
              </a:tblPr>
              <a:tblGrid>
                <a:gridCol w="1810774"/>
                <a:gridCol w="1810774"/>
                <a:gridCol w="1810774"/>
                <a:gridCol w="1810774"/>
                <a:gridCol w="1810774"/>
                <a:gridCol w="1810774"/>
              </a:tblGrid>
              <a:tr h="799846">
                <a:tc>
                  <a:txBody>
                    <a:bodyPr/>
                    <a:lstStyle/>
                    <a:p>
                      <a:r>
                        <a:rPr lang="en-IN" dirty="0"/>
                        <a:t>Concept</a:t>
                      </a:r>
                    </a:p>
                  </a:txBody>
                  <a:tcPr anchor="ctr"/>
                </a:tc>
                <a:tc>
                  <a:txBody>
                    <a:bodyPr/>
                    <a:lstStyle/>
                    <a:p>
                      <a:r>
                        <a:rPr lang="en-IN" dirty="0"/>
                        <a:t>What It Describes</a:t>
                      </a:r>
                    </a:p>
                  </a:txBody>
                  <a:tcPr anchor="ctr"/>
                </a:tc>
                <a:tc>
                  <a:txBody>
                    <a:bodyPr/>
                    <a:lstStyle/>
                    <a:p>
                      <a:r>
                        <a:rPr lang="en-IN" dirty="0"/>
                        <a:t>Medium</a:t>
                      </a:r>
                    </a:p>
                  </a:txBody>
                  <a:tcPr anchor="ctr"/>
                </a:tc>
                <a:tc>
                  <a:txBody>
                    <a:bodyPr/>
                    <a:lstStyle/>
                    <a:p>
                      <a:r>
                        <a:rPr lang="en-IN" dirty="0"/>
                        <a:t>Opposes Motion?</a:t>
                      </a:r>
                    </a:p>
                  </a:txBody>
                  <a:tcPr anchor="ctr"/>
                </a:tc>
                <a:tc>
                  <a:txBody>
                    <a:bodyPr/>
                    <a:lstStyle/>
                    <a:p>
                      <a:r>
                        <a:rPr lang="en-IN" dirty="0"/>
                        <a:t>Depends on Velocity?</a:t>
                      </a:r>
                    </a:p>
                  </a:txBody>
                  <a:tcPr anchor="ctr"/>
                </a:tc>
                <a:tc>
                  <a:txBody>
                    <a:bodyPr/>
                    <a:lstStyle/>
                    <a:p>
                      <a:r>
                        <a:rPr lang="en-IN" dirty="0"/>
                        <a:t>Example Scenario</a:t>
                      </a:r>
                    </a:p>
                  </a:txBody>
                  <a:tcPr anchor="ctr"/>
                </a:tc>
              </a:tr>
              <a:tr h="1485429">
                <a:tc>
                  <a:txBody>
                    <a:bodyPr/>
                    <a:lstStyle/>
                    <a:p>
                      <a:r>
                        <a:rPr lang="en-IN" b="1" dirty="0"/>
                        <a:t>Viscosity</a:t>
                      </a:r>
                      <a:endParaRPr lang="en-IN" dirty="0"/>
                    </a:p>
                  </a:txBody>
                  <a:tcPr anchor="ctr"/>
                </a:tc>
                <a:tc>
                  <a:txBody>
                    <a:bodyPr/>
                    <a:lstStyle/>
                    <a:p>
                      <a:r>
                        <a:rPr lang="en-US" dirty="0"/>
                        <a:t>Internal resistance within a fluid</a:t>
                      </a:r>
                    </a:p>
                  </a:txBody>
                  <a:tcPr anchor="ctr"/>
                </a:tc>
                <a:tc>
                  <a:txBody>
                    <a:bodyPr/>
                    <a:lstStyle/>
                    <a:p>
                      <a:r>
                        <a:rPr lang="en-IN" dirty="0"/>
                        <a:t>Fluids</a:t>
                      </a:r>
                    </a:p>
                  </a:txBody>
                  <a:tcPr anchor="ctr"/>
                </a:tc>
                <a:tc>
                  <a:txBody>
                    <a:bodyPr/>
                    <a:lstStyle/>
                    <a:p>
                      <a:r>
                        <a:rPr lang="en-IN" dirty="0"/>
                        <a:t>✅ Yes (internally)</a:t>
                      </a:r>
                    </a:p>
                  </a:txBody>
                  <a:tcPr anchor="ctr"/>
                </a:tc>
                <a:tc>
                  <a:txBody>
                    <a:bodyPr/>
                    <a:lstStyle/>
                    <a:p>
                      <a:r>
                        <a:rPr lang="en-IN" dirty="0"/>
                        <a:t>✅ Yes (in flow equations)</a:t>
                      </a:r>
                    </a:p>
                  </a:txBody>
                  <a:tcPr anchor="ctr"/>
                </a:tc>
                <a:tc>
                  <a:txBody>
                    <a:bodyPr/>
                    <a:lstStyle/>
                    <a:p>
                      <a:r>
                        <a:rPr lang="en-US" dirty="0"/>
                        <a:t>Honey flowing slowly from a spoon</a:t>
                      </a:r>
                    </a:p>
                  </a:txBody>
                  <a:tcPr anchor="ctr"/>
                </a:tc>
              </a:tr>
              <a:tr h="1485429">
                <a:tc>
                  <a:txBody>
                    <a:bodyPr/>
                    <a:lstStyle/>
                    <a:p>
                      <a:r>
                        <a:rPr lang="en-IN" b="1" dirty="0"/>
                        <a:t>Drag</a:t>
                      </a:r>
                      <a:endParaRPr lang="en-IN" dirty="0"/>
                    </a:p>
                  </a:txBody>
                  <a:tcPr anchor="ctr"/>
                </a:tc>
                <a:tc>
                  <a:txBody>
                    <a:bodyPr/>
                    <a:lstStyle/>
                    <a:p>
                      <a:r>
                        <a:rPr lang="en-US" dirty="0"/>
                        <a:t>Resistance in fluid on a moving object</a:t>
                      </a:r>
                    </a:p>
                  </a:txBody>
                  <a:tcPr anchor="ctr"/>
                </a:tc>
                <a:tc>
                  <a:txBody>
                    <a:bodyPr/>
                    <a:lstStyle/>
                    <a:p>
                      <a:r>
                        <a:rPr lang="en-IN" dirty="0"/>
                        <a:t>Fluids (air, water)</a:t>
                      </a:r>
                    </a:p>
                  </a:txBody>
                  <a:tcPr anchor="ctr"/>
                </a:tc>
                <a:tc>
                  <a:txBody>
                    <a:bodyPr/>
                    <a:lstStyle/>
                    <a:p>
                      <a:r>
                        <a:rPr lang="en-IN" dirty="0"/>
                        <a:t>✅ Yes</a:t>
                      </a:r>
                    </a:p>
                  </a:txBody>
                  <a:tcPr anchor="ctr"/>
                </a:tc>
                <a:tc>
                  <a:txBody>
                    <a:bodyPr/>
                    <a:lstStyle/>
                    <a:p>
                      <a:r>
                        <a:rPr lang="en-IN" dirty="0"/>
                        <a:t>✅ Yes (often ∝ v²)</a:t>
                      </a:r>
                    </a:p>
                  </a:txBody>
                  <a:tcPr anchor="ctr"/>
                </a:tc>
                <a:tc>
                  <a:txBody>
                    <a:bodyPr/>
                    <a:lstStyle/>
                    <a:p>
                      <a:r>
                        <a:rPr lang="en-US" dirty="0"/>
                        <a:t>Air resistance on a falling parachute</a:t>
                      </a:r>
                    </a:p>
                  </a:txBody>
                  <a:tcPr anchor="ctr"/>
                </a:tc>
              </a:tr>
              <a:tr h="1485429">
                <a:tc>
                  <a:txBody>
                    <a:bodyPr/>
                    <a:lstStyle/>
                    <a:p>
                      <a:r>
                        <a:rPr lang="en-IN" b="1" dirty="0"/>
                        <a:t>Friction</a:t>
                      </a:r>
                      <a:endParaRPr lang="en-IN" dirty="0"/>
                    </a:p>
                  </a:txBody>
                  <a:tcPr anchor="ctr"/>
                </a:tc>
                <a:tc>
                  <a:txBody>
                    <a:bodyPr/>
                    <a:lstStyle/>
                    <a:p>
                      <a:r>
                        <a:rPr lang="en-IN" dirty="0"/>
                        <a:t>Resistance between solid surfaces</a:t>
                      </a:r>
                    </a:p>
                  </a:txBody>
                  <a:tcPr anchor="ctr"/>
                </a:tc>
                <a:tc>
                  <a:txBody>
                    <a:bodyPr/>
                    <a:lstStyle/>
                    <a:p>
                      <a:r>
                        <a:rPr lang="en-IN" dirty="0"/>
                        <a:t>Solids</a:t>
                      </a:r>
                    </a:p>
                  </a:txBody>
                  <a:tcPr anchor="ctr"/>
                </a:tc>
                <a:tc>
                  <a:txBody>
                    <a:bodyPr/>
                    <a:lstStyle/>
                    <a:p>
                      <a:r>
                        <a:rPr lang="en-IN" dirty="0"/>
                        <a:t>✅ Yes</a:t>
                      </a:r>
                    </a:p>
                  </a:txBody>
                  <a:tcPr anchor="ctr"/>
                </a:tc>
                <a:tc>
                  <a:txBody>
                    <a:bodyPr/>
                    <a:lstStyle/>
                    <a:p>
                      <a:r>
                        <a:rPr lang="en-IN" dirty="0"/>
                        <a:t>❌ Not directly</a:t>
                      </a:r>
                    </a:p>
                  </a:txBody>
                  <a:tcPr anchor="ctr"/>
                </a:tc>
                <a:tc>
                  <a:txBody>
                    <a:bodyPr/>
                    <a:lstStyle/>
                    <a:p>
                      <a:r>
                        <a:rPr lang="en-IN" dirty="0"/>
                        <a:t>Rubbing hands together</a:t>
                      </a:r>
                    </a:p>
                  </a:txBody>
                  <a:tcPr anchor="ctr"/>
                </a:tc>
              </a:tr>
            </a:tbl>
          </a:graphicData>
        </a:graphic>
      </p:graphicFrame>
    </p:spTree>
    <p:extLst>
      <p:ext uri="{BB962C8B-B14F-4D97-AF65-F5344CB8AC3E}">
        <p14:creationId xmlns:p14="http://schemas.microsoft.com/office/powerpoint/2010/main" val="2813730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914401" y="365125"/>
            <a:ext cx="10087896" cy="5465404"/>
          </a:xfrm>
          <a:prstGeom prst="rect">
            <a:avLst/>
          </a:prstGeom>
        </p:spPr>
      </p:pic>
    </p:spTree>
    <p:extLst>
      <p:ext uri="{BB962C8B-B14F-4D97-AF65-F5344CB8AC3E}">
        <p14:creationId xmlns:p14="http://schemas.microsoft.com/office/powerpoint/2010/main" val="23364811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804914"/>
          </a:xfrm>
        </p:spPr>
        <p:txBody>
          <a:bodyPr/>
          <a:lstStyle/>
          <a:p>
            <a:r>
              <a:rPr lang="pt-BR" dirty="0"/>
              <a:t>Boundary-Layer </a:t>
            </a:r>
            <a:r>
              <a:rPr lang="pt-BR" dirty="0" smtClean="0"/>
              <a:t>Separation</a:t>
            </a:r>
            <a:endParaRPr lang="en-IN" dirty="0"/>
          </a:p>
        </p:txBody>
      </p:sp>
      <p:sp>
        <p:nvSpPr>
          <p:cNvPr id="3" name="Content Placeholder 2"/>
          <p:cNvSpPr>
            <a:spLocks noGrp="1"/>
          </p:cNvSpPr>
          <p:nvPr>
            <p:ph idx="1"/>
          </p:nvPr>
        </p:nvSpPr>
        <p:spPr>
          <a:xfrm>
            <a:off x="235975" y="804914"/>
            <a:ext cx="7914967" cy="5525729"/>
          </a:xfrm>
        </p:spPr>
        <p:txBody>
          <a:bodyPr>
            <a:normAutofit lnSpcReduction="10000"/>
          </a:bodyPr>
          <a:lstStyle/>
          <a:p>
            <a:r>
              <a:rPr lang="en-US" dirty="0">
                <a:solidFill>
                  <a:srgbClr val="00B0F0"/>
                </a:solidFill>
              </a:rPr>
              <a:t>What happens when contact is broken between a fluid and </a:t>
            </a:r>
            <a:r>
              <a:rPr lang="en-US" dirty="0" smtClean="0">
                <a:solidFill>
                  <a:srgbClr val="00B0F0"/>
                </a:solidFill>
              </a:rPr>
              <a:t>a solid </a:t>
            </a:r>
            <a:r>
              <a:rPr lang="en-US" dirty="0">
                <a:solidFill>
                  <a:srgbClr val="00B0F0"/>
                </a:solidFill>
              </a:rPr>
              <a:t>immersed in the flow path? </a:t>
            </a:r>
            <a:endParaRPr lang="en-US" dirty="0" smtClean="0">
              <a:solidFill>
                <a:srgbClr val="00B0F0"/>
              </a:solidFill>
            </a:endParaRPr>
          </a:p>
          <a:p>
            <a:pPr marL="0" indent="0">
              <a:buNone/>
            </a:pPr>
            <a:r>
              <a:rPr lang="en-US" dirty="0" smtClean="0"/>
              <a:t> </a:t>
            </a:r>
            <a:r>
              <a:rPr lang="en-US" dirty="0"/>
              <a:t>C</a:t>
            </a:r>
            <a:r>
              <a:rPr lang="en-US" dirty="0" smtClean="0"/>
              <a:t>onsider </a:t>
            </a:r>
            <a:r>
              <a:rPr lang="en-US" dirty="0"/>
              <a:t>a </a:t>
            </a:r>
            <a:r>
              <a:rPr lang="en-US" dirty="0" smtClean="0"/>
              <a:t>flat plate </a:t>
            </a:r>
            <a:r>
              <a:rPr lang="en-US" dirty="0"/>
              <a:t>aligned perpendicular to the direction of fluid </a:t>
            </a:r>
            <a:r>
              <a:rPr lang="en-US" dirty="0" smtClean="0"/>
              <a:t>flow</a:t>
            </a:r>
          </a:p>
          <a:p>
            <a:r>
              <a:rPr lang="en-US" dirty="0" smtClean="0"/>
              <a:t>Fluid </a:t>
            </a:r>
            <a:r>
              <a:rPr lang="en-US" dirty="0"/>
              <a:t>impinges on the surface of </a:t>
            </a:r>
            <a:r>
              <a:rPr lang="en-US" dirty="0" smtClean="0"/>
              <a:t>the plate</a:t>
            </a:r>
            <a:r>
              <a:rPr lang="en-US" dirty="0"/>
              <a:t>, and forms a boundary layer as it flows either up or </a:t>
            </a:r>
            <a:r>
              <a:rPr lang="en-US" dirty="0" smtClean="0"/>
              <a:t>down the </a:t>
            </a:r>
            <a:r>
              <a:rPr lang="en-US" dirty="0"/>
              <a:t>object. </a:t>
            </a:r>
            <a:endParaRPr lang="en-US" dirty="0" smtClean="0"/>
          </a:p>
          <a:p>
            <a:r>
              <a:rPr lang="en-US" dirty="0" smtClean="0"/>
              <a:t>When </a:t>
            </a:r>
            <a:r>
              <a:rPr lang="en-US" dirty="0"/>
              <a:t>fluid reaches the top or bottom of the </a:t>
            </a:r>
            <a:r>
              <a:rPr lang="en-US" dirty="0" smtClean="0"/>
              <a:t>plate its </a:t>
            </a:r>
            <a:r>
              <a:rPr lang="en-US" dirty="0">
                <a:solidFill>
                  <a:srgbClr val="FF0000"/>
                </a:solidFill>
              </a:rPr>
              <a:t>momentum </a:t>
            </a:r>
            <a:r>
              <a:rPr lang="en-US" dirty="0"/>
              <a:t>prevents it from making the sharp turn </a:t>
            </a:r>
            <a:r>
              <a:rPr lang="en-US" dirty="0" smtClean="0"/>
              <a:t>around the </a:t>
            </a:r>
            <a:r>
              <a:rPr lang="en-US" dirty="0"/>
              <a:t>edge. </a:t>
            </a:r>
            <a:endParaRPr lang="en-US" dirty="0" smtClean="0"/>
          </a:p>
          <a:p>
            <a:r>
              <a:rPr lang="en-US" dirty="0" smtClean="0"/>
              <a:t>As </a:t>
            </a:r>
            <a:r>
              <a:rPr lang="en-US" dirty="0"/>
              <a:t>a result, fluid separates from the plate </a:t>
            </a:r>
            <a:r>
              <a:rPr lang="en-US" dirty="0" smtClean="0"/>
              <a:t>and proceeds </a:t>
            </a:r>
            <a:r>
              <a:rPr lang="en-US" dirty="0"/>
              <a:t>outwards into the bulk fluid. Directly behind </a:t>
            </a:r>
            <a:r>
              <a:rPr lang="en-US" dirty="0" smtClean="0"/>
              <a:t>the plate </a:t>
            </a:r>
            <a:r>
              <a:rPr lang="en-US" dirty="0"/>
              <a:t>is a zone of highly decelerating fluid in which </a:t>
            </a:r>
            <a:r>
              <a:rPr lang="en-US" dirty="0">
                <a:solidFill>
                  <a:srgbClr val="00B0F0"/>
                </a:solidFill>
              </a:rPr>
              <a:t>large </a:t>
            </a:r>
            <a:r>
              <a:rPr lang="en-US" dirty="0" smtClean="0">
                <a:solidFill>
                  <a:srgbClr val="00B0F0"/>
                </a:solidFill>
              </a:rPr>
              <a:t>eddies or </a:t>
            </a:r>
            <a:r>
              <a:rPr lang="en-US" i="1" dirty="0">
                <a:solidFill>
                  <a:srgbClr val="00B0F0"/>
                </a:solidFill>
              </a:rPr>
              <a:t>vortices</a:t>
            </a:r>
            <a:r>
              <a:rPr lang="en-US" i="1" dirty="0"/>
              <a:t> </a:t>
            </a:r>
            <a:r>
              <a:rPr lang="en-US" dirty="0"/>
              <a:t>are formed. This zone is called the </a:t>
            </a:r>
            <a:r>
              <a:rPr lang="en-US" i="1" dirty="0">
                <a:solidFill>
                  <a:srgbClr val="00B0F0"/>
                </a:solidFill>
              </a:rPr>
              <a:t>wake</a:t>
            </a:r>
            <a:r>
              <a:rPr lang="en-US" i="1" dirty="0" smtClean="0"/>
              <a:t>.</a:t>
            </a:r>
          </a:p>
          <a:p>
            <a:r>
              <a:rPr lang="en-US" i="1" dirty="0" smtClean="0"/>
              <a:t> </a:t>
            </a:r>
            <a:r>
              <a:rPr lang="en-US" dirty="0"/>
              <a:t>Eddies </a:t>
            </a:r>
            <a:r>
              <a:rPr lang="en-US" dirty="0" smtClean="0"/>
              <a:t>in the </a:t>
            </a:r>
            <a:r>
              <a:rPr lang="en-US" dirty="0"/>
              <a:t>wake are kept in rotational </a:t>
            </a:r>
            <a:r>
              <a:rPr lang="en-US" dirty="0" smtClean="0"/>
              <a:t>motion</a:t>
            </a:r>
          </a:p>
          <a:p>
            <a:pPr marL="0" indent="0">
              <a:buNone/>
            </a:pPr>
            <a:r>
              <a:rPr lang="en-US" dirty="0" smtClean="0"/>
              <a:t> </a:t>
            </a:r>
            <a:r>
              <a:rPr lang="en-US" dirty="0"/>
              <a:t>by the force of </a:t>
            </a:r>
            <a:r>
              <a:rPr lang="en-US" dirty="0" smtClean="0"/>
              <a:t>bordering </a:t>
            </a:r>
            <a:r>
              <a:rPr lang="en-IN" dirty="0" smtClean="0"/>
              <a:t>currents</a:t>
            </a:r>
            <a:r>
              <a:rPr lang="en-IN" dirty="0"/>
              <a:t>.</a:t>
            </a:r>
          </a:p>
        </p:txBody>
      </p:sp>
      <p:pic>
        <p:nvPicPr>
          <p:cNvPr id="4" name="Picture 3"/>
          <p:cNvPicPr>
            <a:picLocks noChangeAspect="1"/>
          </p:cNvPicPr>
          <p:nvPr/>
        </p:nvPicPr>
        <p:blipFill>
          <a:blip r:embed="rId2"/>
          <a:stretch>
            <a:fillRect/>
          </a:stretch>
        </p:blipFill>
        <p:spPr>
          <a:xfrm>
            <a:off x="7816645" y="1927123"/>
            <a:ext cx="4375355" cy="3588774"/>
          </a:xfrm>
          <a:prstGeom prst="rect">
            <a:avLst/>
          </a:prstGeom>
        </p:spPr>
      </p:pic>
    </p:spTree>
    <p:extLst>
      <p:ext uri="{BB962C8B-B14F-4D97-AF65-F5344CB8AC3E}">
        <p14:creationId xmlns:p14="http://schemas.microsoft.com/office/powerpoint/2010/main" val="281966516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9542" y="207809"/>
            <a:ext cx="10515600" cy="637765"/>
          </a:xfrm>
        </p:spPr>
        <p:txBody>
          <a:bodyPr/>
          <a:lstStyle/>
          <a:p>
            <a:r>
              <a:rPr lang="en-US" dirty="0" smtClean="0"/>
              <a:t>When it occurs </a:t>
            </a:r>
            <a:endParaRPr lang="en-IN" dirty="0"/>
          </a:p>
        </p:txBody>
      </p:sp>
      <p:sp>
        <p:nvSpPr>
          <p:cNvPr id="3" name="Content Placeholder 2"/>
          <p:cNvSpPr>
            <a:spLocks noGrp="1"/>
          </p:cNvSpPr>
          <p:nvPr>
            <p:ph idx="1"/>
          </p:nvPr>
        </p:nvSpPr>
        <p:spPr>
          <a:xfrm>
            <a:off x="462116" y="993058"/>
            <a:ext cx="10891684" cy="5183905"/>
          </a:xfrm>
        </p:spPr>
        <p:txBody>
          <a:bodyPr>
            <a:normAutofit/>
          </a:bodyPr>
          <a:lstStyle/>
          <a:p>
            <a:r>
              <a:rPr lang="en-US" i="1" dirty="0"/>
              <a:t>Boundary-layer </a:t>
            </a:r>
            <a:r>
              <a:rPr lang="en-US" i="1" dirty="0" smtClean="0"/>
              <a:t>separation </a:t>
            </a:r>
            <a:endParaRPr lang="en-US" dirty="0"/>
          </a:p>
          <a:p>
            <a:r>
              <a:rPr lang="en-US" dirty="0"/>
              <a:t>occurs whenever an abrupt change in either magnitude or </a:t>
            </a:r>
            <a:r>
              <a:rPr lang="en-US" dirty="0" smtClean="0"/>
              <a:t>direction of </a:t>
            </a:r>
            <a:r>
              <a:rPr lang="en-US" dirty="0"/>
              <a:t>fluid velocity is too great for the fluid to keep to a </a:t>
            </a:r>
            <a:r>
              <a:rPr lang="en-US" dirty="0" smtClean="0"/>
              <a:t>solid surface</a:t>
            </a:r>
            <a:r>
              <a:rPr lang="en-US" dirty="0"/>
              <a:t>. </a:t>
            </a:r>
            <a:endParaRPr lang="en-US" dirty="0" smtClean="0"/>
          </a:p>
          <a:p>
            <a:pPr lvl="1"/>
            <a:r>
              <a:rPr lang="en-US" dirty="0" smtClean="0"/>
              <a:t>It </a:t>
            </a:r>
            <a:r>
              <a:rPr lang="en-US" dirty="0"/>
              <a:t>occurs in sudden contractions, expansions or bends </a:t>
            </a:r>
            <a:r>
              <a:rPr lang="en-US" dirty="0" smtClean="0"/>
              <a:t>in the </a:t>
            </a:r>
            <a:r>
              <a:rPr lang="en-US" dirty="0"/>
              <a:t>flow channel, or when an object is placed across the </a:t>
            </a:r>
            <a:r>
              <a:rPr lang="en-US" dirty="0" smtClean="0"/>
              <a:t>flow path</a:t>
            </a:r>
            <a:r>
              <a:rPr lang="en-US" dirty="0"/>
              <a:t>. </a:t>
            </a:r>
            <a:endParaRPr lang="en-US" dirty="0" smtClean="0"/>
          </a:p>
          <a:p>
            <a:r>
              <a:rPr lang="en-US" dirty="0" smtClean="0">
                <a:solidFill>
                  <a:srgbClr val="00B0F0"/>
                </a:solidFill>
              </a:rPr>
              <a:t>Formation </a:t>
            </a:r>
            <a:r>
              <a:rPr lang="en-US" dirty="0">
                <a:solidFill>
                  <a:srgbClr val="00B0F0"/>
                </a:solidFill>
              </a:rPr>
              <a:t>of wakes </a:t>
            </a:r>
            <a:r>
              <a:rPr lang="en-US" dirty="0" smtClean="0"/>
              <a:t>should be </a:t>
            </a:r>
            <a:r>
              <a:rPr lang="en-US" dirty="0" smtClean="0">
                <a:solidFill>
                  <a:srgbClr val="00B0F0"/>
                </a:solidFill>
              </a:rPr>
              <a:t>minimized</a:t>
            </a:r>
            <a:r>
              <a:rPr lang="en-US" dirty="0" smtClean="0"/>
              <a:t> </a:t>
            </a:r>
            <a:r>
              <a:rPr lang="en-US" dirty="0"/>
              <a:t>if large pressure losses in the fluid are to be </a:t>
            </a:r>
            <a:r>
              <a:rPr lang="en-US" dirty="0" smtClean="0">
                <a:solidFill>
                  <a:srgbClr val="FF0000"/>
                </a:solidFill>
              </a:rPr>
              <a:t>avoided</a:t>
            </a:r>
            <a:r>
              <a:rPr lang="en-US" dirty="0" smtClean="0"/>
              <a:t>.</a:t>
            </a:r>
          </a:p>
          <a:p>
            <a:pPr lvl="1"/>
            <a:r>
              <a:rPr lang="en-US" dirty="0"/>
              <a:t> W</a:t>
            </a:r>
            <a:r>
              <a:rPr lang="en-US" dirty="0" smtClean="0"/>
              <a:t>hen energy </a:t>
            </a:r>
            <a:r>
              <a:rPr lang="en-US" dirty="0"/>
              <a:t>is associated with the </a:t>
            </a:r>
            <a:r>
              <a:rPr lang="en-US" dirty="0" smtClean="0"/>
              <a:t>wake; this </a:t>
            </a:r>
            <a:r>
              <a:rPr lang="en-US" dirty="0"/>
              <a:t>energy is taken from the bulk flow. (</a:t>
            </a:r>
            <a:r>
              <a:rPr lang="en-US" dirty="0" smtClean="0"/>
              <a:t> part </a:t>
            </a:r>
            <a:r>
              <a:rPr lang="en-US" dirty="0"/>
              <a:t>of </a:t>
            </a:r>
            <a:r>
              <a:rPr lang="en-US" dirty="0" smtClean="0"/>
              <a:t>energy will be </a:t>
            </a:r>
            <a:r>
              <a:rPr lang="en-US" dirty="0"/>
              <a:t>associated with the </a:t>
            </a:r>
            <a:r>
              <a:rPr lang="en-US" dirty="0" smtClean="0"/>
              <a:t>wake, then obviously energy for flow of fluid becomes less)</a:t>
            </a:r>
            <a:endParaRPr lang="en-US" dirty="0"/>
          </a:p>
          <a:p>
            <a:r>
              <a:rPr lang="en-US" dirty="0"/>
              <a:t>however, for some purposes such as </a:t>
            </a:r>
            <a:r>
              <a:rPr lang="en-US" dirty="0">
                <a:solidFill>
                  <a:srgbClr val="00B0F0"/>
                </a:solidFill>
              </a:rPr>
              <a:t>promotion of mixing </a:t>
            </a:r>
            <a:r>
              <a:rPr lang="en-US" dirty="0" smtClean="0">
                <a:solidFill>
                  <a:srgbClr val="00B0F0"/>
                </a:solidFill>
              </a:rPr>
              <a:t>and heat </a:t>
            </a:r>
            <a:r>
              <a:rPr lang="en-US" dirty="0">
                <a:solidFill>
                  <a:srgbClr val="00B0F0"/>
                </a:solidFill>
              </a:rPr>
              <a:t>transfer, boundary-layer separation </a:t>
            </a:r>
            <a:r>
              <a:rPr lang="en-US" dirty="0"/>
              <a:t>may be </a:t>
            </a:r>
            <a:r>
              <a:rPr lang="en-US" dirty="0">
                <a:solidFill>
                  <a:srgbClr val="FF0000"/>
                </a:solidFill>
              </a:rPr>
              <a:t>desirable</a:t>
            </a:r>
            <a:r>
              <a:rPr lang="en-US" dirty="0">
                <a:solidFill>
                  <a:srgbClr val="00B0F0"/>
                </a:solidFill>
              </a:rPr>
              <a:t>.</a:t>
            </a:r>
            <a:endParaRPr lang="en-IN" dirty="0">
              <a:solidFill>
                <a:srgbClr val="00B0F0"/>
              </a:solidFill>
            </a:endParaRPr>
          </a:p>
        </p:txBody>
      </p:sp>
    </p:spTree>
    <p:extLst>
      <p:ext uri="{BB962C8B-B14F-4D97-AF65-F5344CB8AC3E}">
        <p14:creationId xmlns:p14="http://schemas.microsoft.com/office/powerpoint/2010/main" val="381652543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11623"/>
          </a:xfrm>
        </p:spPr>
        <p:txBody>
          <a:bodyPr>
            <a:normAutofit fontScale="90000"/>
          </a:bodyPr>
          <a:lstStyle/>
          <a:p>
            <a:r>
              <a:rPr lang="en-IN" dirty="0"/>
              <a:t>Viscosity</a:t>
            </a:r>
            <a:br>
              <a:rPr lang="en-IN" dirty="0"/>
            </a:br>
            <a:endParaRPr lang="en-IN" dirty="0"/>
          </a:p>
        </p:txBody>
      </p:sp>
      <p:sp>
        <p:nvSpPr>
          <p:cNvPr id="3" name="Content Placeholder 2"/>
          <p:cNvSpPr>
            <a:spLocks noGrp="1"/>
          </p:cNvSpPr>
          <p:nvPr>
            <p:ph idx="1"/>
          </p:nvPr>
        </p:nvSpPr>
        <p:spPr>
          <a:xfrm>
            <a:off x="275303" y="540774"/>
            <a:ext cx="11828207" cy="6194323"/>
          </a:xfrm>
        </p:spPr>
        <p:txBody>
          <a:bodyPr>
            <a:normAutofit fontScale="85000" lnSpcReduction="20000"/>
          </a:bodyPr>
          <a:lstStyle/>
          <a:p>
            <a:r>
              <a:rPr lang="en-US" dirty="0" smtClean="0"/>
              <a:t>Viscosity </a:t>
            </a:r>
            <a:r>
              <a:rPr lang="en-US" dirty="0"/>
              <a:t>is the most important property affecting flow </a:t>
            </a:r>
            <a:r>
              <a:rPr lang="en-US" dirty="0" smtClean="0"/>
              <a:t>behavior of </a:t>
            </a:r>
            <a:r>
              <a:rPr lang="en-US" dirty="0"/>
              <a:t>a fluid; </a:t>
            </a:r>
            <a:endParaRPr lang="en-US" dirty="0" smtClean="0"/>
          </a:p>
          <a:p>
            <a:r>
              <a:rPr lang="en-US" b="1" dirty="0" smtClean="0">
                <a:solidFill>
                  <a:srgbClr val="FF0000"/>
                </a:solidFill>
              </a:rPr>
              <a:t>viscosity </a:t>
            </a:r>
            <a:r>
              <a:rPr lang="en-US" b="1" dirty="0">
                <a:solidFill>
                  <a:srgbClr val="FF0000"/>
                </a:solidFill>
              </a:rPr>
              <a:t>is related to the fluid's resistance </a:t>
            </a:r>
            <a:r>
              <a:rPr lang="en-US" b="1" dirty="0" smtClean="0">
                <a:solidFill>
                  <a:srgbClr val="FF0000"/>
                </a:solidFill>
              </a:rPr>
              <a:t>to motion</a:t>
            </a:r>
            <a:r>
              <a:rPr lang="en-US" b="1" dirty="0">
                <a:solidFill>
                  <a:srgbClr val="FF0000"/>
                </a:solidFill>
              </a:rPr>
              <a:t>. </a:t>
            </a:r>
            <a:endParaRPr lang="en-US" b="1" dirty="0" smtClean="0">
              <a:solidFill>
                <a:srgbClr val="FF0000"/>
              </a:solidFill>
            </a:endParaRPr>
          </a:p>
          <a:p>
            <a:r>
              <a:rPr lang="en-US" dirty="0" smtClean="0"/>
              <a:t>Viscosity </a:t>
            </a:r>
            <a:r>
              <a:rPr lang="en-US" dirty="0"/>
              <a:t>has a marked effect on pumping, </a:t>
            </a:r>
            <a:r>
              <a:rPr lang="en-US" dirty="0" smtClean="0"/>
              <a:t>mixing, mass </a:t>
            </a:r>
            <a:r>
              <a:rPr lang="en-US" dirty="0"/>
              <a:t>transfer, heat transfer and aeration of fluids; these in </a:t>
            </a:r>
            <a:r>
              <a:rPr lang="en-US" dirty="0" smtClean="0"/>
              <a:t>turn exert </a:t>
            </a:r>
            <a:r>
              <a:rPr lang="en-US" dirty="0"/>
              <a:t>a major influence on bioprocess design and economics.</a:t>
            </a:r>
          </a:p>
          <a:p>
            <a:r>
              <a:rPr lang="en-US" dirty="0"/>
              <a:t>Viscosity of fermentation fluids is affected by the presence </a:t>
            </a:r>
            <a:r>
              <a:rPr lang="en-US" dirty="0" smtClean="0"/>
              <a:t>of cells</a:t>
            </a:r>
            <a:r>
              <a:rPr lang="en-US" dirty="0"/>
              <a:t>, substrates, products and air.</a:t>
            </a:r>
          </a:p>
          <a:p>
            <a:r>
              <a:rPr lang="en-US" dirty="0"/>
              <a:t>Viscosity is an important aspect of </a:t>
            </a:r>
            <a:r>
              <a:rPr lang="en-US" b="1" i="1" dirty="0">
                <a:solidFill>
                  <a:schemeClr val="accent1"/>
                </a:solidFill>
              </a:rPr>
              <a:t>rheology, </a:t>
            </a:r>
            <a:r>
              <a:rPr lang="en-US" b="1" dirty="0">
                <a:solidFill>
                  <a:schemeClr val="accent1"/>
                </a:solidFill>
              </a:rPr>
              <a:t>the science </a:t>
            </a:r>
            <a:r>
              <a:rPr lang="en-US" b="1" dirty="0" smtClean="0">
                <a:solidFill>
                  <a:schemeClr val="accent1"/>
                </a:solidFill>
              </a:rPr>
              <a:t>of deformation </a:t>
            </a:r>
            <a:r>
              <a:rPr lang="en-US" b="1" dirty="0">
                <a:solidFill>
                  <a:schemeClr val="accent1"/>
                </a:solidFill>
              </a:rPr>
              <a:t>and flow</a:t>
            </a:r>
            <a:r>
              <a:rPr lang="en-US" b="1" dirty="0"/>
              <a:t>. </a:t>
            </a:r>
            <a:endParaRPr lang="en-US" b="1" dirty="0" smtClean="0"/>
          </a:p>
          <a:p>
            <a:r>
              <a:rPr lang="en-US" dirty="0" smtClean="0"/>
              <a:t>Viscosity </a:t>
            </a:r>
            <a:r>
              <a:rPr lang="en-US" dirty="0"/>
              <a:t>is </a:t>
            </a:r>
            <a:r>
              <a:rPr lang="en-US" b="1" dirty="0">
                <a:solidFill>
                  <a:srgbClr val="FF0000"/>
                </a:solidFill>
              </a:rPr>
              <a:t>determined </a:t>
            </a:r>
            <a:r>
              <a:rPr lang="en-US" dirty="0"/>
              <a:t>by relating </a:t>
            </a:r>
            <a:r>
              <a:rPr lang="en-US" dirty="0" smtClean="0"/>
              <a:t>the velocity </a:t>
            </a:r>
            <a:r>
              <a:rPr lang="en-US" dirty="0"/>
              <a:t>gradient in fluids to the shear force causing flow </a:t>
            </a:r>
            <a:r>
              <a:rPr lang="en-US" dirty="0" smtClean="0"/>
              <a:t>to occur</a:t>
            </a:r>
            <a:r>
              <a:rPr lang="en-US" dirty="0"/>
              <a:t>. </a:t>
            </a:r>
            <a:endParaRPr lang="en-US" dirty="0" smtClean="0"/>
          </a:p>
          <a:p>
            <a:r>
              <a:rPr lang="en-US" dirty="0" smtClean="0"/>
              <a:t>This </a:t>
            </a:r>
            <a:r>
              <a:rPr lang="en-US" dirty="0"/>
              <a:t>relationship can be explained by considering the</a:t>
            </a:r>
          </a:p>
          <a:p>
            <a:pPr marL="0" indent="0">
              <a:buNone/>
            </a:pPr>
            <a:r>
              <a:rPr lang="en-US" dirty="0"/>
              <a:t>development of laminar flow between parallel </a:t>
            </a:r>
            <a:r>
              <a:rPr lang="en-US" dirty="0" smtClean="0"/>
              <a:t>plates. </a:t>
            </a:r>
          </a:p>
          <a:p>
            <a:r>
              <a:rPr lang="en-US" dirty="0" smtClean="0"/>
              <a:t>The </a:t>
            </a:r>
            <a:r>
              <a:rPr lang="en-US" dirty="0"/>
              <a:t>plates are a relatively short distance </a:t>
            </a:r>
            <a:r>
              <a:rPr lang="en-US" dirty="0" smtClean="0"/>
              <a:t>apart and,</a:t>
            </a:r>
          </a:p>
          <a:p>
            <a:pPr marL="0" indent="0">
              <a:buNone/>
            </a:pPr>
            <a:r>
              <a:rPr lang="en-US" dirty="0"/>
              <a:t> </a:t>
            </a:r>
            <a:r>
              <a:rPr lang="en-US" dirty="0" smtClean="0"/>
              <a:t>    and the </a:t>
            </a:r>
            <a:r>
              <a:rPr lang="en-US" dirty="0"/>
              <a:t>fluid between them is stationary. </a:t>
            </a:r>
            <a:endParaRPr lang="en-US" dirty="0" smtClean="0"/>
          </a:p>
          <a:p>
            <a:r>
              <a:rPr lang="en-US" dirty="0" smtClean="0"/>
              <a:t>The lower plate </a:t>
            </a:r>
            <a:r>
              <a:rPr lang="en-US" dirty="0"/>
              <a:t>is then moved steadily to the right with </a:t>
            </a:r>
            <a:r>
              <a:rPr lang="en-US" dirty="0">
                <a:solidFill>
                  <a:schemeClr val="accent1"/>
                </a:solidFill>
              </a:rPr>
              <a:t>shear force F</a:t>
            </a:r>
            <a:r>
              <a:rPr lang="en-US" dirty="0"/>
              <a:t>,</a:t>
            </a:r>
          </a:p>
          <a:p>
            <a:r>
              <a:rPr lang="en-US" dirty="0"/>
              <a:t>while the upper plate remains fixed.</a:t>
            </a:r>
          </a:p>
          <a:p>
            <a:r>
              <a:rPr lang="en-US" dirty="0"/>
              <a:t>A thin film of fluid adheres to the surface of each plate.</a:t>
            </a:r>
          </a:p>
          <a:p>
            <a:r>
              <a:rPr lang="en-US" dirty="0"/>
              <a:t>Therefore as the lower plate moves, fluid moves with it, while</a:t>
            </a:r>
          </a:p>
          <a:p>
            <a:pPr marL="0" indent="0">
              <a:buNone/>
            </a:pPr>
            <a:r>
              <a:rPr lang="en-US" dirty="0"/>
              <a:t>at the surface of the stationary plate the fluid velocity is zero.</a:t>
            </a:r>
          </a:p>
          <a:p>
            <a:r>
              <a:rPr lang="en-US" dirty="0"/>
              <a:t>Due to viscous drag, fluid just above the moving plate is </a:t>
            </a:r>
            <a:r>
              <a:rPr lang="en-US" dirty="0" smtClean="0"/>
              <a:t>set </a:t>
            </a:r>
            <a:r>
              <a:rPr lang="en-US" dirty="0"/>
              <a:t>into motion</a:t>
            </a:r>
            <a:r>
              <a:rPr lang="en-US" dirty="0" smtClean="0"/>
              <a:t>,</a:t>
            </a:r>
          </a:p>
          <a:p>
            <a:pPr marL="0" indent="0">
              <a:buNone/>
            </a:pPr>
            <a:r>
              <a:rPr lang="en-US" dirty="0" smtClean="0"/>
              <a:t> </a:t>
            </a:r>
            <a:r>
              <a:rPr lang="en-US" dirty="0"/>
              <a:t>but with reduced speed</a:t>
            </a:r>
            <a:r>
              <a:rPr lang="en-US" dirty="0" smtClean="0"/>
              <a:t>         </a:t>
            </a:r>
            <a:endParaRPr lang="en-IN" dirty="0"/>
          </a:p>
        </p:txBody>
      </p:sp>
      <p:pic>
        <p:nvPicPr>
          <p:cNvPr id="4" name="Picture 3"/>
          <p:cNvPicPr>
            <a:picLocks noChangeAspect="1"/>
          </p:cNvPicPr>
          <p:nvPr/>
        </p:nvPicPr>
        <p:blipFill>
          <a:blip r:embed="rId2"/>
          <a:stretch>
            <a:fillRect/>
          </a:stretch>
        </p:blipFill>
        <p:spPr>
          <a:xfrm>
            <a:off x="8111613" y="2926529"/>
            <a:ext cx="4080387" cy="2855503"/>
          </a:xfrm>
          <a:prstGeom prst="rect">
            <a:avLst/>
          </a:prstGeom>
        </p:spPr>
      </p:pic>
      <p:sp>
        <p:nvSpPr>
          <p:cNvPr id="5" name="Rectangle 4"/>
          <p:cNvSpPr/>
          <p:nvPr/>
        </p:nvSpPr>
        <p:spPr>
          <a:xfrm>
            <a:off x="8111613" y="5869857"/>
            <a:ext cx="5869858" cy="646331"/>
          </a:xfrm>
          <a:prstGeom prst="rect">
            <a:avLst/>
          </a:prstGeom>
        </p:spPr>
        <p:txBody>
          <a:bodyPr wrap="square">
            <a:spAutoFit/>
          </a:bodyPr>
          <a:lstStyle/>
          <a:p>
            <a:r>
              <a:rPr lang="en-US" dirty="0" smtClean="0">
                <a:solidFill>
                  <a:schemeClr val="accent1"/>
                </a:solidFill>
                <a:latin typeface="Times New Roman" panose="02020603050405020304" pitchFamily="18" charset="0"/>
              </a:rPr>
              <a:t>Velocity </a:t>
            </a:r>
            <a:r>
              <a:rPr lang="en-US" dirty="0">
                <a:solidFill>
                  <a:schemeClr val="accent1"/>
                </a:solidFill>
                <a:latin typeface="Times New Roman" panose="02020603050405020304" pitchFamily="18" charset="0"/>
              </a:rPr>
              <a:t>profile for </a:t>
            </a:r>
            <a:r>
              <a:rPr lang="en-US" dirty="0" err="1">
                <a:solidFill>
                  <a:schemeClr val="accent1"/>
                </a:solidFill>
                <a:latin typeface="Times New Roman" panose="02020603050405020304" pitchFamily="18" charset="0"/>
              </a:rPr>
              <a:t>Couette</a:t>
            </a:r>
            <a:r>
              <a:rPr lang="en-US" dirty="0">
                <a:solidFill>
                  <a:schemeClr val="accent1"/>
                </a:solidFill>
                <a:latin typeface="Times New Roman" panose="02020603050405020304" pitchFamily="18" charset="0"/>
              </a:rPr>
              <a:t> flow between</a:t>
            </a:r>
          </a:p>
          <a:p>
            <a:r>
              <a:rPr lang="en-IN" dirty="0">
                <a:solidFill>
                  <a:schemeClr val="accent1"/>
                </a:solidFill>
                <a:latin typeface="Times New Roman" panose="02020603050405020304" pitchFamily="18" charset="0"/>
              </a:rPr>
              <a:t>parallel plates.</a:t>
            </a:r>
            <a:endParaRPr lang="en-IN" dirty="0">
              <a:solidFill>
                <a:schemeClr val="accent1"/>
              </a:solidFill>
            </a:endParaRPr>
          </a:p>
        </p:txBody>
      </p:sp>
    </p:spTree>
    <p:extLst>
      <p:ext uri="{BB962C8B-B14F-4D97-AF65-F5344CB8AC3E}">
        <p14:creationId xmlns:p14="http://schemas.microsoft.com/office/powerpoint/2010/main" val="12487976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13300"/>
            <a:ext cx="10515600" cy="1325563"/>
          </a:xfrm>
        </p:spPr>
        <p:txBody>
          <a:bodyPr/>
          <a:lstStyle/>
          <a:p>
            <a:r>
              <a:rPr lang="en-US" dirty="0" err="1"/>
              <a:t>Couette</a:t>
            </a:r>
            <a:r>
              <a:rPr lang="en-US" dirty="0"/>
              <a:t> flow</a:t>
            </a:r>
            <a:endParaRPr lang="en-IN" dirty="0"/>
          </a:p>
        </p:txBody>
      </p:sp>
      <p:sp>
        <p:nvSpPr>
          <p:cNvPr id="3" name="Content Placeholder 2"/>
          <p:cNvSpPr>
            <a:spLocks noGrp="1"/>
          </p:cNvSpPr>
          <p:nvPr>
            <p:ph idx="1"/>
          </p:nvPr>
        </p:nvSpPr>
        <p:spPr>
          <a:xfrm>
            <a:off x="422787" y="560440"/>
            <a:ext cx="11641394" cy="6636774"/>
          </a:xfrm>
        </p:spPr>
        <p:txBody>
          <a:bodyPr>
            <a:normAutofit/>
          </a:bodyPr>
          <a:lstStyle/>
          <a:p>
            <a:r>
              <a:rPr lang="en-US" dirty="0" err="1"/>
              <a:t>Couette</a:t>
            </a:r>
            <a:r>
              <a:rPr lang="en-US" dirty="0"/>
              <a:t> flow refers to the flow of a fluid between two surfaces that are moving at different velocities, such as two concentric cylinders or two parallel planes</a:t>
            </a:r>
            <a:r>
              <a:rPr lang="en-US" dirty="0" smtClean="0"/>
              <a:t>.</a:t>
            </a:r>
          </a:p>
          <a:p>
            <a:r>
              <a:rPr lang="en-US" dirty="0"/>
              <a:t> When steady </a:t>
            </a:r>
            <a:r>
              <a:rPr lang="en-US" dirty="0" err="1"/>
              <a:t>Couette</a:t>
            </a:r>
            <a:r>
              <a:rPr lang="en-US" dirty="0"/>
              <a:t> flow is attained in simple </a:t>
            </a:r>
            <a:r>
              <a:rPr lang="en-US" dirty="0" smtClean="0"/>
              <a:t>fluids</a:t>
            </a:r>
            <a:endParaRPr lang="en-US" dirty="0"/>
          </a:p>
          <a:p>
            <a:r>
              <a:rPr lang="en-US" b="1" dirty="0">
                <a:solidFill>
                  <a:schemeClr val="accent1"/>
                </a:solidFill>
              </a:rPr>
              <a:t>velocity </a:t>
            </a:r>
            <a:r>
              <a:rPr lang="en-US" b="1" dirty="0" smtClean="0">
                <a:solidFill>
                  <a:schemeClr val="accent1"/>
                </a:solidFill>
              </a:rPr>
              <a:t>profile( </a:t>
            </a:r>
            <a:r>
              <a:rPr lang="en-US" b="1" dirty="0">
                <a:solidFill>
                  <a:schemeClr val="accent1"/>
                </a:solidFill>
              </a:rPr>
              <a:t>the slope of </a:t>
            </a:r>
            <a:r>
              <a:rPr lang="en-US" b="1" dirty="0" smtClean="0">
                <a:solidFill>
                  <a:schemeClr val="accent1"/>
                </a:solidFill>
              </a:rPr>
              <a:t>the line </a:t>
            </a:r>
            <a:r>
              <a:rPr lang="en-US" b="1" dirty="0">
                <a:solidFill>
                  <a:schemeClr val="accent1"/>
                </a:solidFill>
              </a:rPr>
              <a:t>connecting all the velocity </a:t>
            </a:r>
            <a:r>
              <a:rPr lang="en-US" b="1" dirty="0" smtClean="0">
                <a:solidFill>
                  <a:schemeClr val="accent1"/>
                </a:solidFill>
              </a:rPr>
              <a:t>arrows) </a:t>
            </a:r>
            <a:r>
              <a:rPr lang="en-US" b="1" dirty="0">
                <a:solidFill>
                  <a:schemeClr val="accent1"/>
                </a:solidFill>
              </a:rPr>
              <a:t>is constant and </a:t>
            </a:r>
            <a:r>
              <a:rPr lang="en-US" b="1" dirty="0" smtClean="0">
                <a:solidFill>
                  <a:schemeClr val="accent1"/>
                </a:solidFill>
              </a:rPr>
              <a:t>proportional to </a:t>
            </a:r>
            <a:r>
              <a:rPr lang="en-US" b="1" dirty="0">
                <a:solidFill>
                  <a:schemeClr val="accent1"/>
                </a:solidFill>
              </a:rPr>
              <a:t>the shear force </a:t>
            </a:r>
            <a:r>
              <a:rPr lang="en-US" b="1" dirty="0" smtClean="0">
                <a:solidFill>
                  <a:schemeClr val="accent1"/>
                </a:solidFill>
              </a:rPr>
              <a:t>F responsible </a:t>
            </a:r>
            <a:r>
              <a:rPr lang="en-US" b="1" dirty="0">
                <a:solidFill>
                  <a:schemeClr val="accent1"/>
                </a:solidFill>
              </a:rPr>
              <a:t>for motion of the plate.</a:t>
            </a:r>
          </a:p>
          <a:p>
            <a:r>
              <a:rPr lang="en-US" dirty="0"/>
              <a:t>The slope of the line connecting the velocity arrows is </a:t>
            </a:r>
            <a:r>
              <a:rPr lang="en-US" dirty="0" smtClean="0"/>
              <a:t>the velocity </a:t>
            </a:r>
            <a:r>
              <a:rPr lang="en-US" dirty="0"/>
              <a:t>gradient, </a:t>
            </a:r>
            <a:r>
              <a:rPr lang="en-US" i="1" dirty="0" err="1"/>
              <a:t>dV</a:t>
            </a:r>
            <a:r>
              <a:rPr lang="en-US" i="1" dirty="0"/>
              <a:t>/dy. </a:t>
            </a:r>
            <a:endParaRPr lang="en-US" i="1" dirty="0" smtClean="0"/>
          </a:p>
          <a:p>
            <a:r>
              <a:rPr lang="en-US" dirty="0" smtClean="0"/>
              <a:t>When </a:t>
            </a:r>
            <a:r>
              <a:rPr lang="en-US" dirty="0"/>
              <a:t>the magnitude of the </a:t>
            </a:r>
            <a:r>
              <a:rPr lang="en-US" dirty="0" smtClean="0"/>
              <a:t>velocity gradient </a:t>
            </a:r>
            <a:r>
              <a:rPr lang="en-US" dirty="0"/>
              <a:t>is directly proportional to </a:t>
            </a:r>
            <a:r>
              <a:rPr lang="en-US" dirty="0" smtClean="0"/>
              <a:t>F</a:t>
            </a:r>
            <a:r>
              <a:rPr lang="en-US" dirty="0"/>
              <a:t> </a:t>
            </a:r>
            <a:r>
              <a:rPr lang="en-US" dirty="0" smtClean="0"/>
              <a:t>:</a:t>
            </a:r>
          </a:p>
          <a:p>
            <a:endParaRPr lang="en-US" dirty="0"/>
          </a:p>
          <a:p>
            <a:r>
              <a:rPr lang="en-US" dirty="0" smtClean="0"/>
              <a:t> </a:t>
            </a:r>
            <a:r>
              <a:rPr lang="en-US" dirty="0"/>
              <a:t>If we define </a:t>
            </a:r>
            <a:r>
              <a:rPr lang="en-US" dirty="0" smtClean="0"/>
              <a:t>" Ƭ” as </a:t>
            </a:r>
            <a:r>
              <a:rPr lang="en-US" dirty="0"/>
              <a:t>the </a:t>
            </a:r>
            <a:r>
              <a:rPr lang="en-US" i="1" dirty="0"/>
              <a:t>shear stress, </a:t>
            </a:r>
            <a:r>
              <a:rPr lang="en-US" dirty="0"/>
              <a:t>equal to the shear force per </a:t>
            </a:r>
            <a:r>
              <a:rPr lang="en-US" dirty="0" smtClean="0"/>
              <a:t>unit </a:t>
            </a:r>
            <a:r>
              <a:rPr lang="en-IN" dirty="0" smtClean="0"/>
              <a:t>area </a:t>
            </a:r>
            <a:r>
              <a:rPr lang="en-IN" dirty="0"/>
              <a:t>of plate</a:t>
            </a:r>
            <a:r>
              <a:rPr lang="en-IN" dirty="0" smtClean="0"/>
              <a:t>:</a:t>
            </a:r>
          </a:p>
          <a:p>
            <a:r>
              <a:rPr lang="en-US" dirty="0"/>
              <a:t>This proportionality is represented by the </a:t>
            </a:r>
            <a:r>
              <a:rPr lang="en-US" dirty="0" smtClean="0"/>
              <a:t>equation </a:t>
            </a:r>
            <a:r>
              <a:rPr lang="en-IN" dirty="0" smtClean="0"/>
              <a:t> </a:t>
            </a:r>
            <a:endParaRPr lang="en-US" dirty="0" smtClean="0"/>
          </a:p>
          <a:p>
            <a:pPr marL="0" indent="0">
              <a:buNone/>
            </a:pPr>
            <a:r>
              <a:rPr lang="en-US" dirty="0" smtClean="0"/>
              <a:t> </a:t>
            </a:r>
            <a:r>
              <a:rPr lang="en-US" dirty="0" err="1" smtClean="0">
                <a:solidFill>
                  <a:srgbClr val="FF0000"/>
                </a:solidFill>
              </a:rPr>
              <a:t>eq</a:t>
            </a:r>
            <a:r>
              <a:rPr lang="en-US" dirty="0" smtClean="0">
                <a:solidFill>
                  <a:srgbClr val="FF0000"/>
                </a:solidFill>
              </a:rPr>
              <a:t> is called </a:t>
            </a:r>
            <a:r>
              <a:rPr lang="en-US" i="1" dirty="0" smtClean="0">
                <a:solidFill>
                  <a:srgbClr val="FF0000"/>
                </a:solidFill>
              </a:rPr>
              <a:t>Newton's </a:t>
            </a:r>
            <a:r>
              <a:rPr lang="en-US" i="1" dirty="0">
                <a:solidFill>
                  <a:srgbClr val="FF0000"/>
                </a:solidFill>
              </a:rPr>
              <a:t>law of viscosity</a:t>
            </a:r>
            <a:endParaRPr lang="en-US" dirty="0" smtClean="0">
              <a:solidFill>
                <a:srgbClr val="FF0000"/>
              </a:solidFill>
            </a:endParaRPr>
          </a:p>
          <a:p>
            <a:pPr marL="0" indent="0">
              <a:buNone/>
            </a:pPr>
            <a:r>
              <a:rPr lang="en-US" dirty="0"/>
              <a:t> </a:t>
            </a:r>
            <a:r>
              <a:rPr lang="en-US" dirty="0" smtClean="0"/>
              <a:t>    where  µ is </a:t>
            </a:r>
            <a:r>
              <a:rPr lang="en-US" dirty="0"/>
              <a:t>the proportionality </a:t>
            </a:r>
            <a:r>
              <a:rPr lang="en-US" dirty="0" smtClean="0"/>
              <a:t>constant. </a:t>
            </a:r>
          </a:p>
          <a:p>
            <a:r>
              <a:rPr lang="en-US" dirty="0" smtClean="0"/>
              <a:t>“  </a:t>
            </a:r>
            <a:r>
              <a:rPr lang="en-US" b="1" dirty="0" smtClean="0"/>
              <a:t>- </a:t>
            </a:r>
            <a:r>
              <a:rPr lang="en-US" b="1" dirty="0" err="1" smtClean="0"/>
              <a:t>ve</a:t>
            </a:r>
            <a:r>
              <a:rPr lang="en-US" dirty="0" smtClean="0"/>
              <a:t> ” </a:t>
            </a:r>
            <a:r>
              <a:rPr lang="en-US" dirty="0" smtClean="0">
                <a:sym typeface="Wingdings" panose="05000000000000000000" pitchFamily="2" charset="2"/>
              </a:rPr>
              <a:t></a:t>
            </a:r>
            <a:r>
              <a:rPr lang="en-US" dirty="0" smtClean="0"/>
              <a:t> </a:t>
            </a:r>
            <a:r>
              <a:rPr lang="en-US" dirty="0"/>
              <a:t>the velocity gradient is always negative </a:t>
            </a:r>
            <a:r>
              <a:rPr lang="en-US" dirty="0" smtClean="0"/>
              <a:t> </a:t>
            </a:r>
          </a:p>
          <a:p>
            <a:pPr marL="0" indent="0">
              <a:buNone/>
            </a:pPr>
            <a:r>
              <a:rPr lang="en-US" i="1" dirty="0" smtClean="0"/>
              <a:t>    -</a:t>
            </a:r>
            <a:r>
              <a:rPr lang="en-US" i="1" dirty="0" err="1"/>
              <a:t>dV</a:t>
            </a:r>
            <a:r>
              <a:rPr lang="en-US" i="1" dirty="0"/>
              <a:t>/</a:t>
            </a:r>
            <a:r>
              <a:rPr lang="en-US" i="1" dirty="0" err="1"/>
              <a:t>dy</a:t>
            </a:r>
            <a:r>
              <a:rPr lang="en-US" i="1" dirty="0"/>
              <a:t> </a:t>
            </a:r>
            <a:r>
              <a:rPr lang="en-US" dirty="0"/>
              <a:t>is called the </a:t>
            </a:r>
            <a:r>
              <a:rPr lang="en-US" i="1" dirty="0"/>
              <a:t>shear </a:t>
            </a:r>
            <a:r>
              <a:rPr lang="en-US" i="1" dirty="0" smtClean="0"/>
              <a:t>rate.</a:t>
            </a:r>
            <a:endParaRPr lang="en-IN" dirty="0"/>
          </a:p>
        </p:txBody>
      </p:sp>
      <p:pic>
        <p:nvPicPr>
          <p:cNvPr id="4" name="Picture 3"/>
          <p:cNvPicPr>
            <a:picLocks noChangeAspect="1"/>
          </p:cNvPicPr>
          <p:nvPr/>
        </p:nvPicPr>
        <p:blipFill>
          <a:blip r:embed="rId2"/>
          <a:stretch>
            <a:fillRect/>
          </a:stretch>
        </p:blipFill>
        <p:spPr>
          <a:xfrm>
            <a:off x="9890930" y="3052920"/>
            <a:ext cx="1288348" cy="825907"/>
          </a:xfrm>
          <a:prstGeom prst="rect">
            <a:avLst/>
          </a:prstGeom>
        </p:spPr>
      </p:pic>
      <p:pic>
        <p:nvPicPr>
          <p:cNvPr id="5" name="Picture 4"/>
          <p:cNvPicPr>
            <a:picLocks noChangeAspect="1"/>
          </p:cNvPicPr>
          <p:nvPr/>
        </p:nvPicPr>
        <p:blipFill>
          <a:blip r:embed="rId3"/>
          <a:stretch>
            <a:fillRect/>
          </a:stretch>
        </p:blipFill>
        <p:spPr>
          <a:xfrm>
            <a:off x="10992465" y="3701935"/>
            <a:ext cx="1199535" cy="1050632"/>
          </a:xfrm>
          <a:prstGeom prst="rect">
            <a:avLst/>
          </a:prstGeom>
        </p:spPr>
      </p:pic>
      <p:pic>
        <p:nvPicPr>
          <p:cNvPr id="6" name="Picture 5"/>
          <p:cNvPicPr>
            <a:picLocks noChangeAspect="1"/>
          </p:cNvPicPr>
          <p:nvPr/>
        </p:nvPicPr>
        <p:blipFill>
          <a:blip r:embed="rId4"/>
          <a:stretch>
            <a:fillRect/>
          </a:stretch>
        </p:blipFill>
        <p:spPr>
          <a:xfrm>
            <a:off x="7128387" y="4622436"/>
            <a:ext cx="1681316" cy="902018"/>
          </a:xfrm>
          <a:prstGeom prst="rect">
            <a:avLst/>
          </a:prstGeom>
        </p:spPr>
      </p:pic>
      <p:pic>
        <p:nvPicPr>
          <p:cNvPr id="8" name="Picture 7"/>
          <p:cNvPicPr>
            <a:picLocks noChangeAspect="1"/>
          </p:cNvPicPr>
          <p:nvPr/>
        </p:nvPicPr>
        <p:blipFill>
          <a:blip r:embed="rId5"/>
          <a:stretch>
            <a:fillRect/>
          </a:stretch>
        </p:blipFill>
        <p:spPr>
          <a:xfrm>
            <a:off x="4570665" y="6181924"/>
            <a:ext cx="256973" cy="419272"/>
          </a:xfrm>
          <a:prstGeom prst="rect">
            <a:avLst/>
          </a:prstGeom>
        </p:spPr>
      </p:pic>
    </p:spTree>
    <p:extLst>
      <p:ext uri="{BB962C8B-B14F-4D97-AF65-F5344CB8AC3E}">
        <p14:creationId xmlns:p14="http://schemas.microsoft.com/office/powerpoint/2010/main" val="25248378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6813"/>
            <a:ext cx="10515600" cy="5990150"/>
          </a:xfrm>
        </p:spPr>
        <p:txBody>
          <a:bodyPr/>
          <a:lstStyle/>
          <a:p>
            <a:r>
              <a:rPr lang="en-US" dirty="0"/>
              <a:t>Viscosity </a:t>
            </a:r>
            <a:r>
              <a:rPr lang="en-US" dirty="0" smtClean="0"/>
              <a:t>is </a:t>
            </a:r>
            <a:r>
              <a:rPr lang="en-US" dirty="0"/>
              <a:t>sometimes called </a:t>
            </a:r>
            <a:r>
              <a:rPr lang="en-US" i="1" dirty="0" smtClean="0"/>
              <a:t>dynamic viscosity. </a:t>
            </a:r>
            <a:r>
              <a:rPr lang="en-US" b="1" dirty="0">
                <a:solidFill>
                  <a:schemeClr val="accent1">
                    <a:lumMod val="75000"/>
                  </a:schemeClr>
                </a:solidFill>
              </a:rPr>
              <a:t>It measures how much force is needed to make one layer of fluid slide over another.</a:t>
            </a:r>
            <a:endParaRPr lang="en-US" b="1" i="1" dirty="0" smtClean="0">
              <a:solidFill>
                <a:schemeClr val="accent1">
                  <a:lumMod val="75000"/>
                </a:schemeClr>
              </a:solidFill>
            </a:endParaRPr>
          </a:p>
          <a:p>
            <a:r>
              <a:rPr lang="en-US" dirty="0" smtClean="0"/>
              <a:t>As "</a:t>
            </a:r>
            <a:r>
              <a:rPr lang="en-US" b="1" dirty="0" smtClean="0"/>
              <a:t>Ƭ</a:t>
            </a:r>
            <a:r>
              <a:rPr lang="en-US" dirty="0" smtClean="0"/>
              <a:t>” </a:t>
            </a:r>
            <a:r>
              <a:rPr lang="en-US" dirty="0"/>
              <a:t>has dimensions </a:t>
            </a:r>
            <a:r>
              <a:rPr lang="en-US" dirty="0" smtClean="0"/>
              <a:t>L</a:t>
            </a:r>
            <a:r>
              <a:rPr lang="en-IN" b="1" baseline="30000" dirty="0" smtClean="0"/>
              <a:t>-1</a:t>
            </a:r>
            <a:r>
              <a:rPr lang="en-US" dirty="0" smtClean="0"/>
              <a:t>MT</a:t>
            </a:r>
            <a:r>
              <a:rPr lang="en-IN" b="1" baseline="30000" dirty="0" smtClean="0"/>
              <a:t>-2</a:t>
            </a:r>
            <a:r>
              <a:rPr lang="en-US" dirty="0" smtClean="0"/>
              <a:t> </a:t>
            </a:r>
            <a:r>
              <a:rPr lang="en-US" dirty="0"/>
              <a:t>and </a:t>
            </a:r>
            <a:endParaRPr lang="en-US" dirty="0" smtClean="0"/>
          </a:p>
          <a:p>
            <a:r>
              <a:rPr lang="en-US" dirty="0" smtClean="0"/>
              <a:t>     has dimensions T </a:t>
            </a:r>
            <a:r>
              <a:rPr lang="en-IN" b="1" baseline="30000" dirty="0"/>
              <a:t>-</a:t>
            </a:r>
            <a:r>
              <a:rPr lang="en-IN" b="1" baseline="30000" dirty="0" smtClean="0"/>
              <a:t>1</a:t>
            </a:r>
            <a:r>
              <a:rPr lang="en-US" dirty="0" smtClean="0"/>
              <a:t> ;  “</a:t>
            </a:r>
            <a:r>
              <a:rPr lang="en-US" b="1" dirty="0" smtClean="0"/>
              <a:t>µ</a:t>
            </a:r>
            <a:r>
              <a:rPr lang="en-US" dirty="0" smtClean="0"/>
              <a:t>” must </a:t>
            </a:r>
            <a:r>
              <a:rPr lang="en-US" dirty="0"/>
              <a:t>therefore have dimensions </a:t>
            </a:r>
            <a:r>
              <a:rPr lang="en-US" dirty="0" smtClean="0"/>
              <a:t>L</a:t>
            </a:r>
            <a:r>
              <a:rPr lang="en-IN" b="1" baseline="30000" dirty="0" smtClean="0"/>
              <a:t>-1</a:t>
            </a:r>
            <a:r>
              <a:rPr lang="en-US" dirty="0" smtClean="0"/>
              <a:t>MT</a:t>
            </a:r>
            <a:r>
              <a:rPr lang="en-IN" b="1" baseline="30000" dirty="0" smtClean="0"/>
              <a:t>-1</a:t>
            </a:r>
            <a:r>
              <a:rPr lang="en-US" dirty="0" smtClean="0"/>
              <a:t>. </a:t>
            </a:r>
          </a:p>
          <a:p>
            <a:pPr marL="0" indent="0">
              <a:buNone/>
            </a:pPr>
            <a:r>
              <a:rPr lang="en-US" dirty="0" smtClean="0"/>
              <a:t>The</a:t>
            </a:r>
            <a:r>
              <a:rPr lang="en-US" dirty="0"/>
              <a:t> </a:t>
            </a:r>
            <a:r>
              <a:rPr lang="en-US" dirty="0" smtClean="0"/>
              <a:t>SI </a:t>
            </a:r>
            <a:r>
              <a:rPr lang="en-US" dirty="0"/>
              <a:t>unit of viscosity is the Pascal second (</a:t>
            </a:r>
            <a:r>
              <a:rPr lang="en-US" b="1" dirty="0"/>
              <a:t>Pa s</a:t>
            </a:r>
            <a:r>
              <a:rPr lang="en-US" dirty="0" smtClean="0"/>
              <a:t>)= </a:t>
            </a:r>
            <a:r>
              <a:rPr lang="en-IN" b="1" dirty="0" smtClean="0"/>
              <a:t>1 </a:t>
            </a:r>
            <a:r>
              <a:rPr lang="en-IN" b="1" dirty="0"/>
              <a:t>N s m</a:t>
            </a:r>
            <a:r>
              <a:rPr lang="en-IN" dirty="0"/>
              <a:t> </a:t>
            </a:r>
            <a:r>
              <a:rPr lang="en-IN" b="1" baseline="30000" dirty="0"/>
              <a:t>-2</a:t>
            </a:r>
            <a:r>
              <a:rPr lang="en-IN" dirty="0"/>
              <a:t>  </a:t>
            </a:r>
            <a:r>
              <a:rPr lang="en-IN" dirty="0" smtClean="0"/>
              <a:t> or    </a:t>
            </a:r>
            <a:r>
              <a:rPr lang="en-IN" b="1" dirty="0"/>
              <a:t>1 kg m</a:t>
            </a:r>
            <a:r>
              <a:rPr lang="en-IN" b="1" baseline="30000" dirty="0"/>
              <a:t>-1</a:t>
            </a:r>
            <a:r>
              <a:rPr lang="en-IN" b="1" dirty="0"/>
              <a:t> </a:t>
            </a:r>
            <a:r>
              <a:rPr lang="en-IN" b="1" dirty="0" smtClean="0"/>
              <a:t>S</a:t>
            </a:r>
            <a:r>
              <a:rPr lang="en-IN" b="1" baseline="30000" dirty="0" smtClean="0"/>
              <a:t>-1</a:t>
            </a:r>
            <a:endParaRPr lang="en-IN" b="1" dirty="0"/>
          </a:p>
          <a:p>
            <a:pPr marL="0" indent="0">
              <a:buNone/>
            </a:pPr>
            <a:endParaRPr lang="en-US" b="1" dirty="0" smtClean="0"/>
          </a:p>
          <a:p>
            <a:r>
              <a:rPr lang="en-IN" dirty="0"/>
              <a:t>A modified form </a:t>
            </a:r>
            <a:r>
              <a:rPr lang="en-IN" dirty="0" smtClean="0"/>
              <a:t>of viscosity </a:t>
            </a:r>
            <a:r>
              <a:rPr lang="en-US" dirty="0" smtClean="0"/>
              <a:t>is </a:t>
            </a:r>
            <a:r>
              <a:rPr lang="en-US" dirty="0"/>
              <a:t>the </a:t>
            </a:r>
            <a:r>
              <a:rPr lang="en-US" i="1" dirty="0"/>
              <a:t>kinematic viscosity, </a:t>
            </a:r>
            <a:r>
              <a:rPr lang="en-US" dirty="0"/>
              <a:t>defined as </a:t>
            </a:r>
            <a:r>
              <a:rPr lang="en-US" b="1" dirty="0" smtClean="0"/>
              <a:t>µ/</a:t>
            </a:r>
            <a:r>
              <a:rPr lang="en-US" i="1" dirty="0" smtClean="0"/>
              <a:t> ρ</a:t>
            </a:r>
          </a:p>
          <a:p>
            <a:pPr marL="0" indent="0">
              <a:buNone/>
            </a:pPr>
            <a:r>
              <a:rPr lang="en-US" i="1" dirty="0"/>
              <a:t> </a:t>
            </a:r>
            <a:r>
              <a:rPr lang="en-US" i="1" dirty="0" smtClean="0"/>
              <a:t>   </a:t>
            </a:r>
            <a:r>
              <a:rPr lang="en-US" dirty="0"/>
              <a:t>where p is fluid density;</a:t>
            </a:r>
          </a:p>
          <a:p>
            <a:r>
              <a:rPr lang="en-US" dirty="0"/>
              <a:t>kinematic viscosity is usually given the symbol </a:t>
            </a:r>
            <a:r>
              <a:rPr lang="en-US" b="1" dirty="0"/>
              <a:t>v</a:t>
            </a:r>
            <a:r>
              <a:rPr lang="en-US" dirty="0"/>
              <a:t>. </a:t>
            </a:r>
            <a:r>
              <a:rPr lang="en-US" b="1" dirty="0" smtClean="0">
                <a:solidFill>
                  <a:schemeClr val="accent1">
                    <a:lumMod val="75000"/>
                  </a:schemeClr>
                </a:solidFill>
              </a:rPr>
              <a:t>tells </a:t>
            </a:r>
            <a:r>
              <a:rPr lang="en-US" b="1" dirty="0">
                <a:solidFill>
                  <a:schemeClr val="accent1">
                    <a:lumMod val="75000"/>
                  </a:schemeClr>
                </a:solidFill>
              </a:rPr>
              <a:t>how easily a fluid flows under gravity</a:t>
            </a:r>
            <a:r>
              <a:rPr lang="en-US" b="1" dirty="0" smtClean="0">
                <a:solidFill>
                  <a:schemeClr val="accent1">
                    <a:lumMod val="75000"/>
                  </a:schemeClr>
                </a:solidFill>
              </a:rPr>
              <a:t>.</a:t>
            </a:r>
          </a:p>
          <a:p>
            <a:r>
              <a:rPr lang="en-US" b="1" dirty="0">
                <a:solidFill>
                  <a:schemeClr val="accent1">
                    <a:lumMod val="75000"/>
                  </a:schemeClr>
                </a:solidFill>
              </a:rPr>
              <a:t> </a:t>
            </a:r>
            <a:r>
              <a:rPr lang="en-US" b="1" dirty="0" smtClean="0"/>
              <a:t>Units   </a:t>
            </a:r>
            <a:r>
              <a:rPr lang="en-US" b="1" dirty="0" smtClean="0">
                <a:solidFill>
                  <a:schemeClr val="accent1">
                    <a:lumMod val="75000"/>
                  </a:schemeClr>
                </a:solidFill>
              </a:rPr>
              <a:t>   </a:t>
            </a:r>
            <a:r>
              <a:rPr lang="en-US" b="1" dirty="0" smtClean="0"/>
              <a:t>1 </a:t>
            </a:r>
            <a:r>
              <a:rPr lang="en-US" b="1" dirty="0" err="1" smtClean="0"/>
              <a:t>cP</a:t>
            </a:r>
            <a:r>
              <a:rPr lang="en-US" b="1" dirty="0" smtClean="0"/>
              <a:t>        </a:t>
            </a:r>
            <a:r>
              <a:rPr lang="en-US" dirty="0"/>
              <a:t>or</a:t>
            </a:r>
            <a:r>
              <a:rPr lang="en-US" b="1" dirty="0"/>
              <a:t> </a:t>
            </a:r>
            <a:r>
              <a:rPr lang="en-US" b="1" dirty="0" smtClean="0"/>
              <a:t>      10</a:t>
            </a:r>
            <a:r>
              <a:rPr lang="en-IN" b="1" baseline="30000" dirty="0" smtClean="0"/>
              <a:t>-3</a:t>
            </a:r>
            <a:r>
              <a:rPr lang="en-US" b="1" dirty="0" smtClean="0"/>
              <a:t> Pa </a:t>
            </a:r>
            <a:r>
              <a:rPr lang="en-US" b="1" dirty="0"/>
              <a:t>s</a:t>
            </a:r>
            <a:r>
              <a:rPr lang="en-US" dirty="0"/>
              <a:t>.</a:t>
            </a:r>
            <a:endParaRPr lang="en-IN" b="1" dirty="0" smtClean="0">
              <a:solidFill>
                <a:schemeClr val="accent1">
                  <a:lumMod val="75000"/>
                </a:schemeClr>
              </a:solidFill>
            </a:endParaRPr>
          </a:p>
        </p:txBody>
      </p:sp>
      <p:pic>
        <p:nvPicPr>
          <p:cNvPr id="4" name="Picture 3"/>
          <p:cNvPicPr>
            <a:picLocks noChangeAspect="1"/>
          </p:cNvPicPr>
          <p:nvPr/>
        </p:nvPicPr>
        <p:blipFill>
          <a:blip r:embed="rId2"/>
          <a:stretch>
            <a:fillRect/>
          </a:stretch>
        </p:blipFill>
        <p:spPr>
          <a:xfrm>
            <a:off x="1070382" y="1373950"/>
            <a:ext cx="276638" cy="451357"/>
          </a:xfrm>
          <a:prstGeom prst="rect">
            <a:avLst/>
          </a:prstGeom>
        </p:spPr>
      </p:pic>
    </p:spTree>
    <p:extLst>
      <p:ext uri="{BB962C8B-B14F-4D97-AF65-F5344CB8AC3E}">
        <p14:creationId xmlns:p14="http://schemas.microsoft.com/office/powerpoint/2010/main" val="28102252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2729" y="113184"/>
            <a:ext cx="10515600" cy="785249"/>
          </a:xfrm>
        </p:spPr>
        <p:txBody>
          <a:bodyPr/>
          <a:lstStyle/>
          <a:p>
            <a:pPr lvl="0"/>
            <a:r>
              <a:rPr lang="en-US" altLang="en-US" dirty="0">
                <a:solidFill>
                  <a:schemeClr val="tx1"/>
                </a:solidFill>
                <a:latin typeface="Arial" panose="020B0604020202020204" pitchFamily="34" charset="0"/>
              </a:rPr>
              <a:t>Viscosity Comparison </a:t>
            </a:r>
            <a:r>
              <a:rPr lang="en-US" altLang="en-US" dirty="0" smtClean="0">
                <a:solidFill>
                  <a:schemeClr val="tx1"/>
                </a:solidFill>
                <a:latin typeface="Arial" panose="020B0604020202020204" pitchFamily="34" charset="0"/>
              </a:rPr>
              <a:t>Table</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78243244"/>
              </p:ext>
            </p:extLst>
          </p:nvPr>
        </p:nvGraphicFramePr>
        <p:xfrm>
          <a:off x="838199" y="1170041"/>
          <a:ext cx="11088329" cy="5309419"/>
        </p:xfrm>
        <a:graphic>
          <a:graphicData uri="http://schemas.openxmlformats.org/drawingml/2006/table">
            <a:tbl>
              <a:tblPr/>
              <a:tblGrid>
                <a:gridCol w="2568615"/>
                <a:gridCol w="4823604"/>
                <a:gridCol w="3696110"/>
              </a:tblGrid>
              <a:tr h="505659">
                <a:tc>
                  <a:txBody>
                    <a:bodyPr/>
                    <a:lstStyle/>
                    <a:p>
                      <a:r>
                        <a:rPr lang="en-IN" sz="2400" b="1" dirty="0"/>
                        <a:t>Feature</a:t>
                      </a:r>
                      <a:endParaRPr lang="en-IN" sz="2400" dirty="0"/>
                    </a:p>
                  </a:txBody>
                  <a:tcPr anchor="ctr">
                    <a:lnL>
                      <a:noFill/>
                    </a:lnL>
                    <a:lnR>
                      <a:noFill/>
                    </a:lnR>
                    <a:lnT>
                      <a:noFill/>
                    </a:lnT>
                    <a:lnB>
                      <a:noFill/>
                    </a:lnB>
                  </a:tcPr>
                </a:tc>
                <a:tc>
                  <a:txBody>
                    <a:bodyPr/>
                    <a:lstStyle/>
                    <a:p>
                      <a:r>
                        <a:rPr lang="en-IN" sz="2400" b="1" dirty="0"/>
                        <a:t>Dynamic Viscosity (</a:t>
                      </a:r>
                      <a:r>
                        <a:rPr lang="el-GR" sz="2400" b="1" dirty="0"/>
                        <a:t>μ)</a:t>
                      </a:r>
                      <a:endParaRPr lang="el-GR" sz="2400" dirty="0"/>
                    </a:p>
                  </a:txBody>
                  <a:tcPr anchor="ctr">
                    <a:lnL>
                      <a:noFill/>
                    </a:lnL>
                    <a:lnR>
                      <a:noFill/>
                    </a:lnR>
                    <a:lnT>
                      <a:noFill/>
                    </a:lnT>
                    <a:lnB>
                      <a:noFill/>
                    </a:lnB>
                  </a:tcPr>
                </a:tc>
                <a:tc>
                  <a:txBody>
                    <a:bodyPr/>
                    <a:lstStyle/>
                    <a:p>
                      <a:r>
                        <a:rPr lang="en-IN" sz="2400" b="1"/>
                        <a:t>Kinematic Viscosity (</a:t>
                      </a:r>
                      <a:r>
                        <a:rPr lang="el-GR" sz="2400" b="1"/>
                        <a:t>ν)</a:t>
                      </a:r>
                      <a:endParaRPr lang="el-GR" sz="2400"/>
                    </a:p>
                  </a:txBody>
                  <a:tcPr anchor="ctr">
                    <a:lnL>
                      <a:noFill/>
                    </a:lnL>
                    <a:lnR>
                      <a:noFill/>
                    </a:lnR>
                    <a:lnT>
                      <a:noFill/>
                    </a:lnT>
                    <a:lnB>
                      <a:noFill/>
                    </a:lnB>
                  </a:tcPr>
                </a:tc>
              </a:tr>
              <a:tr h="884903">
                <a:tc>
                  <a:txBody>
                    <a:bodyPr/>
                    <a:lstStyle/>
                    <a:p>
                      <a:r>
                        <a:rPr lang="en-IN" sz="2400" b="1"/>
                        <a:t>Definition</a:t>
                      </a:r>
                      <a:endParaRPr lang="en-IN" sz="2400"/>
                    </a:p>
                  </a:txBody>
                  <a:tcPr anchor="ctr">
                    <a:lnL>
                      <a:noFill/>
                    </a:lnL>
                    <a:lnR>
                      <a:noFill/>
                    </a:lnR>
                    <a:lnT>
                      <a:noFill/>
                    </a:lnT>
                    <a:lnB>
                      <a:noFill/>
                    </a:lnB>
                  </a:tcPr>
                </a:tc>
                <a:tc>
                  <a:txBody>
                    <a:bodyPr/>
                    <a:lstStyle/>
                    <a:p>
                      <a:r>
                        <a:rPr lang="en-IN" sz="2400" dirty="0"/>
                        <a:t>Resistance due to internal friction</a:t>
                      </a:r>
                    </a:p>
                  </a:txBody>
                  <a:tcPr anchor="ctr">
                    <a:lnL>
                      <a:noFill/>
                    </a:lnL>
                    <a:lnR>
                      <a:noFill/>
                    </a:lnR>
                    <a:lnT>
                      <a:noFill/>
                    </a:lnT>
                    <a:lnB>
                      <a:noFill/>
                    </a:lnB>
                  </a:tcPr>
                </a:tc>
                <a:tc>
                  <a:txBody>
                    <a:bodyPr/>
                    <a:lstStyle/>
                    <a:p>
                      <a:r>
                        <a:rPr lang="en-US" sz="2400"/>
                        <a:t>Ratio of dynamic viscosity to fluid density</a:t>
                      </a:r>
                    </a:p>
                  </a:txBody>
                  <a:tcPr anchor="ctr">
                    <a:lnL>
                      <a:noFill/>
                    </a:lnL>
                    <a:lnR>
                      <a:noFill/>
                    </a:lnR>
                    <a:lnT>
                      <a:noFill/>
                    </a:lnT>
                    <a:lnB>
                      <a:noFill/>
                    </a:lnB>
                  </a:tcPr>
                </a:tc>
              </a:tr>
              <a:tr h="884903">
                <a:tc>
                  <a:txBody>
                    <a:bodyPr/>
                    <a:lstStyle/>
                    <a:p>
                      <a:r>
                        <a:rPr lang="en-IN" sz="2400" b="1" dirty="0"/>
                        <a:t>What it describes</a:t>
                      </a:r>
                      <a:endParaRPr lang="en-IN" sz="2400" dirty="0"/>
                    </a:p>
                  </a:txBody>
                  <a:tcPr anchor="ctr">
                    <a:lnL>
                      <a:noFill/>
                    </a:lnL>
                    <a:lnR>
                      <a:noFill/>
                    </a:lnR>
                    <a:lnT>
                      <a:noFill/>
                    </a:lnT>
                    <a:lnB>
                      <a:noFill/>
                    </a:lnB>
                  </a:tcPr>
                </a:tc>
                <a:tc>
                  <a:txBody>
                    <a:bodyPr/>
                    <a:lstStyle/>
                    <a:p>
                      <a:r>
                        <a:rPr lang="en-US" sz="2400" dirty="0"/>
                        <a:t>Force needed to move one fluid layer over another</a:t>
                      </a:r>
                    </a:p>
                  </a:txBody>
                  <a:tcPr anchor="ctr">
                    <a:lnL>
                      <a:noFill/>
                    </a:lnL>
                    <a:lnR>
                      <a:noFill/>
                    </a:lnR>
                    <a:lnT>
                      <a:noFill/>
                    </a:lnT>
                    <a:lnB>
                      <a:noFill/>
                    </a:lnB>
                  </a:tcPr>
                </a:tc>
                <a:tc>
                  <a:txBody>
                    <a:bodyPr/>
                    <a:lstStyle/>
                    <a:p>
                      <a:r>
                        <a:rPr lang="en-US" sz="2400"/>
                        <a:t>Ease of flow under gravity</a:t>
                      </a:r>
                    </a:p>
                  </a:txBody>
                  <a:tcPr anchor="ctr">
                    <a:lnL>
                      <a:noFill/>
                    </a:lnL>
                    <a:lnR>
                      <a:noFill/>
                    </a:lnR>
                    <a:lnT>
                      <a:noFill/>
                    </a:lnT>
                    <a:lnB>
                      <a:noFill/>
                    </a:lnB>
                  </a:tcPr>
                </a:tc>
              </a:tr>
              <a:tr h="505659">
                <a:tc>
                  <a:txBody>
                    <a:bodyPr/>
                    <a:lstStyle/>
                    <a:p>
                      <a:r>
                        <a:rPr lang="en-IN" sz="2400" b="1"/>
                        <a:t>Depends on</a:t>
                      </a:r>
                      <a:endParaRPr lang="en-IN" sz="2400"/>
                    </a:p>
                  </a:txBody>
                  <a:tcPr anchor="ctr">
                    <a:lnL>
                      <a:noFill/>
                    </a:lnL>
                    <a:lnR>
                      <a:noFill/>
                    </a:lnR>
                    <a:lnT>
                      <a:noFill/>
                    </a:lnT>
                    <a:lnB>
                      <a:noFill/>
                    </a:lnB>
                  </a:tcPr>
                </a:tc>
                <a:tc>
                  <a:txBody>
                    <a:bodyPr/>
                    <a:lstStyle/>
                    <a:p>
                      <a:r>
                        <a:rPr lang="en-IN" sz="2400"/>
                        <a:t>Shear stress &amp; shear rate</a:t>
                      </a:r>
                    </a:p>
                  </a:txBody>
                  <a:tcPr anchor="ctr">
                    <a:lnL>
                      <a:noFill/>
                    </a:lnL>
                    <a:lnR>
                      <a:noFill/>
                    </a:lnR>
                    <a:lnT>
                      <a:noFill/>
                    </a:lnT>
                    <a:lnB>
                      <a:noFill/>
                    </a:lnB>
                  </a:tcPr>
                </a:tc>
                <a:tc>
                  <a:txBody>
                    <a:bodyPr/>
                    <a:lstStyle/>
                    <a:p>
                      <a:r>
                        <a:rPr lang="en-IN" sz="2400"/>
                        <a:t>Dynamic viscosity &amp; density</a:t>
                      </a:r>
                    </a:p>
                  </a:txBody>
                  <a:tcPr anchor="ctr">
                    <a:lnL>
                      <a:noFill/>
                    </a:lnL>
                    <a:lnR>
                      <a:noFill/>
                    </a:lnR>
                    <a:lnT>
                      <a:noFill/>
                    </a:lnT>
                    <a:lnB>
                      <a:noFill/>
                    </a:lnB>
                  </a:tcPr>
                </a:tc>
              </a:tr>
              <a:tr h="505659">
                <a:tc>
                  <a:txBody>
                    <a:bodyPr/>
                    <a:lstStyle/>
                    <a:p>
                      <a:r>
                        <a:rPr lang="en-IN" sz="2400" b="1"/>
                        <a:t>Units</a:t>
                      </a:r>
                      <a:endParaRPr lang="en-IN" sz="2400"/>
                    </a:p>
                  </a:txBody>
                  <a:tcPr anchor="ctr">
                    <a:lnL>
                      <a:noFill/>
                    </a:lnL>
                    <a:lnR>
                      <a:noFill/>
                    </a:lnR>
                    <a:lnT>
                      <a:noFill/>
                    </a:lnT>
                    <a:lnB>
                      <a:noFill/>
                    </a:lnB>
                  </a:tcPr>
                </a:tc>
                <a:tc>
                  <a:txBody>
                    <a:bodyPr/>
                    <a:lstStyle/>
                    <a:p>
                      <a:r>
                        <a:rPr lang="en-IN" sz="2400"/>
                        <a:t>Pa·s or Ns/m²</a:t>
                      </a:r>
                    </a:p>
                  </a:txBody>
                  <a:tcPr anchor="ctr">
                    <a:lnL>
                      <a:noFill/>
                    </a:lnL>
                    <a:lnR>
                      <a:noFill/>
                    </a:lnR>
                    <a:lnT>
                      <a:noFill/>
                    </a:lnT>
                    <a:lnB>
                      <a:noFill/>
                    </a:lnB>
                  </a:tcPr>
                </a:tc>
                <a:tc>
                  <a:txBody>
                    <a:bodyPr/>
                    <a:lstStyle/>
                    <a:p>
                      <a:r>
                        <a:rPr lang="en-IN" sz="2400"/>
                        <a:t>m²/s</a:t>
                      </a:r>
                    </a:p>
                  </a:txBody>
                  <a:tcPr anchor="ctr">
                    <a:lnL>
                      <a:noFill/>
                    </a:lnL>
                    <a:lnR>
                      <a:noFill/>
                    </a:lnR>
                    <a:lnT>
                      <a:noFill/>
                    </a:lnT>
                    <a:lnB>
                      <a:noFill/>
                    </a:lnB>
                  </a:tcPr>
                </a:tc>
              </a:tr>
              <a:tr h="505659">
                <a:tc>
                  <a:txBody>
                    <a:bodyPr/>
                    <a:lstStyle/>
                    <a:p>
                      <a:r>
                        <a:rPr lang="en-IN" sz="2400" b="1"/>
                        <a:t>Symbol</a:t>
                      </a:r>
                      <a:endParaRPr lang="en-IN" sz="2400"/>
                    </a:p>
                  </a:txBody>
                  <a:tcPr anchor="ctr">
                    <a:lnL>
                      <a:noFill/>
                    </a:lnL>
                    <a:lnR>
                      <a:noFill/>
                    </a:lnR>
                    <a:lnT>
                      <a:noFill/>
                    </a:lnT>
                    <a:lnB>
                      <a:noFill/>
                    </a:lnB>
                  </a:tcPr>
                </a:tc>
                <a:tc>
                  <a:txBody>
                    <a:bodyPr/>
                    <a:lstStyle/>
                    <a:p>
                      <a:r>
                        <a:rPr lang="el-GR" sz="2400"/>
                        <a:t>μ</a:t>
                      </a:r>
                    </a:p>
                  </a:txBody>
                  <a:tcPr anchor="ctr">
                    <a:lnL>
                      <a:noFill/>
                    </a:lnL>
                    <a:lnR>
                      <a:noFill/>
                    </a:lnR>
                    <a:lnT>
                      <a:noFill/>
                    </a:lnT>
                    <a:lnB>
                      <a:noFill/>
                    </a:lnB>
                  </a:tcPr>
                </a:tc>
                <a:tc>
                  <a:txBody>
                    <a:bodyPr/>
                    <a:lstStyle/>
                    <a:p>
                      <a:r>
                        <a:rPr lang="el-GR" sz="2400"/>
                        <a:t>ν</a:t>
                      </a:r>
                    </a:p>
                  </a:txBody>
                  <a:tcPr anchor="ctr">
                    <a:lnL>
                      <a:noFill/>
                    </a:lnL>
                    <a:lnR>
                      <a:noFill/>
                    </a:lnR>
                    <a:lnT>
                      <a:noFill/>
                    </a:lnT>
                    <a:lnB>
                      <a:noFill/>
                    </a:lnB>
                  </a:tcPr>
                </a:tc>
              </a:tr>
              <a:tr h="505659">
                <a:tc>
                  <a:txBody>
                    <a:bodyPr/>
                    <a:lstStyle/>
                    <a:p>
                      <a:r>
                        <a:rPr lang="en-IN" sz="2400" b="1"/>
                        <a:t>Force required?</a:t>
                      </a:r>
                      <a:endParaRPr lang="en-IN" sz="2400"/>
                    </a:p>
                  </a:txBody>
                  <a:tcPr anchor="ctr">
                    <a:lnL>
                      <a:noFill/>
                    </a:lnL>
                    <a:lnR>
                      <a:noFill/>
                    </a:lnR>
                    <a:lnT>
                      <a:noFill/>
                    </a:lnT>
                    <a:lnB>
                      <a:noFill/>
                    </a:lnB>
                  </a:tcPr>
                </a:tc>
                <a:tc>
                  <a:txBody>
                    <a:bodyPr/>
                    <a:lstStyle/>
                    <a:p>
                      <a:r>
                        <a:rPr lang="en-IN" sz="2400"/>
                        <a:t>Yes</a:t>
                      </a:r>
                    </a:p>
                  </a:txBody>
                  <a:tcPr anchor="ctr">
                    <a:lnL>
                      <a:noFill/>
                    </a:lnL>
                    <a:lnR>
                      <a:noFill/>
                    </a:lnR>
                    <a:lnT>
                      <a:noFill/>
                    </a:lnT>
                    <a:lnB>
                      <a:noFill/>
                    </a:lnB>
                  </a:tcPr>
                </a:tc>
                <a:tc>
                  <a:txBody>
                    <a:bodyPr/>
                    <a:lstStyle/>
                    <a:p>
                      <a:r>
                        <a:rPr lang="en-IN" sz="2400"/>
                        <a:t>No</a:t>
                      </a:r>
                    </a:p>
                  </a:txBody>
                  <a:tcPr anchor="ctr">
                    <a:lnL>
                      <a:noFill/>
                    </a:lnL>
                    <a:lnR>
                      <a:noFill/>
                    </a:lnR>
                    <a:lnT>
                      <a:noFill/>
                    </a:lnT>
                    <a:lnB>
                      <a:noFill/>
                    </a:lnB>
                  </a:tcPr>
                </a:tc>
              </a:tr>
              <a:tr h="505659">
                <a:tc>
                  <a:txBody>
                    <a:bodyPr/>
                    <a:lstStyle/>
                    <a:p>
                      <a:r>
                        <a:rPr lang="en-IN" sz="2400" b="1"/>
                        <a:t>Also called</a:t>
                      </a:r>
                      <a:endParaRPr lang="en-IN" sz="2400"/>
                    </a:p>
                  </a:txBody>
                  <a:tcPr anchor="ctr">
                    <a:lnL>
                      <a:noFill/>
                    </a:lnL>
                    <a:lnR>
                      <a:noFill/>
                    </a:lnR>
                    <a:lnT>
                      <a:noFill/>
                    </a:lnT>
                    <a:lnB>
                      <a:noFill/>
                    </a:lnB>
                  </a:tcPr>
                </a:tc>
                <a:tc>
                  <a:txBody>
                    <a:bodyPr/>
                    <a:lstStyle/>
                    <a:p>
                      <a:r>
                        <a:rPr lang="en-IN" sz="2400"/>
                        <a:t>Absolute viscosity</a:t>
                      </a:r>
                    </a:p>
                  </a:txBody>
                  <a:tcPr anchor="ctr">
                    <a:lnL>
                      <a:noFill/>
                    </a:lnL>
                    <a:lnR>
                      <a:noFill/>
                    </a:lnR>
                    <a:lnT>
                      <a:noFill/>
                    </a:lnT>
                    <a:lnB>
                      <a:noFill/>
                    </a:lnB>
                  </a:tcPr>
                </a:tc>
                <a:tc>
                  <a:txBody>
                    <a:bodyPr/>
                    <a:lstStyle/>
                    <a:p>
                      <a:r>
                        <a:rPr lang="en-IN" sz="2400"/>
                        <a:t>Momentum diffusivity</a:t>
                      </a:r>
                    </a:p>
                  </a:txBody>
                  <a:tcPr anchor="ctr">
                    <a:lnL>
                      <a:noFill/>
                    </a:lnL>
                    <a:lnR>
                      <a:noFill/>
                    </a:lnR>
                    <a:lnT>
                      <a:noFill/>
                    </a:lnT>
                    <a:lnB>
                      <a:noFill/>
                    </a:lnB>
                  </a:tcPr>
                </a:tc>
              </a:tr>
              <a:tr h="505659">
                <a:tc>
                  <a:txBody>
                    <a:bodyPr/>
                    <a:lstStyle/>
                    <a:p>
                      <a:r>
                        <a:rPr lang="en-IN" sz="2400" b="1"/>
                        <a:t>Example fluid</a:t>
                      </a:r>
                      <a:endParaRPr lang="en-IN" sz="2400"/>
                    </a:p>
                  </a:txBody>
                  <a:tcPr anchor="ctr">
                    <a:lnL>
                      <a:noFill/>
                    </a:lnL>
                    <a:lnR>
                      <a:noFill/>
                    </a:lnR>
                    <a:lnT>
                      <a:noFill/>
                    </a:lnT>
                    <a:lnB>
                      <a:noFill/>
                    </a:lnB>
                  </a:tcPr>
                </a:tc>
                <a:tc>
                  <a:txBody>
                    <a:bodyPr/>
                    <a:lstStyle/>
                    <a:p>
                      <a:r>
                        <a:rPr lang="en-US" sz="2400"/>
                        <a:t>Honey (high μ — flows slowly)</a:t>
                      </a:r>
                    </a:p>
                  </a:txBody>
                  <a:tcPr anchor="ctr">
                    <a:lnL>
                      <a:noFill/>
                    </a:lnL>
                    <a:lnR>
                      <a:noFill/>
                    </a:lnR>
                    <a:lnT>
                      <a:noFill/>
                    </a:lnT>
                    <a:lnB>
                      <a:noFill/>
                    </a:lnB>
                  </a:tcPr>
                </a:tc>
                <a:tc>
                  <a:txBody>
                    <a:bodyPr/>
                    <a:lstStyle/>
                    <a:p>
                      <a:r>
                        <a:rPr lang="en-US" sz="2400" dirty="0"/>
                        <a:t>Water (low ν — flows easily)</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19128904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591"/>
          </a:xfrm>
        </p:spPr>
        <p:txBody>
          <a:bodyPr>
            <a:normAutofit fontScale="90000"/>
          </a:bodyPr>
          <a:lstStyle/>
          <a:p>
            <a:r>
              <a:rPr lang="en-US" dirty="0"/>
              <a:t>Fluids can be classified further as </a:t>
            </a:r>
            <a:br>
              <a:rPr lang="en-US" dirty="0"/>
            </a:br>
            <a:endParaRPr lang="en-IN" dirty="0"/>
          </a:p>
        </p:txBody>
      </p:sp>
      <p:sp>
        <p:nvSpPr>
          <p:cNvPr id="3" name="Content Placeholder 2"/>
          <p:cNvSpPr>
            <a:spLocks noGrp="1"/>
          </p:cNvSpPr>
          <p:nvPr>
            <p:ph idx="1"/>
          </p:nvPr>
        </p:nvSpPr>
        <p:spPr>
          <a:xfrm>
            <a:off x="344129" y="835742"/>
            <a:ext cx="11847871" cy="5341221"/>
          </a:xfrm>
        </p:spPr>
        <p:txBody>
          <a:bodyPr>
            <a:normAutofit fontScale="92500" lnSpcReduction="10000"/>
          </a:bodyPr>
          <a:lstStyle/>
          <a:p>
            <a:r>
              <a:rPr lang="en-US" i="1" dirty="0" smtClean="0"/>
              <a:t>Newtonian </a:t>
            </a:r>
            <a:r>
              <a:rPr lang="en-US" dirty="0"/>
              <a:t>or </a:t>
            </a:r>
            <a:r>
              <a:rPr lang="en-US" i="1" dirty="0"/>
              <a:t>non-</a:t>
            </a:r>
            <a:r>
              <a:rPr lang="en-IN" i="1" dirty="0"/>
              <a:t>Newtonian</a:t>
            </a:r>
            <a:r>
              <a:rPr lang="en-IN" i="1" dirty="0" smtClean="0"/>
              <a:t>.</a:t>
            </a:r>
          </a:p>
          <a:p>
            <a:r>
              <a:rPr lang="en-US" i="1" dirty="0"/>
              <a:t> </a:t>
            </a:r>
            <a:r>
              <a:rPr lang="en-US" dirty="0"/>
              <a:t>Fluids which obey Eq.  </a:t>
            </a:r>
            <a:r>
              <a:rPr lang="en-US" dirty="0" smtClean="0"/>
              <a:t>                  with constant </a:t>
            </a:r>
            <a:r>
              <a:rPr lang="el-GR" dirty="0" smtClean="0"/>
              <a:t>μ</a:t>
            </a:r>
            <a:r>
              <a:rPr lang="en-US" dirty="0" smtClean="0"/>
              <a:t> </a:t>
            </a:r>
            <a:r>
              <a:rPr lang="en-US" dirty="0"/>
              <a:t>are known </a:t>
            </a:r>
            <a:r>
              <a:rPr lang="en-US" dirty="0" smtClean="0"/>
              <a:t>a </a:t>
            </a:r>
            <a:r>
              <a:rPr lang="en-US" i="1" dirty="0" smtClean="0"/>
              <a:t>Newtonian fluids</a:t>
            </a:r>
            <a:r>
              <a:rPr lang="en-US" i="1" dirty="0"/>
              <a:t>. </a:t>
            </a:r>
            <a:endParaRPr lang="en-US" i="1" dirty="0" smtClean="0"/>
          </a:p>
          <a:p>
            <a:r>
              <a:rPr lang="en-US" dirty="0" smtClean="0"/>
              <a:t>The </a:t>
            </a:r>
            <a:r>
              <a:rPr lang="en-US" i="1" dirty="0"/>
              <a:t>flow curve </a:t>
            </a:r>
            <a:r>
              <a:rPr lang="en-US" dirty="0"/>
              <a:t>or </a:t>
            </a:r>
            <a:r>
              <a:rPr lang="en-US" i="1" dirty="0" err="1"/>
              <a:t>rheogram</a:t>
            </a:r>
            <a:r>
              <a:rPr lang="en-US" i="1" dirty="0"/>
              <a:t> </a:t>
            </a:r>
            <a:r>
              <a:rPr lang="en-US" dirty="0"/>
              <a:t>for a </a:t>
            </a:r>
            <a:r>
              <a:rPr lang="en-US" dirty="0" smtClean="0"/>
              <a:t>Newtonian fluid</a:t>
            </a:r>
          </a:p>
          <a:p>
            <a:r>
              <a:rPr lang="en-US" dirty="0" smtClean="0"/>
              <a:t> </a:t>
            </a:r>
            <a:r>
              <a:rPr lang="en-US" dirty="0"/>
              <a:t>the slope of a plot of </a:t>
            </a:r>
            <a:r>
              <a:rPr lang="en-US" dirty="0" smtClean="0"/>
              <a:t> “Ƭ" </a:t>
            </a:r>
            <a:r>
              <a:rPr lang="en-US" dirty="0"/>
              <a:t>versus </a:t>
            </a:r>
            <a:r>
              <a:rPr lang="en-US" dirty="0" smtClean="0"/>
              <a:t>     is constant </a:t>
            </a:r>
            <a:r>
              <a:rPr lang="en-US" dirty="0"/>
              <a:t>and equal </a:t>
            </a:r>
            <a:r>
              <a:rPr lang="en-US" dirty="0" smtClean="0"/>
              <a:t>to “</a:t>
            </a:r>
            <a:r>
              <a:rPr lang="en-US" b="1" dirty="0" smtClean="0"/>
              <a:t>µ</a:t>
            </a:r>
            <a:r>
              <a:rPr lang="en-US" dirty="0" smtClean="0"/>
              <a:t>”. </a:t>
            </a:r>
          </a:p>
          <a:p>
            <a:r>
              <a:rPr lang="en-US" dirty="0" smtClean="0"/>
              <a:t>The </a:t>
            </a:r>
            <a:r>
              <a:rPr lang="en-US" dirty="0"/>
              <a:t>viscosity of Newtonian </a:t>
            </a:r>
            <a:r>
              <a:rPr lang="en-US" dirty="0" smtClean="0"/>
              <a:t>fluids </a:t>
            </a:r>
            <a:r>
              <a:rPr lang="en-IN" dirty="0" smtClean="0"/>
              <a:t>remains </a:t>
            </a:r>
            <a:r>
              <a:rPr lang="en-IN" dirty="0"/>
              <a:t>constant despite </a:t>
            </a:r>
            <a:endParaRPr lang="en-IN" dirty="0" smtClean="0"/>
          </a:p>
          <a:p>
            <a:pPr marL="0" indent="0">
              <a:buNone/>
            </a:pPr>
            <a:r>
              <a:rPr lang="en-IN" dirty="0" smtClean="0"/>
              <a:t>changes </a:t>
            </a:r>
            <a:r>
              <a:rPr lang="en-IN" dirty="0"/>
              <a:t>in shear stress (force </a:t>
            </a:r>
            <a:r>
              <a:rPr lang="en-IN" dirty="0" smtClean="0"/>
              <a:t>applied) </a:t>
            </a:r>
            <a:r>
              <a:rPr lang="en-US" dirty="0" smtClean="0"/>
              <a:t>or </a:t>
            </a:r>
            <a:r>
              <a:rPr lang="en-US" dirty="0"/>
              <a:t>shear rate (velocity gradient). </a:t>
            </a:r>
            <a:endParaRPr lang="en-US" dirty="0" smtClean="0"/>
          </a:p>
          <a:p>
            <a:r>
              <a:rPr lang="en-US" dirty="0" smtClean="0"/>
              <a:t>This </a:t>
            </a:r>
            <a:r>
              <a:rPr lang="en-US" dirty="0"/>
              <a:t>does not imply that </a:t>
            </a:r>
            <a:r>
              <a:rPr lang="en-US" dirty="0" smtClean="0"/>
              <a:t>the viscosity </a:t>
            </a:r>
            <a:r>
              <a:rPr lang="en-US" dirty="0"/>
              <a:t>is invariant; </a:t>
            </a:r>
            <a:endParaRPr lang="en-US" dirty="0" smtClean="0"/>
          </a:p>
          <a:p>
            <a:pPr marL="0" indent="0">
              <a:buNone/>
            </a:pPr>
            <a:r>
              <a:rPr lang="en-US" b="1" dirty="0" smtClean="0">
                <a:solidFill>
                  <a:schemeClr val="accent1">
                    <a:lumMod val="75000"/>
                  </a:schemeClr>
                </a:solidFill>
              </a:rPr>
              <a:t>viscosity </a:t>
            </a:r>
            <a:r>
              <a:rPr lang="en-US" b="1" dirty="0">
                <a:solidFill>
                  <a:schemeClr val="accent1">
                    <a:lumMod val="75000"/>
                  </a:schemeClr>
                </a:solidFill>
              </a:rPr>
              <a:t>depends on many parameters</a:t>
            </a:r>
          </a:p>
          <a:p>
            <a:pPr marL="0" indent="0">
              <a:buNone/>
            </a:pPr>
            <a:r>
              <a:rPr lang="en-US" b="1" dirty="0" smtClean="0">
                <a:solidFill>
                  <a:schemeClr val="accent1">
                    <a:lumMod val="75000"/>
                  </a:schemeClr>
                </a:solidFill>
              </a:rPr>
              <a:t>such </a:t>
            </a:r>
            <a:r>
              <a:rPr lang="en-US" b="1" dirty="0">
                <a:solidFill>
                  <a:schemeClr val="accent1">
                    <a:lumMod val="75000"/>
                  </a:schemeClr>
                </a:solidFill>
              </a:rPr>
              <a:t>as temperature, pressure and fluid composition.</a:t>
            </a:r>
          </a:p>
          <a:p>
            <a:r>
              <a:rPr lang="en-US" dirty="0">
                <a:solidFill>
                  <a:srgbClr val="FF0000"/>
                </a:solidFill>
              </a:rPr>
              <a:t>However, under a given set of these conditions, viscosity </a:t>
            </a:r>
            <a:r>
              <a:rPr lang="en-US" dirty="0" smtClean="0">
                <a:solidFill>
                  <a:srgbClr val="FF0000"/>
                </a:solidFill>
              </a:rPr>
              <a:t>of Newtonian </a:t>
            </a:r>
            <a:r>
              <a:rPr lang="en-US" dirty="0">
                <a:solidFill>
                  <a:srgbClr val="FF0000"/>
                </a:solidFill>
              </a:rPr>
              <a:t>fluids is independent of shear stress and shear rate.</a:t>
            </a:r>
          </a:p>
          <a:p>
            <a:r>
              <a:rPr lang="en-US" dirty="0"/>
              <a:t>On the other hand, the ratio between shear stress and </a:t>
            </a:r>
            <a:r>
              <a:rPr lang="en-US" dirty="0" smtClean="0"/>
              <a:t>shear rate </a:t>
            </a:r>
            <a:r>
              <a:rPr lang="en-US" dirty="0"/>
              <a:t>is not constant for </a:t>
            </a:r>
            <a:r>
              <a:rPr lang="en-US" i="1" dirty="0"/>
              <a:t>non-Newtonian </a:t>
            </a:r>
            <a:r>
              <a:rPr lang="en-US" dirty="0"/>
              <a:t>fluids, but depends </a:t>
            </a:r>
            <a:r>
              <a:rPr lang="en-US" dirty="0" smtClean="0"/>
              <a:t>on the </a:t>
            </a:r>
            <a:r>
              <a:rPr lang="en-US" dirty="0"/>
              <a:t>shear force exerted on the </a:t>
            </a:r>
            <a:r>
              <a:rPr lang="en-US" dirty="0" smtClean="0"/>
              <a:t>fluid. </a:t>
            </a:r>
            <a:r>
              <a:rPr lang="en-US" dirty="0"/>
              <a:t>V</a:t>
            </a:r>
            <a:r>
              <a:rPr lang="en-US" dirty="0" smtClean="0"/>
              <a:t>elocity </a:t>
            </a:r>
            <a:r>
              <a:rPr lang="en-US" dirty="0"/>
              <a:t>profile during </a:t>
            </a:r>
            <a:r>
              <a:rPr lang="en-US" dirty="0" err="1"/>
              <a:t>Couette</a:t>
            </a:r>
            <a:r>
              <a:rPr lang="en-US" dirty="0"/>
              <a:t> </a:t>
            </a:r>
            <a:r>
              <a:rPr lang="en-US" dirty="0" smtClean="0"/>
              <a:t>flow is </a:t>
            </a:r>
            <a:r>
              <a:rPr lang="en-US" dirty="0"/>
              <a:t>not as simple as that shown in Figure</a:t>
            </a:r>
            <a:endParaRPr lang="en-IN" dirty="0"/>
          </a:p>
          <a:p>
            <a:endParaRPr lang="en-IN" dirty="0"/>
          </a:p>
        </p:txBody>
      </p:sp>
      <p:pic>
        <p:nvPicPr>
          <p:cNvPr id="4" name="Picture 3"/>
          <p:cNvPicPr>
            <a:picLocks noChangeAspect="1"/>
          </p:cNvPicPr>
          <p:nvPr/>
        </p:nvPicPr>
        <p:blipFill>
          <a:blip r:embed="rId2"/>
          <a:stretch>
            <a:fillRect/>
          </a:stretch>
        </p:blipFill>
        <p:spPr>
          <a:xfrm>
            <a:off x="3441166" y="1116860"/>
            <a:ext cx="1181761" cy="623449"/>
          </a:xfrm>
          <a:prstGeom prst="rect">
            <a:avLst/>
          </a:prstGeom>
        </p:spPr>
      </p:pic>
      <p:pic>
        <p:nvPicPr>
          <p:cNvPr id="5" name="Picture 4"/>
          <p:cNvPicPr>
            <a:picLocks noChangeAspect="1"/>
          </p:cNvPicPr>
          <p:nvPr/>
        </p:nvPicPr>
        <p:blipFill>
          <a:blip r:embed="rId3"/>
          <a:stretch>
            <a:fillRect/>
          </a:stretch>
        </p:blipFill>
        <p:spPr>
          <a:xfrm>
            <a:off x="4753180" y="2001290"/>
            <a:ext cx="256973" cy="419272"/>
          </a:xfrm>
          <a:prstGeom prst="rect">
            <a:avLst/>
          </a:prstGeom>
        </p:spPr>
      </p:pic>
      <p:pic>
        <p:nvPicPr>
          <p:cNvPr id="6" name="Picture 5"/>
          <p:cNvPicPr>
            <a:picLocks noChangeAspect="1"/>
          </p:cNvPicPr>
          <p:nvPr/>
        </p:nvPicPr>
        <p:blipFill>
          <a:blip r:embed="rId4"/>
          <a:stretch>
            <a:fillRect/>
          </a:stretch>
        </p:blipFill>
        <p:spPr>
          <a:xfrm>
            <a:off x="8604109" y="1612490"/>
            <a:ext cx="2749691" cy="2540131"/>
          </a:xfrm>
          <a:prstGeom prst="rect">
            <a:avLst/>
          </a:prstGeom>
        </p:spPr>
      </p:pic>
    </p:spTree>
    <p:extLst>
      <p:ext uri="{BB962C8B-B14F-4D97-AF65-F5344CB8AC3E}">
        <p14:creationId xmlns:p14="http://schemas.microsoft.com/office/powerpoint/2010/main" val="17934259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01791"/>
            <a:ext cx="10515600" cy="1325563"/>
          </a:xfrm>
        </p:spPr>
        <p:txBody>
          <a:bodyPr/>
          <a:lstStyle/>
          <a:p>
            <a:r>
              <a:rPr lang="en-US" i="1" dirty="0" smtClean="0"/>
              <a:t>Momentum </a:t>
            </a:r>
            <a:r>
              <a:rPr lang="en-US" i="1" dirty="0"/>
              <a:t>transfer</a:t>
            </a:r>
            <a:endParaRPr lang="en-IN" dirty="0"/>
          </a:p>
        </p:txBody>
      </p:sp>
      <p:pic>
        <p:nvPicPr>
          <p:cNvPr id="4" name="Picture 3"/>
          <p:cNvPicPr>
            <a:picLocks noChangeAspect="1"/>
          </p:cNvPicPr>
          <p:nvPr/>
        </p:nvPicPr>
        <p:blipFill>
          <a:blip r:embed="rId2"/>
          <a:stretch>
            <a:fillRect/>
          </a:stretch>
        </p:blipFill>
        <p:spPr>
          <a:xfrm>
            <a:off x="8732520" y="923772"/>
            <a:ext cx="3337560" cy="2453055"/>
          </a:xfrm>
          <a:prstGeom prst="rect">
            <a:avLst/>
          </a:prstGeom>
        </p:spPr>
      </p:pic>
      <p:sp>
        <p:nvSpPr>
          <p:cNvPr id="3" name="Content Placeholder 2"/>
          <p:cNvSpPr>
            <a:spLocks noGrp="1"/>
          </p:cNvSpPr>
          <p:nvPr>
            <p:ph idx="1"/>
          </p:nvPr>
        </p:nvSpPr>
        <p:spPr>
          <a:xfrm>
            <a:off x="137653" y="609600"/>
            <a:ext cx="11932428" cy="6548284"/>
          </a:xfrm>
        </p:spPr>
        <p:txBody>
          <a:bodyPr>
            <a:normAutofit fontScale="92500" lnSpcReduction="20000"/>
          </a:bodyPr>
          <a:lstStyle/>
          <a:p>
            <a:r>
              <a:rPr lang="en-US" dirty="0"/>
              <a:t>Viscous drag forces responsible for the velocity gradient </a:t>
            </a:r>
            <a:r>
              <a:rPr lang="en-US" dirty="0" smtClean="0"/>
              <a:t>in Fig are </a:t>
            </a:r>
            <a:r>
              <a:rPr lang="en-US" dirty="0"/>
              <a:t>the instrument </a:t>
            </a:r>
            <a:endParaRPr lang="en-US" dirty="0" smtClean="0"/>
          </a:p>
          <a:p>
            <a:pPr marL="0" indent="0">
              <a:buNone/>
            </a:pPr>
            <a:r>
              <a:rPr lang="en-US" dirty="0" smtClean="0"/>
              <a:t>of </a:t>
            </a:r>
            <a:r>
              <a:rPr lang="en-US" i="1" dirty="0"/>
              <a:t>momentum transfer </a:t>
            </a:r>
            <a:r>
              <a:rPr lang="en-US" dirty="0"/>
              <a:t>in fluids.</a:t>
            </a:r>
          </a:p>
          <a:p>
            <a:r>
              <a:rPr lang="en-US" dirty="0"/>
              <a:t>At y = 0 the fluid acquires momentum in the x-direction </a:t>
            </a:r>
            <a:r>
              <a:rPr lang="en-US" dirty="0" smtClean="0"/>
              <a:t>due to </a:t>
            </a:r>
            <a:r>
              <a:rPr lang="en-US" dirty="0"/>
              <a:t>motion of </a:t>
            </a:r>
            <a:r>
              <a:rPr lang="en-US" dirty="0" smtClean="0"/>
              <a:t>the</a:t>
            </a:r>
          </a:p>
          <a:p>
            <a:pPr marL="0" indent="0">
              <a:buNone/>
            </a:pPr>
            <a:r>
              <a:rPr lang="en-US" dirty="0" smtClean="0"/>
              <a:t> </a:t>
            </a:r>
            <a:r>
              <a:rPr lang="en-US" dirty="0"/>
              <a:t>lower plate. This fluid imparts some of </a:t>
            </a:r>
            <a:r>
              <a:rPr lang="en-US" dirty="0" smtClean="0"/>
              <a:t>its momentum </a:t>
            </a:r>
            <a:r>
              <a:rPr lang="en-US" dirty="0"/>
              <a:t>to the adjacent layer </a:t>
            </a:r>
            <a:r>
              <a:rPr lang="en-US" dirty="0" smtClean="0"/>
              <a:t>of</a:t>
            </a:r>
          </a:p>
          <a:p>
            <a:pPr marL="0" indent="0">
              <a:buNone/>
            </a:pPr>
            <a:r>
              <a:rPr lang="en-US" dirty="0" smtClean="0"/>
              <a:t> </a:t>
            </a:r>
            <a:r>
              <a:rPr lang="en-US" dirty="0"/>
              <a:t>fluid above the plate, </a:t>
            </a:r>
            <a:r>
              <a:rPr lang="en-US" dirty="0" smtClean="0"/>
              <a:t>causing it </a:t>
            </a:r>
            <a:r>
              <a:rPr lang="en-US" dirty="0"/>
              <a:t>also to move in the x-direction</a:t>
            </a:r>
            <a:r>
              <a:rPr lang="en-US" dirty="0" smtClean="0"/>
              <a:t>.</a:t>
            </a:r>
          </a:p>
          <a:p>
            <a:r>
              <a:rPr lang="en-US" dirty="0" smtClean="0"/>
              <a:t> </a:t>
            </a:r>
            <a:r>
              <a:rPr lang="en-US" dirty="0"/>
              <a:t>Momentum </a:t>
            </a:r>
            <a:r>
              <a:rPr lang="en-US" dirty="0" smtClean="0"/>
              <a:t>in x-direction is </a:t>
            </a:r>
            <a:r>
              <a:rPr lang="en-US" dirty="0"/>
              <a:t>transmitted through the fluid </a:t>
            </a:r>
            <a:r>
              <a:rPr lang="en-US" dirty="0" smtClean="0"/>
              <a:t>in y direction.</a:t>
            </a:r>
          </a:p>
          <a:p>
            <a:r>
              <a:rPr lang="en-US" dirty="0"/>
              <a:t> </a:t>
            </a:r>
            <a:r>
              <a:rPr lang="en-US" b="1" dirty="0">
                <a:solidFill>
                  <a:schemeClr val="accent5"/>
                </a:solidFill>
              </a:rPr>
              <a:t>To interpret this equation in terms of momentum transfer,</a:t>
            </a:r>
          </a:p>
          <a:p>
            <a:r>
              <a:rPr lang="en-US" dirty="0">
                <a:solidFill>
                  <a:srgbClr val="FF0000"/>
                </a:solidFill>
              </a:rPr>
              <a:t>S</a:t>
            </a:r>
            <a:r>
              <a:rPr lang="en-US" dirty="0" smtClean="0">
                <a:solidFill>
                  <a:srgbClr val="FF0000"/>
                </a:solidFill>
              </a:rPr>
              <a:t>hear </a:t>
            </a:r>
            <a:r>
              <a:rPr lang="en-US" dirty="0">
                <a:solidFill>
                  <a:srgbClr val="FF0000"/>
                </a:solidFill>
              </a:rPr>
              <a:t>stress </a:t>
            </a:r>
            <a:r>
              <a:rPr lang="en-US" dirty="0" smtClean="0">
                <a:solidFill>
                  <a:srgbClr val="FF0000"/>
                </a:solidFill>
              </a:rPr>
              <a:t>“ Ƭ ” </a:t>
            </a:r>
            <a:r>
              <a:rPr lang="en-US" dirty="0">
                <a:solidFill>
                  <a:srgbClr val="FF0000"/>
                </a:solidFill>
              </a:rPr>
              <a:t>is considered as the flux of x-momentum in the </a:t>
            </a:r>
            <a:r>
              <a:rPr lang="en-US" dirty="0" smtClean="0">
                <a:solidFill>
                  <a:srgbClr val="FF0000"/>
                </a:solidFill>
              </a:rPr>
              <a:t>y direction</a:t>
            </a:r>
            <a:r>
              <a:rPr lang="en-US" dirty="0"/>
              <a:t>.</a:t>
            </a:r>
          </a:p>
          <a:p>
            <a:r>
              <a:rPr lang="en-US" dirty="0"/>
              <a:t>The validity of this definition can be verified </a:t>
            </a:r>
            <a:r>
              <a:rPr lang="en-US" dirty="0" smtClean="0"/>
              <a:t>by checking </a:t>
            </a:r>
            <a:r>
              <a:rPr lang="en-US" dirty="0"/>
              <a:t>the dimensions of momentum flux and shear stress.</a:t>
            </a:r>
          </a:p>
          <a:p>
            <a:r>
              <a:rPr lang="en-US" b="1" dirty="0">
                <a:solidFill>
                  <a:schemeClr val="accent5"/>
                </a:solidFill>
              </a:rPr>
              <a:t>Momentum</a:t>
            </a:r>
            <a:r>
              <a:rPr lang="en-US" dirty="0"/>
              <a:t> is given by the expression </a:t>
            </a:r>
            <a:r>
              <a:rPr lang="en-US" dirty="0" smtClean="0"/>
              <a:t>“</a:t>
            </a:r>
            <a:r>
              <a:rPr lang="en-US" b="1" dirty="0" err="1" smtClean="0">
                <a:solidFill>
                  <a:schemeClr val="accent5"/>
                </a:solidFill>
              </a:rPr>
              <a:t>Mv</a:t>
            </a:r>
            <a:r>
              <a:rPr lang="en-US" dirty="0" smtClean="0"/>
              <a:t>” where M is mass and </a:t>
            </a:r>
            <a:r>
              <a:rPr lang="en-US" dirty="0"/>
              <a:t>v is velocity; </a:t>
            </a:r>
            <a:r>
              <a:rPr lang="en-US" dirty="0" smtClean="0"/>
              <a:t> dimensions </a:t>
            </a:r>
            <a:r>
              <a:rPr lang="en-US" b="1" dirty="0" smtClean="0"/>
              <a:t>MLT</a:t>
            </a:r>
            <a:r>
              <a:rPr lang="en-IN" b="1" baseline="30000" dirty="0" smtClean="0"/>
              <a:t> </a:t>
            </a:r>
            <a:r>
              <a:rPr lang="en-IN" b="1" baseline="30000" dirty="0"/>
              <a:t>-1</a:t>
            </a:r>
            <a:r>
              <a:rPr lang="en-US" dirty="0" smtClean="0"/>
              <a:t>. </a:t>
            </a:r>
          </a:p>
          <a:p>
            <a:pPr marL="0" indent="0">
              <a:buNone/>
            </a:pPr>
            <a:r>
              <a:rPr lang="en-US" b="1" i="1" dirty="0" smtClean="0">
                <a:solidFill>
                  <a:schemeClr val="accent1">
                    <a:lumMod val="75000"/>
                  </a:schemeClr>
                </a:solidFill>
              </a:rPr>
              <a:t>Flux means rate per unit area</a:t>
            </a:r>
            <a:r>
              <a:rPr lang="en-US" i="1" dirty="0" smtClean="0"/>
              <a:t>; </a:t>
            </a:r>
            <a:r>
              <a:rPr lang="en-US" dirty="0" smtClean="0"/>
              <a:t>therefore </a:t>
            </a:r>
            <a:r>
              <a:rPr lang="en-US" b="1" dirty="0" smtClean="0">
                <a:solidFill>
                  <a:schemeClr val="accent5"/>
                </a:solidFill>
              </a:rPr>
              <a:t>momentum flux </a:t>
            </a:r>
            <a:r>
              <a:rPr lang="en-US" dirty="0" smtClean="0"/>
              <a:t>has dimensions </a:t>
            </a:r>
            <a:r>
              <a:rPr lang="en-US" b="1" dirty="0" smtClean="0"/>
              <a:t>ML</a:t>
            </a:r>
            <a:r>
              <a:rPr lang="en-IN" b="1" baseline="30000" dirty="0" smtClean="0"/>
              <a:t> </a:t>
            </a:r>
            <a:r>
              <a:rPr lang="en-IN" b="1" baseline="30000" dirty="0"/>
              <a:t>-</a:t>
            </a:r>
            <a:r>
              <a:rPr lang="en-IN" b="1" baseline="30000" dirty="0" smtClean="0"/>
              <a:t>1</a:t>
            </a:r>
            <a:r>
              <a:rPr lang="en-US" b="1" dirty="0" smtClean="0"/>
              <a:t>T</a:t>
            </a:r>
            <a:r>
              <a:rPr lang="en-IN" b="1" baseline="30000" dirty="0" smtClean="0"/>
              <a:t> -2</a:t>
            </a:r>
            <a:r>
              <a:rPr lang="en-US" dirty="0" smtClean="0">
                <a:solidFill>
                  <a:schemeClr val="accent5"/>
                </a:solidFill>
              </a:rPr>
              <a:t> = dimensions of</a:t>
            </a:r>
            <a:r>
              <a:rPr lang="en-US" dirty="0">
                <a:solidFill>
                  <a:schemeClr val="accent5"/>
                </a:solidFill>
              </a:rPr>
              <a:t> </a:t>
            </a:r>
            <a:r>
              <a:rPr lang="en-US" dirty="0" smtClean="0">
                <a:solidFill>
                  <a:schemeClr val="accent5"/>
                </a:solidFill>
              </a:rPr>
              <a:t>Ƭ</a:t>
            </a:r>
            <a:r>
              <a:rPr lang="en-US" dirty="0" smtClean="0"/>
              <a:t>. </a:t>
            </a:r>
          </a:p>
          <a:p>
            <a:pPr marL="0" indent="0">
              <a:buNone/>
            </a:pPr>
            <a:r>
              <a:rPr lang="en-US" dirty="0" smtClean="0"/>
              <a:t>So with representing momentum flux, according to </a:t>
            </a:r>
            <a:r>
              <a:rPr lang="en-US" dirty="0" err="1" smtClean="0"/>
              <a:t>Eq</a:t>
            </a:r>
            <a:r>
              <a:rPr lang="en-US" dirty="0" smtClean="0"/>
              <a:t>        </a:t>
            </a:r>
          </a:p>
          <a:p>
            <a:pPr marL="0" indent="0">
              <a:buNone/>
            </a:pPr>
            <a:r>
              <a:rPr lang="en-US" b="1" dirty="0" smtClean="0">
                <a:solidFill>
                  <a:schemeClr val="accent5"/>
                </a:solidFill>
              </a:rPr>
              <a:t>flux of momentum is directly proportional to the velocity gradient </a:t>
            </a:r>
            <a:r>
              <a:rPr lang="en-US" b="1" i="1" dirty="0" err="1" smtClean="0">
                <a:solidFill>
                  <a:schemeClr val="accent5"/>
                </a:solidFill>
              </a:rPr>
              <a:t>dV</a:t>
            </a:r>
            <a:r>
              <a:rPr lang="en-US" b="1" i="1" dirty="0" smtClean="0">
                <a:solidFill>
                  <a:schemeClr val="accent5"/>
                </a:solidFill>
              </a:rPr>
              <a:t>/dy. </a:t>
            </a:r>
          </a:p>
          <a:p>
            <a:pPr marL="0" indent="0">
              <a:buNone/>
            </a:pPr>
            <a:r>
              <a:rPr lang="en-US" dirty="0" smtClean="0"/>
              <a:t>The negative sign in </a:t>
            </a:r>
            <a:r>
              <a:rPr lang="en-US" dirty="0" err="1" smtClean="0"/>
              <a:t>Eq</a:t>
            </a:r>
            <a:r>
              <a:rPr lang="en-US" dirty="0" smtClean="0"/>
              <a:t> means that momentum is transferred from regions of high velocity to regions of low velocity, i.e. in a direction opposite to the direction of increasing velocity. </a:t>
            </a:r>
          </a:p>
          <a:p>
            <a:pPr marL="0" indent="0">
              <a:buNone/>
            </a:pPr>
            <a:r>
              <a:rPr lang="en-US" dirty="0" smtClean="0"/>
              <a:t>The magnitude of the velocity gradient </a:t>
            </a:r>
            <a:r>
              <a:rPr lang="en-US" i="1" dirty="0" err="1" smtClean="0"/>
              <a:t>dVldy</a:t>
            </a:r>
            <a:r>
              <a:rPr lang="en-US" i="1" dirty="0" smtClean="0"/>
              <a:t> </a:t>
            </a:r>
            <a:r>
              <a:rPr lang="en-US" dirty="0" smtClean="0"/>
              <a:t>determines the magnitude of the momentum flux;     </a:t>
            </a:r>
            <a:r>
              <a:rPr lang="en-US" dirty="0" err="1" smtClean="0">
                <a:solidFill>
                  <a:srgbClr val="FF0000"/>
                </a:solidFill>
              </a:rPr>
              <a:t>dV</a:t>
            </a:r>
            <a:r>
              <a:rPr lang="en-US" dirty="0" smtClean="0">
                <a:solidFill>
                  <a:srgbClr val="FF0000"/>
                </a:solidFill>
              </a:rPr>
              <a:t>/</a:t>
            </a:r>
            <a:r>
              <a:rPr lang="en-US" dirty="0" err="1" smtClean="0">
                <a:solidFill>
                  <a:srgbClr val="FF0000"/>
                </a:solidFill>
              </a:rPr>
              <a:t>dy</a:t>
            </a:r>
            <a:r>
              <a:rPr lang="en-US" dirty="0" smtClean="0">
                <a:solidFill>
                  <a:srgbClr val="FF0000"/>
                </a:solidFill>
              </a:rPr>
              <a:t> thus acts as the 'driving force' for momentum transfer.</a:t>
            </a:r>
            <a:endParaRPr lang="en-IN" dirty="0">
              <a:solidFill>
                <a:srgbClr val="FF0000"/>
              </a:solidFill>
            </a:endParaRPr>
          </a:p>
        </p:txBody>
      </p:sp>
      <p:pic>
        <p:nvPicPr>
          <p:cNvPr id="5" name="Picture 4"/>
          <p:cNvPicPr>
            <a:picLocks noChangeAspect="1"/>
          </p:cNvPicPr>
          <p:nvPr/>
        </p:nvPicPr>
        <p:blipFill>
          <a:blip r:embed="rId3"/>
          <a:stretch>
            <a:fillRect/>
          </a:stretch>
        </p:blipFill>
        <p:spPr>
          <a:xfrm>
            <a:off x="8885472" y="4752777"/>
            <a:ext cx="1534263" cy="791879"/>
          </a:xfrm>
          <a:prstGeom prst="rect">
            <a:avLst/>
          </a:prstGeom>
          <a:ln>
            <a:solidFill>
              <a:srgbClr val="002060"/>
            </a:solidFill>
          </a:ln>
        </p:spPr>
      </p:pic>
    </p:spTree>
    <p:extLst>
      <p:ext uri="{BB962C8B-B14F-4D97-AF65-F5344CB8AC3E}">
        <p14:creationId xmlns:p14="http://schemas.microsoft.com/office/powerpoint/2010/main" val="17296771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4174" y="-372295"/>
            <a:ext cx="10515600" cy="1325563"/>
          </a:xfrm>
        </p:spPr>
        <p:txBody>
          <a:bodyPr/>
          <a:lstStyle/>
          <a:p>
            <a:r>
              <a:rPr lang="en-US" dirty="0" smtClean="0"/>
              <a:t>Non Newtonian fluids</a:t>
            </a:r>
            <a:endParaRPr lang="en-IN" dirty="0"/>
          </a:p>
        </p:txBody>
      </p:sp>
      <p:sp>
        <p:nvSpPr>
          <p:cNvPr id="3" name="Content Placeholder 2"/>
          <p:cNvSpPr>
            <a:spLocks noGrp="1"/>
          </p:cNvSpPr>
          <p:nvPr>
            <p:ph idx="1"/>
          </p:nvPr>
        </p:nvSpPr>
        <p:spPr>
          <a:xfrm>
            <a:off x="462117" y="635921"/>
            <a:ext cx="11552902" cy="6099175"/>
          </a:xfrm>
        </p:spPr>
        <p:txBody>
          <a:bodyPr>
            <a:normAutofit/>
          </a:bodyPr>
          <a:lstStyle/>
          <a:p>
            <a:r>
              <a:rPr lang="en-US" dirty="0"/>
              <a:t>Most slurries, suspensions and dispersions are </a:t>
            </a:r>
            <a:r>
              <a:rPr lang="en-US" dirty="0" smtClean="0"/>
              <a:t>non-Newtonian</a:t>
            </a:r>
            <a:r>
              <a:rPr lang="en-US" dirty="0"/>
              <a:t>, as are homogeneous solutions of </a:t>
            </a:r>
            <a:r>
              <a:rPr lang="en-US" dirty="0" smtClean="0"/>
              <a:t>long-chain polymers </a:t>
            </a:r>
            <a:r>
              <a:rPr lang="en-US" dirty="0"/>
              <a:t>and other large molecules. </a:t>
            </a:r>
            <a:endParaRPr lang="en-US" dirty="0" smtClean="0"/>
          </a:p>
          <a:p>
            <a:r>
              <a:rPr lang="en-US" dirty="0" smtClean="0"/>
              <a:t>Many </a:t>
            </a:r>
            <a:r>
              <a:rPr lang="en-US" dirty="0"/>
              <a:t>fermentation</a:t>
            </a:r>
            <a:r>
              <a:rPr lang="en-US" dirty="0" smtClean="0"/>
              <a:t> </a:t>
            </a:r>
            <a:r>
              <a:rPr lang="en-US" dirty="0"/>
              <a:t>processes involve materials which exhibit </a:t>
            </a:r>
            <a:r>
              <a:rPr lang="en-US" dirty="0" smtClean="0"/>
              <a:t>non-Newtonian </a:t>
            </a:r>
            <a:r>
              <a:rPr lang="en-US" dirty="0" err="1" smtClean="0"/>
              <a:t>behaviour</a:t>
            </a:r>
            <a:r>
              <a:rPr lang="en-US" dirty="0"/>
              <a:t>, such as </a:t>
            </a:r>
            <a:r>
              <a:rPr lang="en-US" dirty="0">
                <a:solidFill>
                  <a:schemeClr val="accent1">
                    <a:lumMod val="75000"/>
                  </a:schemeClr>
                </a:solidFill>
              </a:rPr>
              <a:t>starches, extracellular polysaccharides, </a:t>
            </a:r>
            <a:r>
              <a:rPr lang="en-US" dirty="0" smtClean="0">
                <a:solidFill>
                  <a:schemeClr val="accent1">
                    <a:lumMod val="75000"/>
                  </a:schemeClr>
                </a:solidFill>
              </a:rPr>
              <a:t>and </a:t>
            </a:r>
            <a:r>
              <a:rPr lang="en-IN" dirty="0" smtClean="0">
                <a:solidFill>
                  <a:schemeClr val="accent1">
                    <a:lumMod val="75000"/>
                  </a:schemeClr>
                </a:solidFill>
              </a:rPr>
              <a:t>culture </a:t>
            </a:r>
            <a:r>
              <a:rPr lang="en-IN" dirty="0">
                <a:solidFill>
                  <a:schemeClr val="accent1">
                    <a:lumMod val="75000"/>
                  </a:schemeClr>
                </a:solidFill>
              </a:rPr>
              <a:t>broths containing cell suspensions or pellets.</a:t>
            </a:r>
            <a:r>
              <a:rPr lang="en-IN" dirty="0"/>
              <a:t> </a:t>
            </a:r>
            <a:endParaRPr lang="en-IN" dirty="0" smtClean="0"/>
          </a:p>
          <a:p>
            <a:r>
              <a:rPr lang="en-US" dirty="0" smtClean="0">
                <a:solidFill>
                  <a:schemeClr val="accent1">
                    <a:lumMod val="75000"/>
                  </a:schemeClr>
                </a:solidFill>
              </a:rPr>
              <a:t>Classification</a:t>
            </a:r>
            <a:r>
              <a:rPr lang="en-US" dirty="0" smtClean="0"/>
              <a:t> </a:t>
            </a:r>
            <a:r>
              <a:rPr lang="en-US" dirty="0"/>
              <a:t>of non-Newtonian fluids </a:t>
            </a:r>
            <a:r>
              <a:rPr lang="en-US" dirty="0">
                <a:solidFill>
                  <a:schemeClr val="accent1">
                    <a:lumMod val="75000"/>
                  </a:schemeClr>
                </a:solidFill>
              </a:rPr>
              <a:t>depends on </a:t>
            </a:r>
            <a:r>
              <a:rPr lang="en-US" dirty="0" smtClean="0">
                <a:solidFill>
                  <a:schemeClr val="accent1">
                    <a:lumMod val="75000"/>
                  </a:schemeClr>
                </a:solidFill>
              </a:rPr>
              <a:t>the relationship </a:t>
            </a:r>
            <a:r>
              <a:rPr lang="en-US" dirty="0">
                <a:solidFill>
                  <a:schemeClr val="accent1">
                    <a:lumMod val="75000"/>
                  </a:schemeClr>
                </a:solidFill>
              </a:rPr>
              <a:t>between the shear stress imposed on the fluid </a:t>
            </a:r>
            <a:r>
              <a:rPr lang="en-US" dirty="0" smtClean="0">
                <a:solidFill>
                  <a:schemeClr val="accent1">
                    <a:lumMod val="75000"/>
                  </a:schemeClr>
                </a:solidFill>
              </a:rPr>
              <a:t>and the </a:t>
            </a:r>
            <a:r>
              <a:rPr lang="en-US" dirty="0">
                <a:solidFill>
                  <a:schemeClr val="accent1">
                    <a:lumMod val="75000"/>
                  </a:schemeClr>
                </a:solidFill>
              </a:rPr>
              <a:t>shear rate developed. </a:t>
            </a:r>
            <a:endParaRPr lang="en-US" dirty="0" smtClean="0">
              <a:solidFill>
                <a:schemeClr val="accent1">
                  <a:lumMod val="75000"/>
                </a:schemeClr>
              </a:solidFill>
            </a:endParaRPr>
          </a:p>
          <a:p>
            <a:r>
              <a:rPr lang="en-US" dirty="0" smtClean="0"/>
              <a:t>Common </a:t>
            </a:r>
            <a:r>
              <a:rPr lang="en-US" dirty="0"/>
              <a:t>types of </a:t>
            </a:r>
            <a:r>
              <a:rPr lang="en-US" dirty="0" smtClean="0"/>
              <a:t>non-Newtonian fluid </a:t>
            </a:r>
            <a:r>
              <a:rPr lang="en-US" dirty="0"/>
              <a:t>include </a:t>
            </a:r>
            <a:r>
              <a:rPr lang="en-US" i="1" dirty="0" smtClean="0">
                <a:solidFill>
                  <a:schemeClr val="accent1">
                    <a:lumMod val="75000"/>
                  </a:schemeClr>
                </a:solidFill>
              </a:rPr>
              <a:t>pseudo plastic, </a:t>
            </a:r>
            <a:r>
              <a:rPr lang="en-US" i="1" dirty="0">
                <a:solidFill>
                  <a:schemeClr val="accent1">
                    <a:lumMod val="75000"/>
                  </a:schemeClr>
                </a:solidFill>
              </a:rPr>
              <a:t>dilatant, Bingham plastic </a:t>
            </a:r>
            <a:r>
              <a:rPr lang="en-US" dirty="0" smtClean="0">
                <a:solidFill>
                  <a:schemeClr val="accent1">
                    <a:lumMod val="75000"/>
                  </a:schemeClr>
                </a:solidFill>
              </a:rPr>
              <a:t>and </a:t>
            </a:r>
            <a:r>
              <a:rPr lang="en-US" i="1" dirty="0" err="1" smtClean="0">
                <a:solidFill>
                  <a:schemeClr val="accent1">
                    <a:lumMod val="75000"/>
                  </a:schemeClr>
                </a:solidFill>
              </a:rPr>
              <a:t>Casson</a:t>
            </a:r>
            <a:r>
              <a:rPr lang="en-US" i="1" dirty="0" smtClean="0">
                <a:solidFill>
                  <a:schemeClr val="accent1">
                    <a:lumMod val="75000"/>
                  </a:schemeClr>
                </a:solidFill>
              </a:rPr>
              <a:t> plastic.</a:t>
            </a:r>
          </a:p>
          <a:p>
            <a:r>
              <a:rPr lang="en-US" dirty="0" smtClean="0"/>
              <a:t> </a:t>
            </a:r>
            <a:r>
              <a:rPr lang="en-US" dirty="0"/>
              <a:t>In each case, the ratio between shear stress </a:t>
            </a:r>
            <a:r>
              <a:rPr lang="en-US" dirty="0" smtClean="0"/>
              <a:t>and shear </a:t>
            </a:r>
            <a:r>
              <a:rPr lang="en-US" dirty="0"/>
              <a:t>rate is not constant; nevertheless, this ratio for </a:t>
            </a:r>
            <a:r>
              <a:rPr lang="en-US" dirty="0" smtClean="0"/>
              <a:t>non-Newtonian </a:t>
            </a:r>
            <a:r>
              <a:rPr lang="en-US" dirty="0"/>
              <a:t>fluids is often called the </a:t>
            </a:r>
            <a:r>
              <a:rPr lang="en-US" b="1" i="1" dirty="0">
                <a:solidFill>
                  <a:schemeClr val="accent1">
                    <a:lumMod val="75000"/>
                  </a:schemeClr>
                </a:solidFill>
              </a:rPr>
              <a:t>apparent viscosity</a:t>
            </a:r>
            <a:r>
              <a:rPr lang="en-US" i="1" dirty="0"/>
              <a:t>, </a:t>
            </a:r>
            <a:r>
              <a:rPr lang="en-US" b="1" i="1" dirty="0"/>
              <a:t> </a:t>
            </a:r>
            <a:r>
              <a:rPr lang="el-GR" b="1" i="1" dirty="0" smtClean="0"/>
              <a:t>μ</a:t>
            </a:r>
            <a:r>
              <a:rPr lang="en-US" b="1" i="1" baseline="-25000" dirty="0" smtClean="0"/>
              <a:t>a . </a:t>
            </a:r>
            <a:endParaRPr lang="en-US" b="1" i="1" dirty="0"/>
          </a:p>
          <a:p>
            <a:r>
              <a:rPr lang="en-US" dirty="0"/>
              <a:t>Apparent viscosity is not a physical property of the fluid in </a:t>
            </a:r>
            <a:r>
              <a:rPr lang="en-US" dirty="0" smtClean="0"/>
              <a:t>the same </a:t>
            </a:r>
            <a:r>
              <a:rPr lang="en-US" dirty="0"/>
              <a:t>way as Newtonian viscosity; it is dependent on the </a:t>
            </a:r>
            <a:r>
              <a:rPr lang="en-US" dirty="0" smtClean="0"/>
              <a:t>shear force </a:t>
            </a:r>
            <a:r>
              <a:rPr lang="en-US" dirty="0"/>
              <a:t>exerted on the fluid. </a:t>
            </a:r>
            <a:endParaRPr lang="en-US" dirty="0" smtClean="0"/>
          </a:p>
          <a:p>
            <a:r>
              <a:rPr lang="en-US" dirty="0" smtClean="0"/>
              <a:t>It </a:t>
            </a:r>
            <a:r>
              <a:rPr lang="en-US" dirty="0"/>
              <a:t>is therefore meaningless to </a:t>
            </a:r>
            <a:r>
              <a:rPr lang="en-US" dirty="0" smtClean="0"/>
              <a:t>specify the </a:t>
            </a:r>
            <a:r>
              <a:rPr lang="en-US" dirty="0"/>
              <a:t>apparent viscosity of a non-Newtonian fluid </a:t>
            </a:r>
            <a:r>
              <a:rPr lang="en-US" dirty="0" smtClean="0"/>
              <a:t>without noting </a:t>
            </a:r>
            <a:r>
              <a:rPr lang="en-US" dirty="0"/>
              <a:t>the shear stress or shear rate at which it was measured.</a:t>
            </a:r>
            <a:endParaRPr lang="en-IN" dirty="0"/>
          </a:p>
        </p:txBody>
      </p:sp>
    </p:spTree>
    <p:extLst>
      <p:ext uri="{BB962C8B-B14F-4D97-AF65-F5344CB8AC3E}">
        <p14:creationId xmlns:p14="http://schemas.microsoft.com/office/powerpoint/2010/main" val="11100353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941161"/>
          </a:xfrm>
        </p:spPr>
        <p:txBody>
          <a:bodyPr/>
          <a:lstStyle/>
          <a:p>
            <a:r>
              <a:rPr lang="en-IN" dirty="0"/>
              <a:t>Two-Parameter Models</a:t>
            </a:r>
          </a:p>
        </p:txBody>
      </p:sp>
      <p:sp>
        <p:nvSpPr>
          <p:cNvPr id="3" name="Content Placeholder 2"/>
          <p:cNvSpPr>
            <a:spLocks noGrp="1"/>
          </p:cNvSpPr>
          <p:nvPr>
            <p:ph idx="1"/>
          </p:nvPr>
        </p:nvSpPr>
        <p:spPr>
          <a:xfrm>
            <a:off x="245806" y="865240"/>
            <a:ext cx="12024852" cy="5992760"/>
          </a:xfrm>
        </p:spPr>
        <p:txBody>
          <a:bodyPr/>
          <a:lstStyle/>
          <a:p>
            <a:r>
              <a:rPr lang="en-US" dirty="0" smtClean="0"/>
              <a:t> </a:t>
            </a:r>
            <a:r>
              <a:rPr lang="en-US" b="1" dirty="0">
                <a:solidFill>
                  <a:schemeClr val="accent1">
                    <a:lumMod val="75000"/>
                  </a:schemeClr>
                </a:solidFill>
              </a:rPr>
              <a:t>Pseudoplastic and dilatant fluids </a:t>
            </a:r>
            <a:r>
              <a:rPr lang="en-US" dirty="0"/>
              <a:t>obey the </a:t>
            </a:r>
            <a:r>
              <a:rPr lang="en-US" i="1" dirty="0" smtClean="0"/>
              <a:t>Ostwald-de </a:t>
            </a:r>
            <a:r>
              <a:rPr lang="en-US" i="1" dirty="0" err="1" smtClean="0"/>
              <a:t>Waele</a:t>
            </a:r>
            <a:r>
              <a:rPr lang="en-US" i="1" dirty="0"/>
              <a:t> </a:t>
            </a:r>
            <a:r>
              <a:rPr lang="en-IN" dirty="0" smtClean="0"/>
              <a:t>or </a:t>
            </a:r>
            <a:r>
              <a:rPr lang="en-IN" b="1" i="1" dirty="0">
                <a:solidFill>
                  <a:schemeClr val="accent1">
                    <a:lumMod val="75000"/>
                  </a:schemeClr>
                </a:solidFill>
              </a:rPr>
              <a:t>power law</a:t>
            </a:r>
            <a:r>
              <a:rPr lang="en-IN" b="1" i="1" dirty="0" smtClean="0">
                <a:solidFill>
                  <a:schemeClr val="accent1">
                    <a:lumMod val="75000"/>
                  </a:schemeClr>
                </a:solidFill>
              </a:rPr>
              <a:t>: </a:t>
            </a:r>
            <a:endParaRPr lang="en-IN" b="1" i="1" dirty="0">
              <a:solidFill>
                <a:schemeClr val="accent1">
                  <a:lumMod val="75000"/>
                </a:schemeClr>
              </a:solidFill>
            </a:endParaRPr>
          </a:p>
          <a:p>
            <a:pPr marL="0" indent="0">
              <a:buNone/>
            </a:pPr>
            <a:r>
              <a:rPr lang="en-US" dirty="0" smtClean="0"/>
              <a:t>    where  “</a:t>
            </a:r>
            <a:r>
              <a:rPr lang="en-US" i="1" dirty="0" smtClean="0"/>
              <a:t>Ƭ”</a:t>
            </a:r>
            <a:r>
              <a:rPr lang="en-US" dirty="0" smtClean="0"/>
              <a:t> </a:t>
            </a:r>
            <a:r>
              <a:rPr lang="en-US" dirty="0"/>
              <a:t>is shear stress, </a:t>
            </a:r>
            <a:r>
              <a:rPr lang="en-US" dirty="0" smtClean="0"/>
              <a:t>“K” is </a:t>
            </a:r>
            <a:r>
              <a:rPr lang="en-US" dirty="0"/>
              <a:t>the </a:t>
            </a:r>
            <a:r>
              <a:rPr lang="en-US" i="1" dirty="0"/>
              <a:t>consistency index, </a:t>
            </a:r>
            <a:r>
              <a:rPr lang="en-US" i="1" dirty="0" smtClean="0"/>
              <a:t>    is </a:t>
            </a:r>
            <a:r>
              <a:rPr lang="en-US" dirty="0"/>
              <a:t>shear rate</a:t>
            </a:r>
            <a:r>
              <a:rPr lang="en-US" dirty="0" smtClean="0"/>
              <a:t>, n flow behavior index.</a:t>
            </a:r>
          </a:p>
          <a:p>
            <a:r>
              <a:rPr lang="en-US" dirty="0"/>
              <a:t> The parameters </a:t>
            </a:r>
            <a:r>
              <a:rPr lang="en-US" dirty="0" smtClean="0"/>
              <a:t>K and </a:t>
            </a:r>
            <a:r>
              <a:rPr lang="en-US" dirty="0"/>
              <a:t>n </a:t>
            </a:r>
            <a:r>
              <a:rPr lang="en-US" dirty="0" smtClean="0"/>
              <a:t>characterize the </a:t>
            </a:r>
            <a:r>
              <a:rPr lang="en-US" dirty="0"/>
              <a:t>rheology of power-law fluids. The flow </a:t>
            </a:r>
            <a:r>
              <a:rPr lang="en-US" dirty="0" err="1"/>
              <a:t>behaviour</a:t>
            </a:r>
            <a:endParaRPr lang="en-US" dirty="0"/>
          </a:p>
          <a:p>
            <a:pPr marL="0" indent="0">
              <a:buNone/>
            </a:pPr>
            <a:r>
              <a:rPr lang="en-US" dirty="0" smtClean="0"/>
              <a:t>index n is dimensionless; the dimensions of K, L</a:t>
            </a:r>
            <a:r>
              <a:rPr lang="en-US" b="1" baseline="30000" dirty="0" smtClean="0"/>
              <a:t>-I</a:t>
            </a:r>
            <a:r>
              <a:rPr lang="en-US" dirty="0" smtClean="0"/>
              <a:t>MT </a:t>
            </a:r>
            <a:r>
              <a:rPr lang="en-US" baseline="30000" dirty="0" smtClean="0"/>
              <a:t>n</a:t>
            </a:r>
            <a:r>
              <a:rPr lang="en-US" b="1" baseline="30000" dirty="0" smtClean="0"/>
              <a:t>-2</a:t>
            </a:r>
            <a:r>
              <a:rPr lang="en-US" dirty="0" smtClean="0"/>
              <a:t>, depend on n.</a:t>
            </a:r>
          </a:p>
          <a:p>
            <a:pPr marL="0" indent="0">
              <a:buNone/>
            </a:pPr>
            <a:r>
              <a:rPr lang="en-US" dirty="0" smtClean="0"/>
              <a:t>when </a:t>
            </a:r>
            <a:r>
              <a:rPr lang="en-US" b="1" dirty="0">
                <a:solidFill>
                  <a:schemeClr val="accent1">
                    <a:lumMod val="75000"/>
                  </a:schemeClr>
                </a:solidFill>
              </a:rPr>
              <a:t>n &lt; 1 </a:t>
            </a:r>
            <a:r>
              <a:rPr lang="en-US" dirty="0"/>
              <a:t>the </a:t>
            </a:r>
            <a:r>
              <a:rPr lang="en-US" dirty="0" smtClean="0"/>
              <a:t>fluid exhibits </a:t>
            </a:r>
            <a:r>
              <a:rPr lang="en-US" dirty="0" err="1"/>
              <a:t>pseudoplastic</a:t>
            </a:r>
            <a:r>
              <a:rPr lang="en-US" dirty="0"/>
              <a:t> </a:t>
            </a:r>
            <a:r>
              <a:rPr lang="en-US" dirty="0" err="1"/>
              <a:t>behaviour</a:t>
            </a:r>
            <a:r>
              <a:rPr lang="en-US" dirty="0"/>
              <a:t>; </a:t>
            </a:r>
            <a:endParaRPr lang="en-US" dirty="0" smtClean="0"/>
          </a:p>
          <a:p>
            <a:pPr marL="0" indent="0">
              <a:buNone/>
            </a:pPr>
            <a:r>
              <a:rPr lang="en-US" dirty="0" smtClean="0"/>
              <a:t>when </a:t>
            </a:r>
            <a:r>
              <a:rPr lang="en-US" b="1" dirty="0">
                <a:solidFill>
                  <a:schemeClr val="accent1">
                    <a:lumMod val="75000"/>
                  </a:schemeClr>
                </a:solidFill>
              </a:rPr>
              <a:t>n &gt; 1 </a:t>
            </a:r>
            <a:r>
              <a:rPr lang="en-US" dirty="0"/>
              <a:t>the fluid is </a:t>
            </a:r>
            <a:r>
              <a:rPr lang="en-US" dirty="0" smtClean="0"/>
              <a:t>dilatant. </a:t>
            </a:r>
          </a:p>
          <a:p>
            <a:pPr marL="0" indent="0">
              <a:buNone/>
            </a:pPr>
            <a:r>
              <a:rPr lang="en-US" dirty="0" smtClean="0"/>
              <a:t>           </a:t>
            </a:r>
            <a:r>
              <a:rPr lang="en-US" b="1" dirty="0" smtClean="0">
                <a:solidFill>
                  <a:schemeClr val="accent1">
                    <a:lumMod val="75000"/>
                  </a:schemeClr>
                </a:solidFill>
              </a:rPr>
              <a:t>n </a:t>
            </a:r>
            <a:r>
              <a:rPr lang="en-US" b="1" dirty="0">
                <a:solidFill>
                  <a:schemeClr val="accent1">
                    <a:lumMod val="75000"/>
                  </a:schemeClr>
                </a:solidFill>
              </a:rPr>
              <a:t>= 1 </a:t>
            </a:r>
            <a:r>
              <a:rPr lang="en-US" dirty="0"/>
              <a:t>corresponds to Newtonian </a:t>
            </a:r>
            <a:r>
              <a:rPr lang="en-US" dirty="0" err="1"/>
              <a:t>behaviour</a:t>
            </a:r>
            <a:r>
              <a:rPr lang="en-US" dirty="0"/>
              <a:t>. </a:t>
            </a:r>
            <a:endParaRPr lang="en-US" dirty="0" smtClean="0"/>
          </a:p>
          <a:p>
            <a:pPr marL="0" indent="0">
              <a:buNone/>
            </a:pPr>
            <a:r>
              <a:rPr lang="en-US" dirty="0" smtClean="0"/>
              <a:t>For</a:t>
            </a:r>
            <a:r>
              <a:rPr lang="en-US" dirty="0"/>
              <a:t> </a:t>
            </a:r>
            <a:r>
              <a:rPr lang="en-US" dirty="0" smtClean="0"/>
              <a:t>power-law </a:t>
            </a:r>
            <a:r>
              <a:rPr lang="en-US" dirty="0"/>
              <a:t>fluids, apparent viscosity </a:t>
            </a:r>
            <a:r>
              <a:rPr lang="en-US" b="1" dirty="0" smtClean="0">
                <a:solidFill>
                  <a:schemeClr val="accent1">
                    <a:lumMod val="75000"/>
                  </a:schemeClr>
                </a:solidFill>
              </a:rPr>
              <a:t>µ</a:t>
            </a:r>
            <a:r>
              <a:rPr lang="en-US" b="1" baseline="-25000" dirty="0" smtClean="0">
                <a:solidFill>
                  <a:schemeClr val="accent1">
                    <a:lumMod val="75000"/>
                  </a:schemeClr>
                </a:solidFill>
              </a:rPr>
              <a:t>a </a:t>
            </a:r>
            <a:r>
              <a:rPr lang="en-US" dirty="0" smtClean="0"/>
              <a:t> </a:t>
            </a:r>
            <a:r>
              <a:rPr lang="en-US" dirty="0"/>
              <a:t>is expressed </a:t>
            </a:r>
            <a:r>
              <a:rPr lang="en-US" dirty="0" smtClean="0"/>
              <a:t>as  </a:t>
            </a:r>
          </a:p>
          <a:p>
            <a:r>
              <a:rPr lang="en-US" dirty="0"/>
              <a:t> </a:t>
            </a:r>
            <a:r>
              <a:rPr lang="en-US" dirty="0" smtClean="0"/>
              <a:t>  </a:t>
            </a:r>
            <a:r>
              <a:rPr lang="en-US" b="1" dirty="0">
                <a:solidFill>
                  <a:schemeClr val="accent1">
                    <a:lumMod val="75000"/>
                  </a:schemeClr>
                </a:solidFill>
              </a:rPr>
              <a:t>For P</a:t>
            </a:r>
            <a:r>
              <a:rPr lang="en-US" b="1" dirty="0" smtClean="0">
                <a:solidFill>
                  <a:schemeClr val="accent1">
                    <a:lumMod val="75000"/>
                  </a:schemeClr>
                </a:solidFill>
              </a:rPr>
              <a:t>seudoplastic </a:t>
            </a:r>
            <a:r>
              <a:rPr lang="en-US" b="1" dirty="0">
                <a:solidFill>
                  <a:schemeClr val="accent1">
                    <a:lumMod val="75000"/>
                  </a:schemeClr>
                </a:solidFill>
              </a:rPr>
              <a:t>fluids </a:t>
            </a:r>
            <a:endParaRPr lang="en-US" b="1" dirty="0" smtClean="0">
              <a:solidFill>
                <a:schemeClr val="accent1">
                  <a:lumMod val="75000"/>
                </a:schemeClr>
              </a:solidFill>
            </a:endParaRPr>
          </a:p>
          <a:p>
            <a:r>
              <a:rPr lang="en-US" dirty="0" smtClean="0"/>
              <a:t>n </a:t>
            </a:r>
            <a:r>
              <a:rPr lang="en-US" dirty="0"/>
              <a:t>&lt; 1 and the apparent </a:t>
            </a:r>
            <a:r>
              <a:rPr lang="en-US" dirty="0" smtClean="0"/>
              <a:t>viscosity decreases </a:t>
            </a:r>
            <a:r>
              <a:rPr lang="en-US" dirty="0"/>
              <a:t>with increasing shear rate; these fluids are said to</a:t>
            </a:r>
          </a:p>
          <a:p>
            <a:pPr marL="0" indent="0">
              <a:buNone/>
            </a:pPr>
            <a:r>
              <a:rPr lang="en-US" dirty="0"/>
              <a:t>exhibit </a:t>
            </a:r>
            <a:r>
              <a:rPr lang="en-US" i="1" dirty="0"/>
              <a:t>shear thinning</a:t>
            </a:r>
            <a:r>
              <a:rPr lang="en-US" i="1" dirty="0" smtClean="0"/>
              <a:t>.</a:t>
            </a:r>
          </a:p>
          <a:p>
            <a:r>
              <a:rPr lang="en-US" i="1" dirty="0" smtClean="0"/>
              <a:t> </a:t>
            </a:r>
            <a:r>
              <a:rPr lang="en-US" dirty="0"/>
              <a:t>On the other hand, apparent </a:t>
            </a:r>
            <a:r>
              <a:rPr lang="en-US" dirty="0" smtClean="0"/>
              <a:t>viscosity increases </a:t>
            </a:r>
            <a:r>
              <a:rPr lang="en-US" dirty="0"/>
              <a:t>with shear rate for dilatant or </a:t>
            </a:r>
            <a:r>
              <a:rPr lang="en-US" i="1" dirty="0"/>
              <a:t>shear </a:t>
            </a:r>
            <a:r>
              <a:rPr lang="en-US" i="1" dirty="0" smtClean="0"/>
              <a:t>thickening fluids</a:t>
            </a:r>
            <a:r>
              <a:rPr lang="en-US" i="1" dirty="0"/>
              <a:t>.</a:t>
            </a:r>
            <a:endParaRPr lang="en-IN" dirty="0"/>
          </a:p>
        </p:txBody>
      </p:sp>
      <p:pic>
        <p:nvPicPr>
          <p:cNvPr id="4" name="Picture 3"/>
          <p:cNvPicPr>
            <a:picLocks noChangeAspect="1"/>
          </p:cNvPicPr>
          <p:nvPr/>
        </p:nvPicPr>
        <p:blipFill>
          <a:blip r:embed="rId2"/>
          <a:stretch>
            <a:fillRect/>
          </a:stretch>
        </p:blipFill>
        <p:spPr>
          <a:xfrm>
            <a:off x="10086446" y="665953"/>
            <a:ext cx="1492267" cy="571507"/>
          </a:xfrm>
          <a:prstGeom prst="rect">
            <a:avLst/>
          </a:prstGeom>
        </p:spPr>
      </p:pic>
      <p:pic>
        <p:nvPicPr>
          <p:cNvPr id="5" name="Picture 4"/>
          <p:cNvPicPr>
            <a:picLocks noChangeAspect="1"/>
          </p:cNvPicPr>
          <p:nvPr/>
        </p:nvPicPr>
        <p:blipFill>
          <a:blip r:embed="rId3"/>
          <a:stretch>
            <a:fillRect/>
          </a:stretch>
        </p:blipFill>
        <p:spPr>
          <a:xfrm>
            <a:off x="7304033" y="1237460"/>
            <a:ext cx="256973" cy="419272"/>
          </a:xfrm>
          <a:prstGeom prst="rect">
            <a:avLst/>
          </a:prstGeom>
        </p:spPr>
      </p:pic>
      <p:pic>
        <p:nvPicPr>
          <p:cNvPr id="6" name="Picture 5"/>
          <p:cNvPicPr>
            <a:picLocks noChangeAspect="1"/>
          </p:cNvPicPr>
          <p:nvPr/>
        </p:nvPicPr>
        <p:blipFill>
          <a:blip r:embed="rId4"/>
          <a:stretch>
            <a:fillRect/>
          </a:stretch>
        </p:blipFill>
        <p:spPr>
          <a:xfrm>
            <a:off x="7690526" y="3605278"/>
            <a:ext cx="2829989" cy="884903"/>
          </a:xfrm>
          <a:prstGeom prst="rect">
            <a:avLst/>
          </a:prstGeom>
        </p:spPr>
      </p:pic>
    </p:spTree>
    <p:extLst>
      <p:ext uri="{BB962C8B-B14F-4D97-AF65-F5344CB8AC3E}">
        <p14:creationId xmlns:p14="http://schemas.microsoft.com/office/powerpoint/2010/main" val="35795818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294968"/>
            <a:ext cx="11157155" cy="5881995"/>
          </a:xfrm>
        </p:spPr>
        <p:txBody>
          <a:bodyPr/>
          <a:lstStyle/>
          <a:p>
            <a:r>
              <a:rPr lang="en-US" dirty="0"/>
              <a:t>Some fluids do not produce motion until some finite </a:t>
            </a:r>
            <a:r>
              <a:rPr lang="en-US" i="1" dirty="0" smtClean="0"/>
              <a:t>yield stress </a:t>
            </a:r>
            <a:r>
              <a:rPr lang="en-US" dirty="0"/>
              <a:t>has been applied. For </a:t>
            </a:r>
            <a:r>
              <a:rPr lang="en-US" i="1" dirty="0"/>
              <a:t>Binghamplastic </a:t>
            </a:r>
            <a:r>
              <a:rPr lang="en-US" dirty="0"/>
              <a:t>fluids</a:t>
            </a:r>
            <a:r>
              <a:rPr lang="en-US" dirty="0" smtClean="0"/>
              <a:t>:</a:t>
            </a:r>
          </a:p>
          <a:p>
            <a:r>
              <a:rPr lang="en-US" dirty="0"/>
              <a:t> where </a:t>
            </a:r>
            <a:r>
              <a:rPr lang="en-US" b="1" dirty="0" smtClean="0">
                <a:solidFill>
                  <a:schemeClr val="accent1">
                    <a:lumMod val="75000"/>
                  </a:schemeClr>
                </a:solidFill>
              </a:rPr>
              <a:t>Ƭ</a:t>
            </a:r>
            <a:r>
              <a:rPr lang="en-US" b="1" baseline="-25000" dirty="0" smtClean="0">
                <a:solidFill>
                  <a:schemeClr val="accent1">
                    <a:lumMod val="75000"/>
                  </a:schemeClr>
                </a:solidFill>
              </a:rPr>
              <a:t>O</a:t>
            </a:r>
            <a:r>
              <a:rPr lang="en-US" dirty="0" smtClean="0"/>
              <a:t> </a:t>
            </a:r>
            <a:r>
              <a:rPr lang="en-US" dirty="0"/>
              <a:t>is the yield stress. Once the yield stress is </a:t>
            </a:r>
            <a:r>
              <a:rPr lang="en-US" dirty="0" smtClean="0"/>
              <a:t>exceeded and </a:t>
            </a:r>
            <a:r>
              <a:rPr lang="en-US" dirty="0"/>
              <a:t>flow initiated, Bingham plastics behave like </a:t>
            </a:r>
            <a:r>
              <a:rPr lang="en-US" dirty="0" smtClean="0"/>
              <a:t>Newtonian fluids</a:t>
            </a:r>
            <a:r>
              <a:rPr lang="en-US" dirty="0"/>
              <a:t>; a constant ratio </a:t>
            </a:r>
            <a:r>
              <a:rPr lang="en-US" b="1" dirty="0" err="1">
                <a:solidFill>
                  <a:schemeClr val="accent1">
                    <a:lumMod val="75000"/>
                  </a:schemeClr>
                </a:solidFill>
              </a:rPr>
              <a:t>Kp</a:t>
            </a:r>
            <a:r>
              <a:rPr lang="en-US" dirty="0"/>
              <a:t> exists between change in shear </a:t>
            </a:r>
            <a:r>
              <a:rPr lang="en-US" dirty="0" smtClean="0"/>
              <a:t>stress </a:t>
            </a:r>
            <a:r>
              <a:rPr lang="en-US" dirty="0"/>
              <a:t>and appears to be related to reversible 'structure' effects </a:t>
            </a:r>
            <a:r>
              <a:rPr lang="en-US" dirty="0" smtClean="0"/>
              <a:t>associated with </a:t>
            </a:r>
            <a:r>
              <a:rPr lang="en-US" dirty="0"/>
              <a:t>the orientation of cells and macromolecules in </a:t>
            </a:r>
            <a:r>
              <a:rPr lang="en-US" dirty="0" smtClean="0"/>
              <a:t>the fluid</a:t>
            </a:r>
            <a:r>
              <a:rPr lang="en-US" dirty="0"/>
              <a:t>. </a:t>
            </a:r>
            <a:endParaRPr lang="en-US" dirty="0" smtClean="0"/>
          </a:p>
          <a:p>
            <a:r>
              <a:rPr lang="en-US" dirty="0" smtClean="0"/>
              <a:t>Rheological </a:t>
            </a:r>
            <a:r>
              <a:rPr lang="en-US" dirty="0"/>
              <a:t>properties vary during application of </a:t>
            </a:r>
            <a:r>
              <a:rPr lang="en-US" dirty="0" smtClean="0"/>
              <a:t>the shear </a:t>
            </a:r>
            <a:r>
              <a:rPr lang="en-US" dirty="0"/>
              <a:t>force because it takes time for equilibrium to be </a:t>
            </a:r>
            <a:r>
              <a:rPr lang="en-US" dirty="0" smtClean="0"/>
              <a:t>established between </a:t>
            </a:r>
            <a:r>
              <a:rPr lang="en-US" dirty="0"/>
              <a:t>structure breakdown and re-development</a:t>
            </a:r>
            <a:r>
              <a:rPr lang="en-US" dirty="0" smtClean="0"/>
              <a:t>.</a:t>
            </a:r>
          </a:p>
          <a:p>
            <a:r>
              <a:rPr lang="en-US" dirty="0"/>
              <a:t> </a:t>
            </a:r>
            <a:endParaRPr lang="en-IN" dirty="0"/>
          </a:p>
        </p:txBody>
      </p:sp>
      <p:pic>
        <p:nvPicPr>
          <p:cNvPr id="4" name="Picture 3"/>
          <p:cNvPicPr>
            <a:picLocks noChangeAspect="1"/>
          </p:cNvPicPr>
          <p:nvPr/>
        </p:nvPicPr>
        <p:blipFill>
          <a:blip r:embed="rId2"/>
          <a:stretch>
            <a:fillRect/>
          </a:stretch>
        </p:blipFill>
        <p:spPr>
          <a:xfrm>
            <a:off x="5448480" y="592078"/>
            <a:ext cx="1837221" cy="582219"/>
          </a:xfrm>
          <a:prstGeom prst="rect">
            <a:avLst/>
          </a:prstGeom>
        </p:spPr>
      </p:pic>
    </p:spTree>
    <p:extLst>
      <p:ext uri="{BB962C8B-B14F-4D97-AF65-F5344CB8AC3E}">
        <p14:creationId xmlns:p14="http://schemas.microsoft.com/office/powerpoint/2010/main" val="39935856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are flow curves for plastic flow</a:t>
            </a:r>
            <a:endParaRPr lang="en-IN" dirty="0"/>
          </a:p>
        </p:txBody>
      </p:sp>
      <p:pic>
        <p:nvPicPr>
          <p:cNvPr id="4" name="Content Placeholder 3"/>
          <p:cNvPicPr>
            <a:picLocks noGrp="1" noChangeAspect="1"/>
          </p:cNvPicPr>
          <p:nvPr>
            <p:ph idx="1"/>
          </p:nvPr>
        </p:nvPicPr>
        <p:blipFill>
          <a:blip r:embed="rId2"/>
          <a:stretch>
            <a:fillRect/>
          </a:stretch>
        </p:blipFill>
        <p:spPr>
          <a:xfrm>
            <a:off x="0" y="365125"/>
            <a:ext cx="6656439" cy="5662049"/>
          </a:xfrm>
          <a:prstGeom prst="rect">
            <a:avLst/>
          </a:prstGeom>
        </p:spPr>
      </p:pic>
      <p:pic>
        <p:nvPicPr>
          <p:cNvPr id="5" name="Picture 4"/>
          <p:cNvPicPr>
            <a:picLocks noChangeAspect="1"/>
          </p:cNvPicPr>
          <p:nvPr/>
        </p:nvPicPr>
        <p:blipFill>
          <a:blip r:embed="rId3"/>
          <a:stretch>
            <a:fillRect/>
          </a:stretch>
        </p:blipFill>
        <p:spPr>
          <a:xfrm>
            <a:off x="6243484" y="1759974"/>
            <a:ext cx="5948516" cy="3696929"/>
          </a:xfrm>
          <a:prstGeom prst="rect">
            <a:avLst/>
          </a:prstGeom>
        </p:spPr>
      </p:pic>
      <p:pic>
        <p:nvPicPr>
          <p:cNvPr id="6" name="Picture 5"/>
          <p:cNvPicPr>
            <a:picLocks noChangeAspect="1"/>
          </p:cNvPicPr>
          <p:nvPr/>
        </p:nvPicPr>
        <p:blipFill>
          <a:blip r:embed="rId4"/>
          <a:stretch>
            <a:fillRect/>
          </a:stretch>
        </p:blipFill>
        <p:spPr>
          <a:xfrm>
            <a:off x="6462760" y="1027906"/>
            <a:ext cx="5509963" cy="754741"/>
          </a:xfrm>
          <a:prstGeom prst="rect">
            <a:avLst/>
          </a:prstGeom>
        </p:spPr>
      </p:pic>
      <p:sp>
        <p:nvSpPr>
          <p:cNvPr id="7" name="Rectangle 6"/>
          <p:cNvSpPr/>
          <p:nvPr/>
        </p:nvSpPr>
        <p:spPr>
          <a:xfrm>
            <a:off x="7779305" y="477206"/>
            <a:ext cx="3876061" cy="369332"/>
          </a:xfrm>
          <a:prstGeom prst="rect">
            <a:avLst/>
          </a:prstGeom>
        </p:spPr>
        <p:txBody>
          <a:bodyPr wrap="none">
            <a:spAutoFit/>
          </a:bodyPr>
          <a:lstStyle/>
          <a:p>
            <a:r>
              <a:rPr lang="en-US" dirty="0" smtClean="0">
                <a:solidFill>
                  <a:schemeClr val="accent1">
                    <a:lumMod val="75000"/>
                  </a:schemeClr>
                </a:solidFill>
                <a:latin typeface="Times New Roman" panose="02020603050405020304" pitchFamily="18" charset="0"/>
              </a:rPr>
              <a:t> these </a:t>
            </a:r>
            <a:r>
              <a:rPr lang="en-US" b="1" dirty="0" smtClean="0">
                <a:solidFill>
                  <a:schemeClr val="accent1">
                    <a:lumMod val="75000"/>
                  </a:schemeClr>
                </a:solidFill>
                <a:latin typeface="Times New Roman" panose="02020603050405020304" pitchFamily="18" charset="0"/>
              </a:rPr>
              <a:t>Flow </a:t>
            </a:r>
            <a:r>
              <a:rPr lang="en-US" b="1" dirty="0">
                <a:solidFill>
                  <a:schemeClr val="accent1">
                    <a:lumMod val="75000"/>
                  </a:schemeClr>
                </a:solidFill>
                <a:latin typeface="Times New Roman" panose="02020603050405020304" pitchFamily="18" charset="0"/>
              </a:rPr>
              <a:t>curves </a:t>
            </a:r>
            <a:r>
              <a:rPr lang="en-US" b="1" dirty="0" smtClean="0">
                <a:solidFill>
                  <a:schemeClr val="accent1">
                    <a:lumMod val="75000"/>
                  </a:schemeClr>
                </a:solidFill>
                <a:latin typeface="Times New Roman" panose="02020603050405020304" pitchFamily="18" charset="0"/>
              </a:rPr>
              <a:t>are for </a:t>
            </a:r>
            <a:r>
              <a:rPr lang="en-US" b="1" dirty="0">
                <a:solidFill>
                  <a:schemeClr val="accent1">
                    <a:lumMod val="75000"/>
                  </a:schemeClr>
                </a:solidFill>
                <a:latin typeface="Times New Roman" panose="02020603050405020304" pitchFamily="18" charset="0"/>
              </a:rPr>
              <a:t>P</a:t>
            </a:r>
            <a:r>
              <a:rPr lang="en-US" b="1" dirty="0" smtClean="0">
                <a:solidFill>
                  <a:schemeClr val="accent1">
                    <a:lumMod val="75000"/>
                  </a:schemeClr>
                </a:solidFill>
                <a:latin typeface="Times New Roman" panose="02020603050405020304" pitchFamily="18" charset="0"/>
              </a:rPr>
              <a:t>lastic </a:t>
            </a:r>
            <a:r>
              <a:rPr lang="en-US" b="1" dirty="0">
                <a:solidFill>
                  <a:schemeClr val="accent1">
                    <a:lumMod val="75000"/>
                  </a:schemeClr>
                </a:solidFill>
                <a:latin typeface="Times New Roman" panose="02020603050405020304" pitchFamily="18" charset="0"/>
              </a:rPr>
              <a:t>flow</a:t>
            </a:r>
            <a:endParaRPr lang="en-IN" b="1" dirty="0">
              <a:solidFill>
                <a:schemeClr val="accent1">
                  <a:lumMod val="75000"/>
                </a:schemeClr>
              </a:solidFill>
            </a:endParaRPr>
          </a:p>
        </p:txBody>
      </p:sp>
      <p:cxnSp>
        <p:nvCxnSpPr>
          <p:cNvPr id="8" name="Straight Connector 7"/>
          <p:cNvCxnSpPr/>
          <p:nvPr/>
        </p:nvCxnSpPr>
        <p:spPr>
          <a:xfrm>
            <a:off x="6243484" y="846538"/>
            <a:ext cx="0" cy="58688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29459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3794" y="186813"/>
            <a:ext cx="11621729" cy="6088473"/>
          </a:xfrm>
        </p:spPr>
        <p:txBody>
          <a:bodyPr>
            <a:normAutofit lnSpcReduction="10000"/>
          </a:bodyPr>
          <a:lstStyle/>
          <a:p>
            <a:r>
              <a:rPr lang="en-US" sz="2000" b="1" dirty="0" smtClean="0">
                <a:latin typeface="Arial" panose="020B0604020202020204" pitchFamily="34" charset="0"/>
                <a:cs typeface="Arial" panose="020B0604020202020204" pitchFamily="34" charset="0"/>
              </a:rPr>
              <a:t>Newtonian fluids</a:t>
            </a:r>
            <a:r>
              <a:rPr lang="en-US" sz="2000" dirty="0" smtClean="0">
                <a:latin typeface="Arial" panose="020B0604020202020204" pitchFamily="34" charset="0"/>
                <a:cs typeface="Arial" panose="020B0604020202020204" pitchFamily="34" charset="0"/>
              </a:rPr>
              <a:t>, example water.</a:t>
            </a:r>
          </a:p>
          <a:p>
            <a:r>
              <a:rPr lang="en-US" sz="2000" dirty="0" smtClean="0">
                <a:latin typeface="Arial" panose="020B0604020202020204" pitchFamily="34" charset="0"/>
                <a:cs typeface="Arial" panose="020B0604020202020204" pitchFamily="34" charset="0"/>
              </a:rPr>
              <a:t>A </a:t>
            </a:r>
            <a:r>
              <a:rPr lang="en-US" sz="2000" dirty="0">
                <a:latin typeface="Arial" panose="020B0604020202020204" pitchFamily="34" charset="0"/>
                <a:cs typeface="Arial" panose="020B0604020202020204" pitchFamily="34" charset="0"/>
              </a:rPr>
              <a:t>classic example of a </a:t>
            </a:r>
            <a:r>
              <a:rPr lang="en-US" sz="2000" b="1" dirty="0" smtClean="0">
                <a:latin typeface="Arial" panose="020B0604020202020204" pitchFamily="34" charset="0"/>
                <a:cs typeface="Arial" panose="020B0604020202020204" pitchFamily="34" charset="0"/>
              </a:rPr>
              <a:t>Pseudoplastic </a:t>
            </a:r>
            <a:r>
              <a:rPr lang="en-US" sz="2000" b="1" dirty="0">
                <a:latin typeface="Arial" panose="020B0604020202020204" pitchFamily="34" charset="0"/>
                <a:cs typeface="Arial" panose="020B0604020202020204" pitchFamily="34" charset="0"/>
              </a:rPr>
              <a:t>fluid</a:t>
            </a:r>
            <a:r>
              <a:rPr lang="en-US" sz="2000" dirty="0">
                <a:latin typeface="Arial" panose="020B0604020202020204" pitchFamily="34" charset="0"/>
                <a:cs typeface="Arial" panose="020B0604020202020204" pitchFamily="34" charset="0"/>
              </a:rPr>
              <a:t> is </a:t>
            </a:r>
            <a:r>
              <a:rPr lang="en-US" sz="2000" b="1" dirty="0" smtClean="0">
                <a:latin typeface="Arial" panose="020B0604020202020204" pitchFamily="34" charset="0"/>
                <a:cs typeface="Arial" panose="020B0604020202020204" pitchFamily="34" charset="0"/>
              </a:rPr>
              <a:t>ketchup</a:t>
            </a:r>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It flows slowly when undisturbed but becomes much thinner and easier to pour when shaken or squeezed—this is called </a:t>
            </a:r>
            <a:r>
              <a:rPr lang="en-US" sz="2000" b="1" dirty="0">
                <a:latin typeface="Arial" panose="020B0604020202020204" pitchFamily="34" charset="0"/>
                <a:cs typeface="Arial" panose="020B0604020202020204" pitchFamily="34" charset="0"/>
              </a:rPr>
              <a:t>shear-thinning </a:t>
            </a:r>
            <a:r>
              <a:rPr lang="en-US" sz="2000" b="1" dirty="0" smtClean="0">
                <a:latin typeface="Arial" panose="020B0604020202020204" pitchFamily="34" charset="0"/>
                <a:cs typeface="Arial" panose="020B0604020202020204" pitchFamily="34" charset="0"/>
              </a:rPr>
              <a:t>behavior</a:t>
            </a:r>
            <a:r>
              <a:rPr lang="en-US" sz="2000" dirty="0" smtClean="0">
                <a:latin typeface="Arial" panose="020B0604020202020204" pitchFamily="34" charset="0"/>
                <a:cs typeface="Arial" panose="020B0604020202020204" pitchFamily="34" charset="0"/>
              </a:rPr>
              <a:t>. Other </a:t>
            </a:r>
            <a:r>
              <a:rPr lang="en-US" sz="2000" dirty="0">
                <a:latin typeface="Arial" panose="020B0604020202020204" pitchFamily="34" charset="0"/>
                <a:cs typeface="Arial" panose="020B0604020202020204" pitchFamily="34" charset="0"/>
              </a:rPr>
              <a:t>great examples include </a:t>
            </a:r>
            <a:r>
              <a:rPr lang="en-US" sz="2000" b="1" dirty="0">
                <a:latin typeface="Arial" panose="020B0604020202020204" pitchFamily="34" charset="0"/>
                <a:cs typeface="Arial" panose="020B0604020202020204" pitchFamily="34" charset="0"/>
              </a:rPr>
              <a:t>toothpaste</a:t>
            </a:r>
            <a:r>
              <a:rPr lang="en-US" sz="2000"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blood</a:t>
            </a:r>
            <a:r>
              <a:rPr lang="en-US" sz="2000" dirty="0">
                <a:latin typeface="Arial" panose="020B0604020202020204" pitchFamily="34" charset="0"/>
                <a:cs typeface="Arial" panose="020B0604020202020204" pitchFamily="34" charset="0"/>
              </a:rPr>
              <a:t>, and </a:t>
            </a:r>
            <a:r>
              <a:rPr lang="en-US" sz="2000" b="1" dirty="0">
                <a:latin typeface="Arial" panose="020B0604020202020204" pitchFamily="34" charset="0"/>
                <a:cs typeface="Arial" panose="020B0604020202020204" pitchFamily="34" charset="0"/>
              </a:rPr>
              <a:t>certain paints</a:t>
            </a:r>
            <a:r>
              <a:rPr lang="en-US" sz="2000" dirty="0">
                <a:latin typeface="Arial" panose="020B0604020202020204" pitchFamily="34" charset="0"/>
                <a:cs typeface="Arial" panose="020B0604020202020204" pitchFamily="34" charset="0"/>
              </a:rPr>
              <a:t>, all of which become less viscous under stress or </a:t>
            </a:r>
            <a:r>
              <a:rPr lang="en-US" sz="2000" dirty="0" smtClean="0">
                <a:latin typeface="Arial" panose="020B0604020202020204" pitchFamily="34" charset="0"/>
                <a:cs typeface="Arial" panose="020B0604020202020204" pitchFamily="34" charset="0"/>
              </a:rPr>
              <a:t>motion.</a:t>
            </a:r>
          </a:p>
          <a:p>
            <a:r>
              <a:rPr lang="en-US" altLang="en-US" sz="2000" b="1" dirty="0" smtClean="0">
                <a:latin typeface="Arial" panose="020B0604020202020204" pitchFamily="34" charset="0"/>
                <a:cs typeface="Arial" panose="020B0604020202020204" pitchFamily="34" charset="0"/>
              </a:rPr>
              <a:t>Dilatant </a:t>
            </a:r>
            <a:r>
              <a:rPr lang="en-US" altLang="en-US" sz="2000" b="1" dirty="0">
                <a:latin typeface="Arial" panose="020B0604020202020204" pitchFamily="34" charset="0"/>
                <a:cs typeface="Arial" panose="020B0604020202020204" pitchFamily="34" charset="0"/>
              </a:rPr>
              <a:t>fluids</a:t>
            </a:r>
            <a:r>
              <a:rPr lang="en-US" sz="2000" b="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get </a:t>
            </a:r>
            <a:r>
              <a:rPr lang="en-US" sz="2000" b="1" dirty="0">
                <a:latin typeface="Arial" panose="020B0604020202020204" pitchFamily="34" charset="0"/>
                <a:cs typeface="Arial" panose="020B0604020202020204" pitchFamily="34" charset="0"/>
              </a:rPr>
              <a:t>thicker</a:t>
            </a:r>
            <a:r>
              <a:rPr lang="en-US" sz="2000" dirty="0">
                <a:latin typeface="Arial" panose="020B0604020202020204" pitchFamily="34" charset="0"/>
                <a:cs typeface="Arial" panose="020B0604020202020204" pitchFamily="34" charset="0"/>
              </a:rPr>
              <a:t> when you apply force—like they resist sudden movement.</a:t>
            </a:r>
          </a:p>
          <a:p>
            <a:pPr marL="0" indent="0">
              <a:buNone/>
            </a:pPr>
            <a:r>
              <a:rPr lang="en-US" sz="2000" b="1" dirty="0">
                <a:latin typeface="Arial" panose="020B0604020202020204" pitchFamily="34" charset="0"/>
                <a:cs typeface="Arial" panose="020B0604020202020204" pitchFamily="34" charset="0"/>
              </a:rPr>
              <a:t>Wet sand</a:t>
            </a:r>
            <a:r>
              <a:rPr lang="en-US" sz="2000" dirty="0">
                <a:latin typeface="Arial" panose="020B0604020202020204" pitchFamily="34" charset="0"/>
                <a:cs typeface="Arial" panose="020B0604020202020204" pitchFamily="34" charset="0"/>
              </a:rPr>
              <a:t>: When you step on it, it firms up under pressure. </a:t>
            </a:r>
            <a:r>
              <a:rPr lang="en-US" sz="2000" b="1" dirty="0">
                <a:latin typeface="Arial" panose="020B0604020202020204" pitchFamily="34" charset="0"/>
                <a:cs typeface="Arial" panose="020B0604020202020204" pitchFamily="34" charset="0"/>
              </a:rPr>
              <a:t>Silly Putty or slime</a:t>
            </a:r>
            <a:r>
              <a:rPr lang="en-US" sz="2000" dirty="0">
                <a:latin typeface="Arial" panose="020B0604020202020204" pitchFamily="34" charset="0"/>
                <a:cs typeface="Arial" panose="020B0604020202020204" pitchFamily="34" charset="0"/>
              </a:rPr>
              <a:t>: Acts more solid when pulled quickly. </a:t>
            </a:r>
            <a:r>
              <a:rPr lang="en-US" sz="2000" b="1" dirty="0">
                <a:latin typeface="Arial" panose="020B0604020202020204" pitchFamily="34" charset="0"/>
                <a:cs typeface="Arial" panose="020B0604020202020204" pitchFamily="34" charset="0"/>
              </a:rPr>
              <a:t>Certain industrial suspensions</a:t>
            </a:r>
            <a:r>
              <a:rPr lang="en-US" sz="2000" dirty="0">
                <a:latin typeface="Arial" panose="020B0604020202020204" pitchFamily="34" charset="0"/>
                <a:cs typeface="Arial" panose="020B0604020202020204" pitchFamily="34" charset="0"/>
              </a:rPr>
              <a:t>: Like ceramic slurries or dense polymer mixtures</a:t>
            </a:r>
            <a:r>
              <a:rPr lang="en-US" sz="2000" dirty="0" smtClean="0">
                <a:latin typeface="Arial" panose="020B0604020202020204" pitchFamily="34" charset="0"/>
                <a:cs typeface="Arial" panose="020B0604020202020204" pitchFamily="34" charset="0"/>
              </a:rPr>
              <a:t>.</a:t>
            </a:r>
          </a:p>
          <a:p>
            <a:r>
              <a:rPr lang="en-US" altLang="en-US" sz="2000" dirty="0" smtClean="0">
                <a:latin typeface="Arial" panose="020B0604020202020204" pitchFamily="34" charset="0"/>
              </a:rPr>
              <a:t>A </a:t>
            </a:r>
            <a:r>
              <a:rPr lang="en-US" altLang="en-US" sz="2000" dirty="0">
                <a:latin typeface="Arial" panose="020B0604020202020204" pitchFamily="34" charset="0"/>
              </a:rPr>
              <a:t>great example of a </a:t>
            </a:r>
            <a:r>
              <a:rPr lang="en-US" altLang="en-US" sz="2000" b="1" dirty="0">
                <a:latin typeface="Arial" panose="020B0604020202020204" pitchFamily="34" charset="0"/>
              </a:rPr>
              <a:t>Bingham plastic</a:t>
            </a:r>
            <a:r>
              <a:rPr lang="en-US" altLang="en-US" sz="2000" dirty="0">
                <a:latin typeface="Arial" panose="020B0604020202020204" pitchFamily="34" charset="0"/>
              </a:rPr>
              <a:t> is </a:t>
            </a:r>
            <a:r>
              <a:rPr lang="en-US" altLang="en-US" sz="2000" b="1" dirty="0" smtClean="0">
                <a:latin typeface="Arial" panose="020B0604020202020204" pitchFamily="34" charset="0"/>
              </a:rPr>
              <a:t>toothpaste</a:t>
            </a:r>
            <a:r>
              <a:rPr lang="en-US" altLang="en-US" sz="2000" dirty="0" smtClean="0">
                <a:latin typeface="Arial" panose="020B0604020202020204" pitchFamily="34" charset="0"/>
              </a:rPr>
              <a:t>. It </a:t>
            </a:r>
            <a:r>
              <a:rPr lang="en-US" altLang="en-US" sz="2000" dirty="0">
                <a:latin typeface="Arial" panose="020B0604020202020204" pitchFamily="34" charset="0"/>
              </a:rPr>
              <a:t>behaves like a solid until you apply enough pressure—then it flows smoothly out of the tube as a thick paste.</a:t>
            </a:r>
          </a:p>
          <a:p>
            <a:pPr marL="0" lvl="0" indent="0" eaLnBrk="0" fontAlgn="base" hangingPunct="0">
              <a:lnSpc>
                <a:spcPct val="100000"/>
              </a:lnSpc>
              <a:spcBef>
                <a:spcPct val="0"/>
              </a:spcBef>
              <a:spcAft>
                <a:spcPct val="0"/>
              </a:spcAft>
              <a:buNone/>
            </a:pPr>
            <a:r>
              <a:rPr lang="en-US" altLang="en-US" sz="2000" dirty="0" smtClean="0">
                <a:latin typeface="Arial" panose="020B0604020202020204" pitchFamily="34" charset="0"/>
              </a:rPr>
              <a:t> </a:t>
            </a:r>
            <a:r>
              <a:rPr lang="en-US" altLang="en-US" sz="2000" dirty="0">
                <a:latin typeface="Arial" panose="020B0604020202020204" pitchFamily="34" charset="0"/>
              </a:rPr>
              <a:t>examples include </a:t>
            </a:r>
            <a:r>
              <a:rPr lang="en-US" altLang="en-US" sz="2000" b="1" dirty="0" smtClean="0">
                <a:latin typeface="Arial" panose="020B0604020202020204" pitchFamily="34" charset="0"/>
              </a:rPr>
              <a:t>Payasam</a:t>
            </a:r>
            <a:r>
              <a:rPr lang="en-US" altLang="en-US" sz="2000" dirty="0" smtClean="0">
                <a:latin typeface="Arial" panose="020B0604020202020204" pitchFamily="34" charset="0"/>
              </a:rPr>
              <a:t> (shear thickening ) </a:t>
            </a:r>
            <a:r>
              <a:rPr lang="en-US" altLang="en-US" sz="2000" b="1" dirty="0" smtClean="0">
                <a:latin typeface="Arial" panose="020B0604020202020204" pitchFamily="34" charset="0"/>
              </a:rPr>
              <a:t>mayonnaise</a:t>
            </a:r>
            <a:r>
              <a:rPr lang="en-US" altLang="en-US" sz="2000" dirty="0">
                <a:latin typeface="Arial" panose="020B0604020202020204" pitchFamily="34" charset="0"/>
              </a:rPr>
              <a:t>, </a:t>
            </a:r>
            <a:r>
              <a:rPr lang="en-US" altLang="en-US" sz="2000" b="1" dirty="0">
                <a:latin typeface="Arial" panose="020B0604020202020204" pitchFamily="34" charset="0"/>
              </a:rPr>
              <a:t>drilling mud</a:t>
            </a:r>
            <a:r>
              <a:rPr lang="en-US" altLang="en-US" sz="2000" dirty="0">
                <a:latin typeface="Arial" panose="020B0604020202020204" pitchFamily="34" charset="0"/>
              </a:rPr>
              <a:t>, and </a:t>
            </a:r>
            <a:r>
              <a:rPr lang="en-US" altLang="en-US" sz="2000" b="1" dirty="0">
                <a:latin typeface="Arial" panose="020B0604020202020204" pitchFamily="34" charset="0"/>
              </a:rPr>
              <a:t>cosmetic creams</a:t>
            </a:r>
            <a:r>
              <a:rPr lang="en-US" altLang="en-US" sz="2000" dirty="0">
                <a:latin typeface="Arial" panose="020B0604020202020204" pitchFamily="34" charset="0"/>
              </a:rPr>
              <a:t>, all of which need a certain stress to start </a:t>
            </a:r>
            <a:r>
              <a:rPr lang="en-US" altLang="en-US" sz="2000" dirty="0" smtClean="0">
                <a:latin typeface="Arial" panose="020B0604020202020204" pitchFamily="34" charset="0"/>
              </a:rPr>
              <a:t>flowing.</a:t>
            </a:r>
          </a:p>
          <a:p>
            <a:r>
              <a:rPr lang="en-US" altLang="en-US" sz="2000" dirty="0" err="1" smtClean="0">
                <a:latin typeface="Arial" panose="020B0604020202020204" pitchFamily="34" charset="0"/>
                <a:cs typeface="Arial" panose="020B0604020202020204" pitchFamily="34" charset="0"/>
              </a:rPr>
              <a:t>Casson</a:t>
            </a:r>
            <a:r>
              <a:rPr lang="en-US" altLang="en-US" sz="2000" dirty="0" smtClean="0">
                <a:latin typeface="Arial" panose="020B0604020202020204" pitchFamily="34" charset="0"/>
                <a:cs typeface="Arial" panose="020B0604020202020204" pitchFamily="34" charset="0"/>
              </a:rPr>
              <a:t> plastic fluids  </a:t>
            </a:r>
            <a:r>
              <a:rPr lang="en-US" sz="2000" b="1" dirty="0">
                <a:latin typeface="Arial" panose="020B0604020202020204" pitchFamily="34" charset="0"/>
                <a:cs typeface="Arial" panose="020B0604020202020204" pitchFamily="34" charset="0"/>
              </a:rPr>
              <a:t>minimum stress</a:t>
            </a:r>
            <a:r>
              <a:rPr lang="en-US" sz="2000" dirty="0">
                <a:latin typeface="Arial" panose="020B0604020202020204" pitchFamily="34" charset="0"/>
                <a:cs typeface="Arial" panose="020B0604020202020204" pitchFamily="34" charset="0"/>
              </a:rPr>
              <a:t> to start flowing, and then behave like a shear-thinning fluid.</a:t>
            </a:r>
          </a:p>
          <a:p>
            <a:r>
              <a:rPr lang="en-US" sz="2000" b="1" dirty="0">
                <a:latin typeface="Arial" panose="020B0604020202020204" pitchFamily="34" charset="0"/>
                <a:cs typeface="Arial" panose="020B0604020202020204" pitchFamily="34" charset="0"/>
              </a:rPr>
              <a:t>Blood</a:t>
            </a:r>
            <a:r>
              <a:rPr lang="en-US" sz="2000" dirty="0">
                <a:latin typeface="Arial" panose="020B0604020202020204" pitchFamily="34" charset="0"/>
                <a:cs typeface="Arial" panose="020B0604020202020204" pitchFamily="34" charset="0"/>
              </a:rPr>
              <a:t>: Classic </a:t>
            </a:r>
            <a:r>
              <a:rPr lang="en-US" sz="2000" dirty="0" err="1">
                <a:latin typeface="Arial" panose="020B0604020202020204" pitchFamily="34" charset="0"/>
                <a:cs typeface="Arial" panose="020B0604020202020204" pitchFamily="34" charset="0"/>
              </a:rPr>
              <a:t>Casson</a:t>
            </a:r>
            <a:r>
              <a:rPr lang="en-US" sz="2000" dirty="0">
                <a:latin typeface="Arial" panose="020B0604020202020204" pitchFamily="34" charset="0"/>
                <a:cs typeface="Arial" panose="020B0604020202020204" pitchFamily="34" charset="0"/>
              </a:rPr>
              <a:t> fluid—needs a threshold stress to flow due to red cell interactions.</a:t>
            </a:r>
          </a:p>
          <a:p>
            <a:r>
              <a:rPr lang="en-US" sz="2000" b="1" dirty="0">
                <a:latin typeface="Arial" panose="020B0604020202020204" pitchFamily="34" charset="0"/>
                <a:cs typeface="Arial" panose="020B0604020202020204" pitchFamily="34" charset="0"/>
              </a:rPr>
              <a:t>Chocolate</a:t>
            </a:r>
            <a:r>
              <a:rPr lang="en-US" sz="2000" dirty="0">
                <a:latin typeface="Arial" panose="020B0604020202020204" pitchFamily="34" charset="0"/>
                <a:cs typeface="Arial" panose="020B0604020202020204" pitchFamily="34" charset="0"/>
              </a:rPr>
              <a:t>: Especially molten chocolate in manufacturing—thick until stirred or pumped.</a:t>
            </a:r>
          </a:p>
          <a:p>
            <a:r>
              <a:rPr lang="en-US" sz="2000" b="1" dirty="0">
                <a:latin typeface="Arial" panose="020B0604020202020204" pitchFamily="34" charset="0"/>
                <a:cs typeface="Arial" panose="020B0604020202020204" pitchFamily="34" charset="0"/>
              </a:rPr>
              <a:t>Printing inks</a:t>
            </a:r>
            <a:r>
              <a:rPr lang="en-US" sz="2000" dirty="0">
                <a:latin typeface="Arial" panose="020B0604020202020204" pitchFamily="34" charset="0"/>
                <a:cs typeface="Arial" panose="020B0604020202020204" pitchFamily="34" charset="0"/>
              </a:rPr>
              <a:t>: Flow only when pressure is applied, ideal for controlled spreading.</a:t>
            </a:r>
          </a:p>
          <a:p>
            <a:r>
              <a:rPr lang="en-US" sz="2000" b="1" dirty="0">
                <a:latin typeface="Arial" panose="020B0604020202020204" pitchFamily="34" charset="0"/>
                <a:cs typeface="Arial" panose="020B0604020202020204" pitchFamily="34" charset="0"/>
              </a:rPr>
              <a:t>Cosmetic creams</a:t>
            </a:r>
            <a:r>
              <a:rPr lang="en-US" sz="2000" dirty="0">
                <a:latin typeface="Arial" panose="020B0604020202020204" pitchFamily="34" charset="0"/>
                <a:cs typeface="Arial" panose="020B0604020202020204" pitchFamily="34" charset="0"/>
              </a:rPr>
              <a:t>: Like foundation or thick lotions—flow starts only after a certain force</a:t>
            </a:r>
            <a:r>
              <a:rPr lang="en-US" sz="2000" dirty="0" smtClean="0">
                <a:latin typeface="Arial" panose="020B0604020202020204" pitchFamily="34" charset="0"/>
                <a:cs typeface="Arial" panose="020B0604020202020204" pitchFamily="34" charset="0"/>
              </a:rPr>
              <a:t>.</a:t>
            </a:r>
            <a:endParaRPr lang="en-US" altLang="en-US" sz="2000" dirty="0">
              <a:latin typeface="Arial" panose="020B0604020202020204" pitchFamily="34" charset="0"/>
              <a:cs typeface="Arial" panose="020B0604020202020204" pitchFamily="34" charset="0"/>
            </a:endParaRPr>
          </a:p>
          <a:p>
            <a:endParaRPr lang="en-US" dirty="0"/>
          </a:p>
          <a:p>
            <a:pPr marL="0" indent="0">
              <a:buNone/>
            </a:pPr>
            <a:endParaRPr lang="en-IN" dirty="0"/>
          </a:p>
        </p:txBody>
      </p:sp>
    </p:spTree>
    <p:extLst>
      <p:ext uri="{BB962C8B-B14F-4D97-AF65-F5344CB8AC3E}">
        <p14:creationId xmlns:p14="http://schemas.microsoft.com/office/powerpoint/2010/main" val="34186864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491612" y="127819"/>
            <a:ext cx="11248104" cy="6223820"/>
          </a:xfrm>
          <a:prstGeom prst="rect">
            <a:avLst/>
          </a:prstGeom>
        </p:spPr>
      </p:pic>
    </p:spTree>
    <p:extLst>
      <p:ext uri="{BB962C8B-B14F-4D97-AF65-F5344CB8AC3E}">
        <p14:creationId xmlns:p14="http://schemas.microsoft.com/office/powerpoint/2010/main" val="3317170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1756" y="-234183"/>
            <a:ext cx="10515600" cy="1325563"/>
          </a:xfrm>
        </p:spPr>
        <p:txBody>
          <a:bodyPr/>
          <a:lstStyle/>
          <a:p>
            <a:r>
              <a:rPr lang="en-US" dirty="0"/>
              <a:t>Hydrostatic equilibrium</a:t>
            </a:r>
            <a:endParaRPr lang="en-IN"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3683" y="855678"/>
                <a:ext cx="6366294" cy="5796792"/>
              </a:xfrm>
            </p:spPr>
            <p:txBody>
              <a:bodyPr>
                <a:normAutofit/>
              </a:bodyPr>
              <a:lstStyle/>
              <a:p>
                <a:r>
                  <a:rPr lang="en-US" sz="2000" dirty="0" smtClean="0"/>
                  <a:t>Hydrostatic equilibrium is a beautiful balancing act in fluid mechanics and astrophysics — it’s when the </a:t>
                </a:r>
                <a:r>
                  <a:rPr lang="en-US" sz="2000" b="1" dirty="0"/>
                  <a:t>downward force of gravity</a:t>
                </a:r>
                <a:r>
                  <a:rPr lang="en-US" sz="2000" dirty="0"/>
                  <a:t> is perfectly countered by the </a:t>
                </a:r>
                <a:r>
                  <a:rPr lang="en-US" sz="2000" b="1" dirty="0"/>
                  <a:t>upward pressure gradient</a:t>
                </a:r>
                <a:r>
                  <a:rPr lang="en-US" sz="2000" dirty="0"/>
                  <a:t> within a fluid or </a:t>
                </a:r>
                <a:r>
                  <a:rPr lang="en-US" sz="2000" dirty="0" smtClean="0"/>
                  <a:t>gas</a:t>
                </a:r>
              </a:p>
              <a:p>
                <a:endParaRPr lang="en-US" sz="2000" dirty="0"/>
              </a:p>
              <a:p>
                <a:endParaRPr lang="en-US" sz="2000" dirty="0" smtClean="0"/>
              </a:p>
              <a:p>
                <a:pPr marL="0" lvl="0" indent="0" eaLnBrk="0" fontAlgn="base" hangingPunct="0">
                  <a:lnSpc>
                    <a:spcPct val="100000"/>
                  </a:lnSpc>
                  <a:spcBef>
                    <a:spcPct val="0"/>
                  </a:spcBef>
                  <a:spcAft>
                    <a:spcPct val="0"/>
                  </a:spcAft>
                  <a:buFontTx/>
                  <a:buChar char="•"/>
                </a:pPr>
                <a:r>
                  <a:rPr lang="en-US" sz="2000" dirty="0"/>
                  <a:t> </a:t>
                </a:r>
                <a:r>
                  <a:rPr lang="en-US" sz="2000" dirty="0" smtClean="0"/>
                  <a:t> </a:t>
                </a:r>
                <a:r>
                  <a:rPr lang="en-US" altLang="en-US" sz="2000" dirty="0" smtClean="0">
                    <a:solidFill>
                      <a:schemeClr val="tx1"/>
                    </a:solidFill>
                  </a:rPr>
                  <a:t>Imagine a column of water at rest. Gravity pulls it down, but the pressure from the fluid below pushes up.</a:t>
                </a:r>
              </a:p>
              <a:p>
                <a:pPr marL="0" lvl="0" indent="0" eaLnBrk="0" fontAlgn="base" hangingPunct="0">
                  <a:lnSpc>
                    <a:spcPct val="100000"/>
                  </a:lnSpc>
                  <a:spcBef>
                    <a:spcPct val="0"/>
                  </a:spcBef>
                  <a:spcAft>
                    <a:spcPct val="0"/>
                  </a:spcAft>
                  <a:buFontTx/>
                  <a:buChar char="•"/>
                </a:pPr>
                <a:r>
                  <a:rPr lang="en-US" altLang="en-US" sz="2000" dirty="0">
                    <a:solidFill>
                      <a:schemeClr val="tx1"/>
                    </a:solidFill>
                  </a:rPr>
                  <a:t>When these forces </a:t>
                </a:r>
                <a:r>
                  <a:rPr lang="en-US" altLang="en-US" sz="2000" b="1" dirty="0">
                    <a:solidFill>
                      <a:schemeClr val="tx1"/>
                    </a:solidFill>
                  </a:rPr>
                  <a:t>balance</a:t>
                </a:r>
                <a:r>
                  <a:rPr lang="en-US" altLang="en-US" sz="2000" dirty="0">
                    <a:solidFill>
                      <a:schemeClr val="tx1"/>
                    </a:solidFill>
                  </a:rPr>
                  <a:t>, the fluid is said to be in </a:t>
                </a:r>
                <a:r>
                  <a:rPr lang="en-US" altLang="en-US" sz="2000" b="1" dirty="0">
                    <a:solidFill>
                      <a:schemeClr val="tx1"/>
                    </a:solidFill>
                  </a:rPr>
                  <a:t>hydrostatic equilibrium</a:t>
                </a:r>
                <a:r>
                  <a:rPr lang="en-US" altLang="en-US" sz="2000" dirty="0" smtClean="0">
                    <a:solidFill>
                      <a:schemeClr val="tx1"/>
                    </a:solidFill>
                  </a:rPr>
                  <a:t>.</a:t>
                </a:r>
                <a:r>
                  <a:rPr lang="en-US" sz="2000" dirty="0" smtClean="0">
                    <a:solidFill>
                      <a:schemeClr val="tx1"/>
                    </a:solidFill>
                  </a:rPr>
                  <a:t>     </a:t>
                </a:r>
                <a14:m>
                  <m:oMath xmlns:m="http://schemas.openxmlformats.org/officeDocument/2006/math">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𝑑𝑃</m:t>
                        </m:r>
                      </m:num>
                      <m:den>
                        <m:r>
                          <a:rPr lang="en-US" b="0" i="1" smtClean="0">
                            <a:solidFill>
                              <a:schemeClr val="tx1"/>
                            </a:solidFill>
                            <a:latin typeface="Cambria Math" panose="02040503050406030204" pitchFamily="18" charset="0"/>
                          </a:rPr>
                          <m:t>𝐷𝑍</m:t>
                        </m:r>
                      </m:den>
                    </m:f>
                  </m:oMath>
                </a14:m>
                <a:r>
                  <a:rPr lang="en-IN" dirty="0" smtClean="0">
                    <a:solidFill>
                      <a:schemeClr val="tx1"/>
                    </a:solidFill>
                  </a:rPr>
                  <a:t>= </a:t>
                </a:r>
                <a:r>
                  <a:rPr lang="el-GR" dirty="0" smtClean="0">
                    <a:solidFill>
                      <a:schemeClr val="tx1"/>
                    </a:solidFill>
                  </a:rPr>
                  <a:t>ρ</a:t>
                </a:r>
                <a:r>
                  <a:rPr lang="en-IN" dirty="0" smtClean="0">
                    <a:solidFill>
                      <a:schemeClr val="tx1"/>
                    </a:solidFill>
                  </a:rPr>
                  <a:t>g </a:t>
                </a:r>
              </a:p>
              <a:p>
                <a:r>
                  <a:rPr lang="en-US" altLang="en-US" sz="2000" dirty="0" smtClean="0">
                    <a:solidFill>
                      <a:schemeClr val="tx1"/>
                    </a:solidFill>
                  </a:rPr>
                  <a:t>P </a:t>
                </a:r>
                <a:r>
                  <a:rPr lang="en-US" altLang="en-US" sz="2000" dirty="0">
                    <a:solidFill>
                      <a:schemeClr val="tx1"/>
                    </a:solidFill>
                  </a:rPr>
                  <a:t>= pressure</a:t>
                </a:r>
              </a:p>
              <a:p>
                <a:pPr marL="0" lvl="0" indent="0" eaLnBrk="0" fontAlgn="base" hangingPunct="0">
                  <a:lnSpc>
                    <a:spcPct val="100000"/>
                  </a:lnSpc>
                  <a:spcBef>
                    <a:spcPct val="0"/>
                  </a:spcBef>
                  <a:spcAft>
                    <a:spcPct val="0"/>
                  </a:spcAft>
                  <a:buNone/>
                </a:pPr>
                <a:r>
                  <a:rPr lang="en-US" altLang="en-US" sz="2000" dirty="0" smtClean="0">
                    <a:solidFill>
                      <a:schemeClr val="tx1"/>
                    </a:solidFill>
                  </a:rPr>
                  <a:t> z </a:t>
                </a:r>
                <a:r>
                  <a:rPr lang="en-US" altLang="en-US" sz="2000" dirty="0">
                    <a:solidFill>
                      <a:schemeClr val="tx1"/>
                    </a:solidFill>
                  </a:rPr>
                  <a:t>= </a:t>
                </a:r>
                <a:r>
                  <a:rPr lang="en-US" altLang="en-US" sz="2000" dirty="0" smtClean="0">
                    <a:solidFill>
                      <a:schemeClr val="tx1"/>
                    </a:solidFill>
                  </a:rPr>
                  <a:t>height ( Pressure head)</a:t>
                </a:r>
                <a:endParaRPr lang="en-US" altLang="en-US" sz="2000" dirty="0">
                  <a:solidFill>
                    <a:schemeClr val="tx1"/>
                  </a:solidFill>
                </a:endParaRPr>
              </a:p>
              <a:p>
                <a:pPr marL="0" lvl="0" indent="0" eaLnBrk="0" fontAlgn="base" hangingPunct="0">
                  <a:lnSpc>
                    <a:spcPct val="100000"/>
                  </a:lnSpc>
                  <a:spcBef>
                    <a:spcPct val="0"/>
                  </a:spcBef>
                  <a:spcAft>
                    <a:spcPct val="0"/>
                  </a:spcAft>
                  <a:buNone/>
                </a:pPr>
                <a:r>
                  <a:rPr lang="en-US" altLang="en-US" sz="2000" dirty="0" smtClean="0">
                    <a:solidFill>
                      <a:schemeClr val="tx1"/>
                    </a:solidFill>
                  </a:rPr>
                  <a:t>ρ </a:t>
                </a:r>
                <a:r>
                  <a:rPr lang="en-US" altLang="en-US" sz="2000" dirty="0">
                    <a:solidFill>
                      <a:schemeClr val="tx1"/>
                    </a:solidFill>
                  </a:rPr>
                  <a:t>= fluid density</a:t>
                </a:r>
              </a:p>
              <a:p>
                <a:pPr marL="0" lvl="0" indent="0" eaLnBrk="0" fontAlgn="base" hangingPunct="0">
                  <a:lnSpc>
                    <a:spcPct val="100000"/>
                  </a:lnSpc>
                  <a:spcBef>
                    <a:spcPct val="0"/>
                  </a:spcBef>
                  <a:spcAft>
                    <a:spcPct val="0"/>
                  </a:spcAft>
                  <a:buNone/>
                </a:pPr>
                <a:r>
                  <a:rPr lang="en-US" altLang="en-US" sz="2000" dirty="0" smtClean="0">
                    <a:solidFill>
                      <a:schemeClr val="tx1"/>
                    </a:solidFill>
                  </a:rPr>
                  <a:t>g </a:t>
                </a:r>
                <a:r>
                  <a:rPr lang="en-US" altLang="en-US" sz="2000" dirty="0">
                    <a:solidFill>
                      <a:schemeClr val="tx1"/>
                    </a:solidFill>
                  </a:rPr>
                  <a:t>= acceleration due to gravity</a:t>
                </a:r>
              </a:p>
              <a:p>
                <a:pPr marL="0" indent="0">
                  <a:buNone/>
                </a:pPr>
                <a:r>
                  <a:rPr lang="en-US" sz="2000" b="1" dirty="0">
                    <a:solidFill>
                      <a:schemeClr val="accent1"/>
                    </a:solidFill>
                  </a:rPr>
                  <a:t>Pressure head</a:t>
                </a:r>
                <a:r>
                  <a:rPr lang="en-US" sz="2000" dirty="0">
                    <a:solidFill>
                      <a:schemeClr val="accent1"/>
                    </a:solidFill>
                  </a:rPr>
                  <a:t> is the height of a fluid column that would produce the same </a:t>
                </a:r>
                <a:r>
                  <a:rPr lang="en-US" sz="2000" dirty="0" smtClean="0">
                    <a:solidFill>
                      <a:schemeClr val="accent1"/>
                    </a:solidFill>
                  </a:rPr>
                  <a:t>pressure</a:t>
                </a:r>
                <a:endParaRPr lang="en-IN" sz="2000" dirty="0">
                  <a:solidFill>
                    <a:schemeClr val="accent1"/>
                  </a:solidFill>
                  <a:latin typeface="+mj-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3683" y="855678"/>
                <a:ext cx="6366294" cy="5796792"/>
              </a:xfrm>
              <a:blipFill rotWithShape="0">
                <a:blip r:embed="rId2"/>
                <a:stretch>
                  <a:fillRect l="-1054" t="-1052"/>
                </a:stretch>
              </a:blipFill>
            </p:spPr>
            <p:txBody>
              <a:bodyPr/>
              <a:lstStyle/>
              <a:p>
                <a:r>
                  <a:rPr lang="en-IN">
                    <a:noFill/>
                  </a:rPr>
                  <a:t> </a:t>
                </a:r>
              </a:p>
            </p:txBody>
          </p:sp>
        </mc:Fallback>
      </mc:AlternateContent>
      <p:sp>
        <p:nvSpPr>
          <p:cNvPr id="4" name="Rectangle 1"/>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4"/>
          <p:cNvSpPr/>
          <p:nvPr/>
        </p:nvSpPr>
        <p:spPr>
          <a:xfrm>
            <a:off x="4561266" y="3760206"/>
            <a:ext cx="1425677" cy="6935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800" b="1" dirty="0" smtClean="0"/>
              <a:t> P =</a:t>
            </a:r>
            <a:r>
              <a:rPr lang="el-GR" sz="2800" b="1" dirty="0" smtClean="0"/>
              <a:t> </a:t>
            </a:r>
            <a:r>
              <a:rPr lang="el-GR" sz="2800" b="1" dirty="0"/>
              <a:t>ρ</a:t>
            </a:r>
            <a:r>
              <a:rPr lang="en-IN" sz="2800" b="1" dirty="0"/>
              <a:t>gh</a:t>
            </a:r>
          </a:p>
        </p:txBody>
      </p:sp>
      <p:pic>
        <p:nvPicPr>
          <p:cNvPr id="6" name="Picture 5"/>
          <p:cNvPicPr>
            <a:picLocks noChangeAspect="1"/>
          </p:cNvPicPr>
          <p:nvPr/>
        </p:nvPicPr>
        <p:blipFill>
          <a:blip r:embed="rId3"/>
          <a:stretch>
            <a:fillRect/>
          </a:stretch>
        </p:blipFill>
        <p:spPr>
          <a:xfrm>
            <a:off x="6496440" y="184666"/>
            <a:ext cx="5772447" cy="4972306"/>
          </a:xfrm>
          <a:prstGeom prst="rect">
            <a:avLst/>
          </a:prstGeom>
        </p:spPr>
      </p:pic>
    </p:spTree>
    <p:extLst>
      <p:ext uri="{BB962C8B-B14F-4D97-AF65-F5344CB8AC3E}">
        <p14:creationId xmlns:p14="http://schemas.microsoft.com/office/powerpoint/2010/main" val="17385557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3477" y="-478116"/>
            <a:ext cx="10515600" cy="1325563"/>
          </a:xfrm>
        </p:spPr>
        <p:txBody>
          <a:bodyPr/>
          <a:lstStyle/>
          <a:p>
            <a:r>
              <a:rPr lang="en-US" dirty="0" smtClean="0">
                <a:solidFill>
                  <a:schemeClr val="accent1"/>
                </a:solidFill>
              </a:rPr>
              <a:t>Derivation of pressure head</a:t>
            </a:r>
            <a:endParaRPr lang="en-IN" dirty="0">
              <a:solidFill>
                <a:schemeClr val="accent1"/>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42048" y="390114"/>
                <a:ext cx="11849952" cy="6620286"/>
              </a:xfrm>
            </p:spPr>
            <p:txBody>
              <a:bodyPr>
                <a:normAutofit/>
              </a:bodyPr>
              <a:lstStyle/>
              <a:p>
                <a:r>
                  <a:rPr lang="en-IN" dirty="0" smtClean="0"/>
                  <a:t>Consider </a:t>
                </a:r>
                <a:r>
                  <a:rPr lang="en-IN" dirty="0"/>
                  <a:t>a small fluid element in a vertical column (say, in the atmosphere or inside a star):</a:t>
                </a:r>
              </a:p>
              <a:p>
                <a:pPr marL="0" indent="0">
                  <a:buNone/>
                </a:pPr>
                <a:r>
                  <a:rPr lang="en-IN" b="1" dirty="0">
                    <a:solidFill>
                      <a:schemeClr val="accent1"/>
                    </a:solidFill>
                  </a:rPr>
                  <a:t>1. </a:t>
                </a:r>
                <a:r>
                  <a:rPr lang="en-IN" b="1" dirty="0" smtClean="0">
                    <a:solidFill>
                      <a:schemeClr val="accent1"/>
                    </a:solidFill>
                  </a:rPr>
                  <a:t>Assumptions                                                         </a:t>
                </a:r>
                <a:r>
                  <a:rPr lang="en-IN" b="1" dirty="0">
                    <a:solidFill>
                      <a:schemeClr val="accent1"/>
                    </a:solidFill>
                  </a:rPr>
                  <a:t>2. Consider a Thin Slab of </a:t>
                </a:r>
                <a:r>
                  <a:rPr lang="en-IN" b="1" dirty="0" smtClean="0">
                    <a:solidFill>
                      <a:schemeClr val="accent1"/>
                    </a:solidFill>
                  </a:rPr>
                  <a:t>Fluid</a:t>
                </a:r>
                <a:endParaRPr lang="en-IN" b="1" dirty="0">
                  <a:solidFill>
                    <a:schemeClr val="accent1"/>
                  </a:solidFill>
                </a:endParaRPr>
              </a:p>
              <a:p>
                <a:r>
                  <a:rPr lang="en-IN" sz="2000" dirty="0"/>
                  <a:t>Fluid is at rest (no acceleration</a:t>
                </a:r>
                <a:r>
                  <a:rPr lang="en-IN" sz="2000" dirty="0" smtClean="0"/>
                  <a:t>)                                   Thickness</a:t>
                </a:r>
                <a:r>
                  <a:rPr lang="en-IN" sz="2000" dirty="0"/>
                  <a:t>: </a:t>
                </a:r>
                <a:r>
                  <a:rPr lang="en-IN" sz="2000" dirty="0" err="1" smtClean="0"/>
                  <a:t>dz</a:t>
                </a:r>
                <a:r>
                  <a:rPr lang="en-IN" sz="2000" dirty="0" smtClean="0"/>
                  <a:t>          </a:t>
                </a:r>
                <a:r>
                  <a:rPr lang="en-IN" sz="2000" dirty="0"/>
                  <a:t>Cross-sectional area: </a:t>
                </a:r>
                <a:r>
                  <a:rPr lang="en-IN" sz="2000" dirty="0" smtClean="0"/>
                  <a:t>A</a:t>
                </a:r>
                <a:endParaRPr lang="en-IN" sz="2000" dirty="0"/>
              </a:p>
              <a:p>
                <a:r>
                  <a:rPr lang="en-IN" sz="2000" dirty="0"/>
                  <a:t>Gravity acts </a:t>
                </a:r>
                <a:r>
                  <a:rPr lang="en-IN" sz="2000" dirty="0" smtClean="0"/>
                  <a:t>downward                                                 </a:t>
                </a:r>
                <a:r>
                  <a:rPr lang="en-IN" sz="2000" dirty="0"/>
                  <a:t>Volume: </a:t>
                </a:r>
                <a:r>
                  <a:rPr lang="en-IN" sz="2000" dirty="0" err="1"/>
                  <a:t>A⋅</a:t>
                </a:r>
                <a:r>
                  <a:rPr lang="en-IN" sz="2000" dirty="0" err="1" smtClean="0"/>
                  <a:t>dz</a:t>
                </a:r>
                <a:endParaRPr lang="en-IN" sz="2000" dirty="0" smtClean="0"/>
              </a:p>
              <a:p>
                <a:r>
                  <a:rPr lang="en-IN" sz="2000" dirty="0" smtClean="0"/>
                  <a:t> Pressure </a:t>
                </a:r>
                <a:r>
                  <a:rPr lang="en-IN" sz="2000" dirty="0"/>
                  <a:t>varies with </a:t>
                </a:r>
                <a:r>
                  <a:rPr lang="en-IN" sz="2000" dirty="0" smtClean="0"/>
                  <a:t>height                                         Mass</a:t>
                </a:r>
                <a:r>
                  <a:rPr lang="en-IN" sz="2000" dirty="0"/>
                  <a:t>: </a:t>
                </a:r>
                <a:r>
                  <a:rPr lang="el-GR" sz="2000" dirty="0"/>
                  <a:t>ρ⋅</a:t>
                </a:r>
                <a:r>
                  <a:rPr lang="en-IN" sz="2000" dirty="0" err="1"/>
                  <a:t>A⋅</a:t>
                </a:r>
                <a:r>
                  <a:rPr lang="en-IN" sz="2000" dirty="0" err="1" smtClean="0"/>
                  <a:t>dz</a:t>
                </a:r>
                <a:r>
                  <a:rPr lang="en-IN" sz="2000" dirty="0" smtClean="0"/>
                  <a:t> ( </a:t>
                </a:r>
                <a:r>
                  <a:rPr lang="el-GR" sz="2000" dirty="0" smtClean="0"/>
                  <a:t>ρ</a:t>
                </a:r>
                <a:r>
                  <a:rPr lang="en-US" sz="2000" dirty="0"/>
                  <a:t>(</a:t>
                </a:r>
                <a:r>
                  <a:rPr lang="en-IN" sz="2000" dirty="0" smtClean="0"/>
                  <a:t>rho) </a:t>
                </a:r>
                <a:r>
                  <a:rPr lang="en-IN" sz="2000" dirty="0"/>
                  <a:t>is the fluid </a:t>
                </a:r>
                <a:r>
                  <a:rPr lang="en-IN" sz="2000" dirty="0" smtClean="0"/>
                  <a:t>density)</a:t>
                </a:r>
              </a:p>
              <a:p>
                <a:pPr marL="0" indent="0">
                  <a:buNone/>
                </a:pPr>
                <a:r>
                  <a:rPr lang="en-IN" b="1" dirty="0"/>
                  <a:t> </a:t>
                </a:r>
                <a:r>
                  <a:rPr lang="en-IN" b="1" dirty="0" smtClean="0"/>
                  <a:t>                                               </a:t>
                </a:r>
                <a:r>
                  <a:rPr lang="en-IN" b="1" dirty="0" smtClean="0">
                    <a:solidFill>
                      <a:schemeClr val="accent1"/>
                    </a:solidFill>
                  </a:rPr>
                  <a:t>3. Forces Acting on the Slab</a:t>
                </a:r>
              </a:p>
              <a:p>
                <a:pPr marL="0" lvl="0" indent="0" algn="ctr" eaLnBrk="0" fontAlgn="base" hangingPunct="0">
                  <a:lnSpc>
                    <a:spcPct val="100000"/>
                  </a:lnSpc>
                  <a:spcBef>
                    <a:spcPct val="0"/>
                  </a:spcBef>
                  <a:spcAft>
                    <a:spcPct val="0"/>
                  </a:spcAft>
                  <a:buFontTx/>
                  <a:buChar char="•"/>
                </a:pPr>
                <a:r>
                  <a:rPr lang="en-US" altLang="en-US" sz="2000" b="1" dirty="0" smtClean="0"/>
                  <a:t>Pressure </a:t>
                </a:r>
                <a:r>
                  <a:rPr lang="en-US" altLang="en-US" sz="2000" b="1" dirty="0"/>
                  <a:t>from below</a:t>
                </a:r>
                <a:r>
                  <a:rPr lang="en-US" altLang="en-US" sz="2000" dirty="0"/>
                  <a:t>: P(z)⋅</a:t>
                </a:r>
                <a:r>
                  <a:rPr lang="en-US" altLang="en-US" sz="2000" dirty="0" smtClean="0"/>
                  <a:t>A       </a:t>
                </a:r>
                <a:r>
                  <a:rPr lang="en-US" altLang="en-US" sz="2000" dirty="0"/>
                  <a:t>(upward)</a:t>
                </a:r>
              </a:p>
              <a:p>
                <a:pPr marL="0" lvl="0" indent="0" algn="ctr" eaLnBrk="0" fontAlgn="base" hangingPunct="0">
                  <a:lnSpc>
                    <a:spcPct val="100000"/>
                  </a:lnSpc>
                  <a:spcBef>
                    <a:spcPct val="0"/>
                  </a:spcBef>
                  <a:spcAft>
                    <a:spcPct val="0"/>
                  </a:spcAft>
                  <a:buFontTx/>
                  <a:buChar char="•"/>
                </a:pPr>
                <a:r>
                  <a:rPr lang="en-US" altLang="en-US" sz="2000" b="1" dirty="0"/>
                  <a:t>Pressure from above</a:t>
                </a:r>
                <a:r>
                  <a:rPr lang="en-US" altLang="en-US" sz="2000" dirty="0"/>
                  <a:t>: P(</a:t>
                </a:r>
                <a:r>
                  <a:rPr lang="en-US" altLang="en-US" sz="2000" dirty="0" err="1"/>
                  <a:t>z+dz</a:t>
                </a:r>
                <a:r>
                  <a:rPr lang="en-US" altLang="en-US" sz="2000" dirty="0"/>
                  <a:t>)⋅</a:t>
                </a:r>
                <a:r>
                  <a:rPr lang="en-US" altLang="en-US" sz="2000" dirty="0" smtClean="0"/>
                  <a:t>A </a:t>
                </a:r>
                <a:r>
                  <a:rPr lang="en-US" altLang="en-US" sz="2000" dirty="0"/>
                  <a:t>(downward)</a:t>
                </a:r>
              </a:p>
              <a:p>
                <a:pPr marL="0" lvl="0" indent="0" algn="ctr" eaLnBrk="0" fontAlgn="base" hangingPunct="0">
                  <a:lnSpc>
                    <a:spcPct val="100000"/>
                  </a:lnSpc>
                  <a:spcBef>
                    <a:spcPct val="0"/>
                  </a:spcBef>
                  <a:spcAft>
                    <a:spcPct val="0"/>
                  </a:spcAft>
                  <a:buFontTx/>
                  <a:buChar char="•"/>
                </a:pPr>
                <a:r>
                  <a:rPr lang="en-US" altLang="en-US" sz="2000" b="1" dirty="0" smtClean="0"/>
                  <a:t>Gravitational </a:t>
                </a:r>
                <a:r>
                  <a:rPr lang="en-US" altLang="en-US" sz="2000" b="1" dirty="0"/>
                  <a:t>force</a:t>
                </a:r>
                <a:r>
                  <a:rPr lang="en-US" altLang="en-US" sz="2000" dirty="0"/>
                  <a:t>: </a:t>
                </a:r>
                <a:r>
                  <a:rPr lang="en-US" altLang="en-US" sz="2000" dirty="0" smtClean="0"/>
                  <a:t>    </a:t>
                </a:r>
                <a:r>
                  <a:rPr lang="en-US" altLang="en-US" sz="2000" dirty="0" err="1" smtClean="0"/>
                  <a:t>ρ</a:t>
                </a:r>
                <a:r>
                  <a:rPr lang="en-US" altLang="en-US" sz="2000" dirty="0" err="1"/>
                  <a:t>⋅A⋅dz⋅</a:t>
                </a:r>
                <a:r>
                  <a:rPr lang="en-US" altLang="en-US" sz="2000" dirty="0" err="1" smtClean="0"/>
                  <a:t>g</a:t>
                </a:r>
                <a:r>
                  <a:rPr lang="en-US" altLang="en-US" sz="2000" dirty="0" smtClean="0"/>
                  <a:t>       (downward)</a:t>
                </a:r>
              </a:p>
              <a:p>
                <a:pPr marL="0" lvl="0" indent="0" algn="ctr" eaLnBrk="0" fontAlgn="base" hangingPunct="0">
                  <a:lnSpc>
                    <a:spcPct val="100000"/>
                  </a:lnSpc>
                  <a:spcBef>
                    <a:spcPct val="0"/>
                  </a:spcBef>
                  <a:spcAft>
                    <a:spcPct val="0"/>
                  </a:spcAft>
                  <a:buFontTx/>
                  <a:buChar char="•"/>
                </a:pPr>
                <a:r>
                  <a:rPr lang="en-US" dirty="0" smtClean="0">
                    <a:solidFill>
                      <a:schemeClr val="accent1"/>
                    </a:solidFill>
                  </a:rPr>
                  <a:t>Net forces =</a:t>
                </a:r>
                <a:r>
                  <a:rPr lang="pl-PL" dirty="0"/>
                  <a:t> </a:t>
                </a:r>
                <a:r>
                  <a:rPr lang="en-US" dirty="0" smtClean="0"/>
                  <a:t>  </a:t>
                </a:r>
                <a:r>
                  <a:rPr lang="en-US" dirty="0" smtClean="0">
                    <a:solidFill>
                      <a:schemeClr val="accent1"/>
                    </a:solidFill>
                  </a:rPr>
                  <a:t> </a:t>
                </a:r>
                <a:r>
                  <a:rPr lang="pl-PL" dirty="0" smtClean="0">
                    <a:solidFill>
                      <a:schemeClr val="accent1"/>
                    </a:solidFill>
                  </a:rPr>
                  <a:t>P(z</a:t>
                </a:r>
                <a:r>
                  <a:rPr lang="pl-PL" dirty="0">
                    <a:solidFill>
                      <a:schemeClr val="accent1"/>
                    </a:solidFill>
                  </a:rPr>
                  <a:t>)⋅</a:t>
                </a:r>
                <a:r>
                  <a:rPr lang="pl-PL" dirty="0" smtClean="0">
                    <a:solidFill>
                      <a:schemeClr val="accent1"/>
                    </a:solidFill>
                  </a:rPr>
                  <a:t>A</a:t>
                </a:r>
                <a:r>
                  <a:rPr lang="en-US" dirty="0" smtClean="0">
                    <a:solidFill>
                      <a:schemeClr val="accent1"/>
                    </a:solidFill>
                  </a:rPr>
                  <a:t>   </a:t>
                </a:r>
                <a:r>
                  <a:rPr lang="pl-PL" dirty="0" smtClean="0">
                    <a:solidFill>
                      <a:schemeClr val="accent1"/>
                    </a:solidFill>
                  </a:rPr>
                  <a:t>−</a:t>
                </a:r>
                <a:r>
                  <a:rPr lang="en-US" dirty="0" smtClean="0">
                    <a:solidFill>
                      <a:schemeClr val="accent1"/>
                    </a:solidFill>
                  </a:rPr>
                  <a:t>    </a:t>
                </a:r>
                <a:r>
                  <a:rPr lang="pl-PL" dirty="0" smtClean="0">
                    <a:solidFill>
                      <a:schemeClr val="accent1"/>
                    </a:solidFill>
                  </a:rPr>
                  <a:t>P(z+dz</a:t>
                </a:r>
                <a:r>
                  <a:rPr lang="pl-PL" dirty="0">
                    <a:solidFill>
                      <a:schemeClr val="accent1"/>
                    </a:solidFill>
                  </a:rPr>
                  <a:t>)⋅</a:t>
                </a:r>
                <a:r>
                  <a:rPr lang="pl-PL" dirty="0" smtClean="0">
                    <a:solidFill>
                      <a:schemeClr val="accent1"/>
                    </a:solidFill>
                  </a:rPr>
                  <a:t>A</a:t>
                </a:r>
                <a:r>
                  <a:rPr lang="en-US" dirty="0" smtClean="0">
                    <a:solidFill>
                      <a:schemeClr val="accent1"/>
                    </a:solidFill>
                  </a:rPr>
                  <a:t>     </a:t>
                </a:r>
                <a:r>
                  <a:rPr lang="pl-PL" dirty="0" smtClean="0">
                    <a:solidFill>
                      <a:schemeClr val="accent1"/>
                    </a:solidFill>
                  </a:rPr>
                  <a:t>−</a:t>
                </a:r>
                <a:r>
                  <a:rPr lang="en-US" dirty="0" smtClean="0">
                    <a:solidFill>
                      <a:schemeClr val="accent1"/>
                    </a:solidFill>
                  </a:rPr>
                  <a:t>      </a:t>
                </a:r>
                <a:r>
                  <a:rPr lang="pl-PL" dirty="0" smtClean="0">
                    <a:solidFill>
                      <a:schemeClr val="accent1"/>
                    </a:solidFill>
                  </a:rPr>
                  <a:t>ρ</a:t>
                </a:r>
                <a:r>
                  <a:rPr lang="pl-PL" dirty="0">
                    <a:solidFill>
                      <a:schemeClr val="accent1"/>
                    </a:solidFill>
                  </a:rPr>
                  <a:t>⋅A⋅dz⋅</a:t>
                </a:r>
                <a:r>
                  <a:rPr lang="pl-PL" dirty="0" smtClean="0">
                    <a:solidFill>
                      <a:schemeClr val="accent1"/>
                    </a:solidFill>
                  </a:rPr>
                  <a:t>g</a:t>
                </a:r>
                <a:r>
                  <a:rPr lang="en-US" dirty="0" smtClean="0">
                    <a:solidFill>
                      <a:schemeClr val="accent1"/>
                    </a:solidFill>
                  </a:rPr>
                  <a:t>        </a:t>
                </a:r>
                <a:r>
                  <a:rPr lang="pl-PL" dirty="0" smtClean="0">
                    <a:solidFill>
                      <a:schemeClr val="accent1"/>
                    </a:solidFill>
                  </a:rPr>
                  <a:t>=0</a:t>
                </a:r>
                <a:endParaRPr lang="en-US" dirty="0" smtClean="0">
                  <a:solidFill>
                    <a:schemeClr val="accent1"/>
                  </a:solidFill>
                </a:endParaRPr>
              </a:p>
              <a:p>
                <a:pPr marL="0" lvl="0" indent="0" eaLnBrk="0" fontAlgn="base" hangingPunct="0">
                  <a:lnSpc>
                    <a:spcPct val="100000"/>
                  </a:lnSpc>
                  <a:spcBef>
                    <a:spcPct val="0"/>
                  </a:spcBef>
                  <a:spcAft>
                    <a:spcPct val="0"/>
                  </a:spcAft>
                  <a:buNone/>
                </a:pPr>
                <a:r>
                  <a:rPr lang="en-US" dirty="0" smtClean="0">
                    <a:solidFill>
                      <a:schemeClr val="accent1"/>
                    </a:solidFill>
                  </a:rPr>
                  <a:t>Divide by A                                  =    </a:t>
                </a:r>
                <a:r>
                  <a:rPr lang="pl-PL" dirty="0" smtClean="0">
                    <a:solidFill>
                      <a:schemeClr val="accent1"/>
                    </a:solidFill>
                  </a:rPr>
                  <a:t>P(z)</a:t>
                </a:r>
                <a:r>
                  <a:rPr lang="en-US" dirty="0" smtClean="0">
                    <a:solidFill>
                      <a:schemeClr val="accent1"/>
                    </a:solidFill>
                  </a:rPr>
                  <a:t>       </a:t>
                </a:r>
                <a:r>
                  <a:rPr lang="pl-PL" dirty="0" smtClean="0">
                    <a:solidFill>
                      <a:schemeClr val="accent1"/>
                    </a:solidFill>
                  </a:rPr>
                  <a:t>−</a:t>
                </a:r>
                <a:r>
                  <a:rPr lang="en-US" dirty="0" smtClean="0">
                    <a:solidFill>
                      <a:schemeClr val="accent1"/>
                    </a:solidFill>
                  </a:rPr>
                  <a:t>    </a:t>
                </a:r>
                <a:r>
                  <a:rPr lang="pl-PL" dirty="0">
                    <a:solidFill>
                      <a:schemeClr val="accent1"/>
                    </a:solidFill>
                  </a:rPr>
                  <a:t>P(z+dz</a:t>
                </a:r>
                <a:r>
                  <a:rPr lang="pl-PL" dirty="0" smtClean="0">
                    <a:solidFill>
                      <a:schemeClr val="accent1"/>
                    </a:solidFill>
                  </a:rPr>
                  <a:t>)</a:t>
                </a:r>
                <a:r>
                  <a:rPr lang="en-US" dirty="0" smtClean="0">
                    <a:solidFill>
                      <a:schemeClr val="accent1"/>
                    </a:solidFill>
                  </a:rPr>
                  <a:t>         </a:t>
                </a:r>
                <a:r>
                  <a:rPr lang="pl-PL" dirty="0">
                    <a:solidFill>
                      <a:schemeClr val="accent1"/>
                    </a:solidFill>
                  </a:rPr>
                  <a:t>−</a:t>
                </a:r>
                <a:r>
                  <a:rPr lang="en-US" dirty="0">
                    <a:solidFill>
                      <a:schemeClr val="accent1"/>
                    </a:solidFill>
                  </a:rPr>
                  <a:t>    </a:t>
                </a:r>
                <a:r>
                  <a:rPr lang="en-US" dirty="0" smtClean="0">
                    <a:solidFill>
                      <a:schemeClr val="accent1"/>
                    </a:solidFill>
                  </a:rPr>
                  <a:t>  </a:t>
                </a:r>
                <a:r>
                  <a:rPr lang="pl-PL" dirty="0">
                    <a:solidFill>
                      <a:schemeClr val="accent1"/>
                    </a:solidFill>
                  </a:rPr>
                  <a:t>ρ</a:t>
                </a:r>
                <a:r>
                  <a:rPr lang="pl-PL" dirty="0" smtClean="0">
                    <a:solidFill>
                      <a:schemeClr val="accent1"/>
                    </a:solidFill>
                  </a:rPr>
                  <a:t>⋅dz</a:t>
                </a:r>
                <a:r>
                  <a:rPr lang="pl-PL" dirty="0">
                    <a:solidFill>
                      <a:schemeClr val="accent1"/>
                    </a:solidFill>
                  </a:rPr>
                  <a:t>⋅</a:t>
                </a:r>
                <a:r>
                  <a:rPr lang="pl-PL" dirty="0" smtClean="0">
                    <a:solidFill>
                      <a:schemeClr val="accent1"/>
                    </a:solidFill>
                  </a:rPr>
                  <a:t>g</a:t>
                </a:r>
                <a:r>
                  <a:rPr lang="en-US" dirty="0" smtClean="0">
                    <a:solidFill>
                      <a:schemeClr val="accent1"/>
                    </a:solidFill>
                  </a:rPr>
                  <a:t>        =0</a:t>
                </a:r>
              </a:p>
              <a:p>
                <a:pPr marL="0" indent="0" eaLnBrk="0" fontAlgn="base" hangingPunct="0">
                  <a:lnSpc>
                    <a:spcPct val="100000"/>
                  </a:lnSpc>
                  <a:spcBef>
                    <a:spcPct val="0"/>
                  </a:spcBef>
                  <a:spcAft>
                    <a:spcPct val="0"/>
                  </a:spcAft>
                  <a:buNone/>
                </a:pPr>
                <a:r>
                  <a:rPr lang="en-US" dirty="0" smtClean="0">
                    <a:solidFill>
                      <a:schemeClr val="accent1"/>
                    </a:solidFill>
                  </a:rPr>
                  <a:t>                                                      =         </a:t>
                </a:r>
                <a14:m>
                  <m:oMath xmlns:m="http://schemas.openxmlformats.org/officeDocument/2006/math">
                    <m:f>
                      <m:fPr>
                        <m:ctrlPr>
                          <a:rPr lang="en-US" i="1" smtClean="0">
                            <a:solidFill>
                              <a:schemeClr val="accent1"/>
                            </a:solidFill>
                            <a:latin typeface="Cambria Math" panose="02040503050406030204" pitchFamily="18" charset="0"/>
                          </a:rPr>
                        </m:ctrlPr>
                      </m:fPr>
                      <m:num>
                        <m:r>
                          <m:rPr>
                            <m:nor/>
                          </m:rPr>
                          <a:rPr lang="en-US" dirty="0">
                            <a:solidFill>
                              <a:schemeClr val="accent1"/>
                            </a:solidFill>
                          </a:rPr>
                          <m:t>(</m:t>
                        </m:r>
                        <m:r>
                          <m:rPr>
                            <m:nor/>
                          </m:rPr>
                          <a:rPr lang="pl-PL" dirty="0">
                            <a:solidFill>
                              <a:schemeClr val="accent1"/>
                            </a:solidFill>
                          </a:rPr>
                          <m:t>P</m:t>
                        </m:r>
                        <m:r>
                          <m:rPr>
                            <m:nor/>
                          </m:rPr>
                          <a:rPr lang="pl-PL" dirty="0">
                            <a:solidFill>
                              <a:schemeClr val="accent1"/>
                            </a:solidFill>
                          </a:rPr>
                          <m:t>(</m:t>
                        </m:r>
                        <m:r>
                          <m:rPr>
                            <m:nor/>
                          </m:rPr>
                          <a:rPr lang="pl-PL" dirty="0">
                            <a:solidFill>
                              <a:schemeClr val="accent1"/>
                            </a:solidFill>
                          </a:rPr>
                          <m:t>z</m:t>
                        </m:r>
                        <m:r>
                          <m:rPr>
                            <m:nor/>
                          </m:rPr>
                          <a:rPr lang="pl-PL" dirty="0">
                            <a:solidFill>
                              <a:schemeClr val="accent1"/>
                            </a:solidFill>
                          </a:rPr>
                          <m:t>)</m:t>
                        </m:r>
                        <m:r>
                          <m:rPr>
                            <m:nor/>
                          </m:rPr>
                          <a:rPr lang="en-US" dirty="0">
                            <a:solidFill>
                              <a:schemeClr val="accent1"/>
                            </a:solidFill>
                          </a:rPr>
                          <m:t>   </m:t>
                        </m:r>
                        <m:r>
                          <m:rPr>
                            <m:nor/>
                          </m:rPr>
                          <a:rPr lang="pl-PL" dirty="0">
                            <a:solidFill>
                              <a:schemeClr val="accent1"/>
                            </a:solidFill>
                          </a:rPr>
                          <m:t>−</m:t>
                        </m:r>
                        <m:r>
                          <m:rPr>
                            <m:nor/>
                          </m:rPr>
                          <a:rPr lang="en-US" dirty="0">
                            <a:solidFill>
                              <a:schemeClr val="accent1"/>
                            </a:solidFill>
                          </a:rPr>
                          <m:t>    </m:t>
                        </m:r>
                        <m:r>
                          <m:rPr>
                            <m:nor/>
                          </m:rPr>
                          <a:rPr lang="pl-PL" dirty="0">
                            <a:solidFill>
                              <a:schemeClr val="accent1"/>
                            </a:solidFill>
                          </a:rPr>
                          <m:t>P</m:t>
                        </m:r>
                        <m:r>
                          <m:rPr>
                            <m:nor/>
                          </m:rPr>
                          <a:rPr lang="pl-PL" dirty="0">
                            <a:solidFill>
                              <a:schemeClr val="accent1"/>
                            </a:solidFill>
                          </a:rPr>
                          <m:t>(</m:t>
                        </m:r>
                        <m:r>
                          <m:rPr>
                            <m:nor/>
                          </m:rPr>
                          <a:rPr lang="pl-PL" dirty="0">
                            <a:solidFill>
                              <a:schemeClr val="accent1"/>
                            </a:solidFill>
                          </a:rPr>
                          <m:t>z</m:t>
                        </m:r>
                        <m:r>
                          <m:rPr>
                            <m:nor/>
                          </m:rPr>
                          <a:rPr lang="pl-PL" dirty="0">
                            <a:solidFill>
                              <a:schemeClr val="accent1"/>
                            </a:solidFill>
                          </a:rPr>
                          <m:t>+</m:t>
                        </m:r>
                        <m:r>
                          <m:rPr>
                            <m:nor/>
                          </m:rPr>
                          <a:rPr lang="pl-PL" dirty="0">
                            <a:solidFill>
                              <a:schemeClr val="accent1"/>
                            </a:solidFill>
                          </a:rPr>
                          <m:t>dz</m:t>
                        </m:r>
                        <m:r>
                          <m:rPr>
                            <m:nor/>
                          </m:rPr>
                          <a:rPr lang="pl-PL" dirty="0">
                            <a:solidFill>
                              <a:schemeClr val="accent1"/>
                            </a:solidFill>
                          </a:rPr>
                          <m:t>)</m:t>
                        </m:r>
                        <m:r>
                          <m:rPr>
                            <m:nor/>
                          </m:rPr>
                          <a:rPr lang="en-US" dirty="0">
                            <a:solidFill>
                              <a:schemeClr val="accent1"/>
                            </a:solidFill>
                          </a:rPr>
                          <m:t>)</m:t>
                        </m:r>
                      </m:num>
                      <m:den>
                        <m:r>
                          <m:rPr>
                            <m:nor/>
                          </m:rPr>
                          <a:rPr lang="pl-PL" dirty="0">
                            <a:solidFill>
                              <a:schemeClr val="accent1"/>
                            </a:solidFill>
                          </a:rPr>
                          <m:t>dz</m:t>
                        </m:r>
                      </m:den>
                    </m:f>
                  </m:oMath>
                </a14:m>
                <a:r>
                  <a:rPr lang="en-US" dirty="0" smtClean="0">
                    <a:solidFill>
                      <a:schemeClr val="accent1"/>
                    </a:solidFill>
                  </a:rPr>
                  <a:t>     =  </a:t>
                </a:r>
                <a:r>
                  <a:rPr lang="pl-PL" dirty="0" smtClean="0">
                    <a:solidFill>
                      <a:schemeClr val="accent1"/>
                    </a:solidFill>
                  </a:rPr>
                  <a:t>ρg</a:t>
                </a:r>
                <a:r>
                  <a:rPr lang="en-US" dirty="0" smtClean="0">
                    <a:solidFill>
                      <a:schemeClr val="accent1"/>
                    </a:solidFill>
                  </a:rPr>
                  <a:t>   </a:t>
                </a:r>
              </a:p>
              <a:p>
                <a:pPr marL="0" indent="0" eaLnBrk="0" fontAlgn="base" hangingPunct="0">
                  <a:lnSpc>
                    <a:spcPct val="100000"/>
                  </a:lnSpc>
                  <a:spcBef>
                    <a:spcPct val="0"/>
                  </a:spcBef>
                  <a:spcAft>
                    <a:spcPct val="0"/>
                  </a:spcAft>
                  <a:buNone/>
                </a:pPr>
                <a:r>
                  <a:rPr lang="en-US" dirty="0" smtClean="0">
                    <a:solidFill>
                      <a:schemeClr val="accent1"/>
                    </a:solidFill>
                  </a:rPr>
                  <a:t>                                        </a:t>
                </a:r>
                <a:r>
                  <a:rPr lang="en-US" dirty="0"/>
                  <a:t>Now, take the limit as dz→0</a:t>
                </a:r>
                <a:r>
                  <a:rPr lang="en-US" dirty="0" smtClean="0">
                    <a:solidFill>
                      <a:schemeClr val="accent1"/>
                    </a:solidFill>
                  </a:rPr>
                  <a:t>            =      </a:t>
                </a:r>
                <a14:m>
                  <m:oMath xmlns:m="http://schemas.openxmlformats.org/officeDocument/2006/math">
                    <m:f>
                      <m:fPr>
                        <m:ctrlPr>
                          <a:rPr lang="en-US" i="1" smtClean="0">
                            <a:solidFill>
                              <a:schemeClr val="accent1"/>
                            </a:solidFill>
                            <a:latin typeface="Cambria Math" panose="02040503050406030204" pitchFamily="18" charset="0"/>
                          </a:rPr>
                        </m:ctrlPr>
                      </m:fPr>
                      <m:num>
                        <m:r>
                          <a:rPr lang="en-US" b="0" i="1" smtClean="0">
                            <a:solidFill>
                              <a:schemeClr val="accent1"/>
                            </a:solidFill>
                            <a:latin typeface="Cambria Math" panose="02040503050406030204" pitchFamily="18" charset="0"/>
                          </a:rPr>
                          <m:t>𝑑𝑃</m:t>
                        </m:r>
                      </m:num>
                      <m:den>
                        <m:r>
                          <a:rPr lang="en-US" b="0" i="1" smtClean="0">
                            <a:solidFill>
                              <a:schemeClr val="accent1"/>
                            </a:solidFill>
                            <a:latin typeface="Cambria Math" panose="02040503050406030204" pitchFamily="18" charset="0"/>
                          </a:rPr>
                          <m:t>𝑑𝑧</m:t>
                        </m:r>
                      </m:den>
                    </m:f>
                  </m:oMath>
                </a14:m>
                <a:r>
                  <a:rPr lang="en-US" dirty="0" smtClean="0">
                    <a:solidFill>
                      <a:schemeClr val="accent1"/>
                    </a:solidFill>
                  </a:rPr>
                  <a:t>  = - </a:t>
                </a:r>
                <a:r>
                  <a:rPr lang="pl-PL" dirty="0">
                    <a:solidFill>
                      <a:schemeClr val="accent1"/>
                    </a:solidFill>
                  </a:rPr>
                  <a:t>ρg</a:t>
                </a:r>
                <a:r>
                  <a:rPr lang="en-US" dirty="0">
                    <a:solidFill>
                      <a:schemeClr val="accent1"/>
                    </a:solidFill>
                  </a:rPr>
                  <a:t> </a:t>
                </a:r>
              </a:p>
              <a:p>
                <a:pPr marL="0" lvl="0" indent="0" eaLnBrk="0" fontAlgn="base" hangingPunct="0">
                  <a:lnSpc>
                    <a:spcPct val="100000"/>
                  </a:lnSpc>
                  <a:spcBef>
                    <a:spcPct val="0"/>
                  </a:spcBef>
                  <a:spcAft>
                    <a:spcPct val="0"/>
                  </a:spcAft>
                  <a:buNone/>
                </a:pPr>
                <a:r>
                  <a:rPr lang="en-US" dirty="0"/>
                  <a:t>This is the </a:t>
                </a:r>
                <a:r>
                  <a:rPr lang="en-US" b="1" dirty="0"/>
                  <a:t>definition of a derivative</a:t>
                </a:r>
                <a:r>
                  <a:rPr lang="en-US" dirty="0"/>
                  <a:t> of pressure with respect to height </a:t>
                </a:r>
                <a:r>
                  <a:rPr lang="en-US" dirty="0" smtClean="0"/>
                  <a:t>z.</a:t>
                </a:r>
              </a:p>
              <a:p>
                <a:pPr marL="0" lvl="0" indent="0" eaLnBrk="0" fontAlgn="base" hangingPunct="0">
                  <a:lnSpc>
                    <a:spcPct val="100000"/>
                  </a:lnSpc>
                  <a:spcBef>
                    <a:spcPct val="0"/>
                  </a:spcBef>
                  <a:spcAft>
                    <a:spcPct val="0"/>
                  </a:spcAft>
                  <a:buNone/>
                </a:pPr>
                <a:r>
                  <a:rPr lang="en-US" dirty="0" smtClean="0">
                    <a:solidFill>
                      <a:schemeClr val="accent1"/>
                    </a:solidFill>
                  </a:rPr>
                  <a:t>                             “ – </a:t>
                </a:r>
                <a:r>
                  <a:rPr lang="en-US" dirty="0" err="1" smtClean="0">
                    <a:solidFill>
                      <a:schemeClr val="accent1"/>
                    </a:solidFill>
                  </a:rPr>
                  <a:t>Ve</a:t>
                </a:r>
                <a:r>
                  <a:rPr lang="en-US" dirty="0" smtClean="0">
                    <a:solidFill>
                      <a:schemeClr val="accent1"/>
                    </a:solidFill>
                  </a:rPr>
                  <a:t>”  sign is </a:t>
                </a:r>
                <a:r>
                  <a:rPr lang="en-US" dirty="0" err="1" smtClean="0">
                    <a:solidFill>
                      <a:schemeClr val="accent1"/>
                    </a:solidFill>
                  </a:rPr>
                  <a:t>pressuse</a:t>
                </a:r>
                <a:r>
                  <a:rPr lang="en-US" dirty="0" smtClean="0">
                    <a:solidFill>
                      <a:schemeClr val="accent1"/>
                    </a:solidFill>
                  </a:rPr>
                  <a:t> decreases as altitude increases.</a:t>
                </a:r>
                <a:endParaRPr lang="en-US" dirty="0">
                  <a:solidFill>
                    <a:schemeClr val="accent1"/>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42048" y="390114"/>
                <a:ext cx="11849952" cy="6620286"/>
              </a:xfrm>
              <a:blipFill rotWithShape="0">
                <a:blip r:embed="rId2"/>
                <a:stretch>
                  <a:fillRect l="-772" t="-1289"/>
                </a:stretch>
              </a:blipFill>
            </p:spPr>
            <p:txBody>
              <a:bodyPr/>
              <a:lstStyle/>
              <a:p>
                <a:r>
                  <a:rPr lang="en-IN">
                    <a:noFill/>
                  </a:rPr>
                  <a:t> </a:t>
                </a:r>
              </a:p>
            </p:txBody>
          </p:sp>
        </mc:Fallback>
      </mc:AlternateContent>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5" name="Picture 4"/>
          <p:cNvPicPr>
            <a:picLocks noChangeAspect="1"/>
          </p:cNvPicPr>
          <p:nvPr/>
        </p:nvPicPr>
        <p:blipFill>
          <a:blip r:embed="rId3"/>
          <a:stretch>
            <a:fillRect/>
          </a:stretch>
        </p:blipFill>
        <p:spPr>
          <a:xfrm>
            <a:off x="9591205" y="5568014"/>
            <a:ext cx="2330570" cy="539778"/>
          </a:xfrm>
          <a:prstGeom prst="rect">
            <a:avLst/>
          </a:prstGeom>
        </p:spPr>
      </p:pic>
      <p:sp>
        <p:nvSpPr>
          <p:cNvPr id="6" name="TextBox 5"/>
          <p:cNvSpPr txBox="1"/>
          <p:nvPr/>
        </p:nvSpPr>
        <p:spPr>
          <a:xfrm>
            <a:off x="7826477" y="5086233"/>
            <a:ext cx="1494503" cy="636141"/>
          </a:xfrm>
          <a:prstGeom prst="rect">
            <a:avLst/>
          </a:prstGeom>
          <a:noFill/>
          <a:ln>
            <a:solidFill>
              <a:schemeClr val="accent1"/>
            </a:solidFill>
          </a:ln>
        </p:spPr>
        <p:txBody>
          <a:bodyPr wrap="square" rtlCol="0">
            <a:spAutoFit/>
          </a:bodyPr>
          <a:lstStyle/>
          <a:p>
            <a:endParaRPr lang="en-IN" dirty="0"/>
          </a:p>
        </p:txBody>
      </p:sp>
    </p:spTree>
    <p:extLst>
      <p:ext uri="{BB962C8B-B14F-4D97-AF65-F5344CB8AC3E}">
        <p14:creationId xmlns:p14="http://schemas.microsoft.com/office/powerpoint/2010/main" val="14044443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4643"/>
            <a:ext cx="10515600" cy="1325563"/>
          </a:xfrm>
        </p:spPr>
        <p:txBody>
          <a:bodyPr/>
          <a:lstStyle/>
          <a:p>
            <a:r>
              <a:rPr lang="en-US" dirty="0"/>
              <a:t>Hydrostatic </a:t>
            </a:r>
            <a:r>
              <a:rPr lang="en-US" dirty="0" smtClean="0"/>
              <a:t>equilibrium </a:t>
            </a:r>
            <a:r>
              <a:rPr lang="en-US" dirty="0"/>
              <a:t>Applications</a:t>
            </a:r>
            <a:endParaRPr lang="en-IN" dirty="0"/>
          </a:p>
        </p:txBody>
      </p:sp>
      <p:sp>
        <p:nvSpPr>
          <p:cNvPr id="3" name="Content Placeholder 2"/>
          <p:cNvSpPr>
            <a:spLocks noGrp="1"/>
          </p:cNvSpPr>
          <p:nvPr>
            <p:ph idx="1"/>
          </p:nvPr>
        </p:nvSpPr>
        <p:spPr>
          <a:xfrm>
            <a:off x="838200" y="884903"/>
            <a:ext cx="11216147" cy="5233066"/>
          </a:xfrm>
        </p:spPr>
        <p:txBody>
          <a:bodyPr/>
          <a:lstStyle/>
          <a:p>
            <a:r>
              <a:rPr lang="en-US" dirty="0" smtClean="0"/>
              <a:t>Applications—from </a:t>
            </a:r>
            <a:r>
              <a:rPr lang="en-US" dirty="0"/>
              <a:t>the depths of oceans to the hearts of stars</a:t>
            </a:r>
            <a:r>
              <a:rPr lang="en-US" dirty="0" smtClean="0"/>
              <a:t>.</a:t>
            </a:r>
          </a:p>
          <a:p>
            <a:pPr marL="0" indent="0">
              <a:buNone/>
            </a:pPr>
            <a:r>
              <a:rPr lang="en-US" dirty="0"/>
              <a:t> </a:t>
            </a:r>
            <a:r>
              <a:rPr lang="en-US" dirty="0" smtClean="0"/>
              <a:t>    </a:t>
            </a:r>
            <a:r>
              <a:rPr lang="en-US" dirty="0"/>
              <a:t>Here’s how it shows up in real life</a:t>
            </a:r>
            <a:r>
              <a:rPr lang="en-US" dirty="0" smtClean="0"/>
              <a:t>:</a:t>
            </a:r>
          </a:p>
          <a:p>
            <a:pPr lvl="0"/>
            <a:r>
              <a:rPr lang="en-US" altLang="en-US" sz="2000" b="1" dirty="0" smtClean="0">
                <a:latin typeface="Arial" panose="020B0604020202020204" pitchFamily="34" charset="0"/>
                <a:cs typeface="Arial" panose="020B0604020202020204" pitchFamily="34" charset="0"/>
              </a:rPr>
              <a:t>Civil </a:t>
            </a:r>
            <a:r>
              <a:rPr lang="en-US" altLang="en-US" sz="2000" b="1" dirty="0">
                <a:latin typeface="Arial" panose="020B0604020202020204" pitchFamily="34" charset="0"/>
                <a:cs typeface="Arial" panose="020B0604020202020204" pitchFamily="34" charset="0"/>
              </a:rPr>
              <a:t>engineering</a:t>
            </a:r>
            <a:r>
              <a:rPr lang="en-US" altLang="en-US" sz="2000" dirty="0">
                <a:latin typeface="Arial" panose="020B0604020202020204" pitchFamily="34" charset="0"/>
                <a:cs typeface="Arial" panose="020B0604020202020204" pitchFamily="34" charset="0"/>
              </a:rPr>
              <a:t>: Used in designing dams, water tanks, and hydraulic systems </a:t>
            </a:r>
            <a:r>
              <a:rPr lang="en-US" altLang="en-US" sz="2000" dirty="0">
                <a:solidFill>
                  <a:schemeClr val="accent1"/>
                </a:solidFill>
                <a:latin typeface="Arial" panose="020B0604020202020204" pitchFamily="34" charset="0"/>
                <a:cs typeface="Arial" panose="020B0604020202020204" pitchFamily="34" charset="0"/>
              </a:rPr>
              <a:t>to ensure structural stability under fluid pressure</a:t>
            </a:r>
          </a:p>
          <a:p>
            <a:pPr marL="0" lvl="0" indent="0" eaLnBrk="0" fontAlgn="base" hangingPunct="0">
              <a:lnSpc>
                <a:spcPct val="100000"/>
              </a:lnSpc>
              <a:spcBef>
                <a:spcPct val="0"/>
              </a:spcBef>
              <a:spcAft>
                <a:spcPct val="0"/>
              </a:spcAft>
              <a:buFontTx/>
              <a:buChar char="•"/>
            </a:pPr>
            <a:r>
              <a:rPr lang="en-US" sz="2000" dirty="0" smtClean="0">
                <a:latin typeface="Arial" panose="020B0604020202020204" pitchFamily="34" charset="0"/>
                <a:cs typeface="Arial" panose="020B0604020202020204" pitchFamily="34" charset="0"/>
              </a:rPr>
              <a:t> </a:t>
            </a:r>
            <a:r>
              <a:rPr lang="en-US" altLang="en-US" sz="2000" b="1" dirty="0">
                <a:latin typeface="Arial" panose="020B0604020202020204" pitchFamily="34" charset="0"/>
                <a:cs typeface="Arial" panose="020B0604020202020204" pitchFamily="34" charset="0"/>
              </a:rPr>
              <a:t>Atmospheric science</a:t>
            </a:r>
            <a:r>
              <a:rPr lang="en-US" altLang="en-US" sz="2000" dirty="0">
                <a:latin typeface="Arial" panose="020B0604020202020204" pitchFamily="34" charset="0"/>
                <a:cs typeface="Arial" panose="020B0604020202020204" pitchFamily="34" charset="0"/>
              </a:rPr>
              <a:t>: Explains </a:t>
            </a:r>
            <a:r>
              <a:rPr lang="en-US" altLang="en-US" sz="2000" dirty="0">
                <a:solidFill>
                  <a:schemeClr val="accent1"/>
                </a:solidFill>
                <a:latin typeface="Arial" panose="020B0604020202020204" pitchFamily="34" charset="0"/>
                <a:cs typeface="Arial" panose="020B0604020202020204" pitchFamily="34" charset="0"/>
              </a:rPr>
              <a:t>how pressure decreases with altitude</a:t>
            </a:r>
            <a:r>
              <a:rPr lang="en-US" altLang="en-US" sz="2000" dirty="0">
                <a:latin typeface="Arial" panose="020B0604020202020204" pitchFamily="34" charset="0"/>
                <a:cs typeface="Arial" panose="020B0604020202020204" pitchFamily="34" charset="0"/>
              </a:rPr>
              <a:t>, </a:t>
            </a:r>
            <a:endParaRPr lang="en-US" altLang="en-US" sz="2000" dirty="0" smtClean="0">
              <a:latin typeface="Arial" panose="020B0604020202020204" pitchFamily="34" charset="0"/>
              <a:cs typeface="Arial" panose="020B0604020202020204" pitchFamily="34" charset="0"/>
            </a:endParaRPr>
          </a:p>
          <a:p>
            <a:pPr marL="0" lvl="0" indent="0" eaLnBrk="0" fontAlgn="base" hangingPunct="0">
              <a:lnSpc>
                <a:spcPct val="100000"/>
              </a:lnSpc>
              <a:spcBef>
                <a:spcPct val="0"/>
              </a:spcBef>
              <a:spcAft>
                <a:spcPct val="0"/>
              </a:spcAft>
              <a:buNone/>
            </a:pPr>
            <a:r>
              <a:rPr lang="en-US" altLang="en-US" sz="2000" dirty="0" smtClean="0">
                <a:latin typeface="Arial" panose="020B0604020202020204" pitchFamily="34" charset="0"/>
                <a:cs typeface="Arial" panose="020B0604020202020204" pitchFamily="34" charset="0"/>
              </a:rPr>
              <a:t>                                          helping </a:t>
            </a:r>
            <a:r>
              <a:rPr lang="en-US" altLang="en-US" sz="2000" dirty="0">
                <a:solidFill>
                  <a:schemeClr val="accent4">
                    <a:lumMod val="75000"/>
                  </a:schemeClr>
                </a:solidFill>
                <a:latin typeface="Arial" panose="020B0604020202020204" pitchFamily="34" charset="0"/>
                <a:cs typeface="Arial" panose="020B0604020202020204" pitchFamily="34" charset="0"/>
              </a:rPr>
              <a:t>meteorologists predict weather patterns</a:t>
            </a:r>
            <a:r>
              <a:rPr lang="en-US" altLang="en-US" sz="2000" dirty="0">
                <a:latin typeface="Arial" panose="020B0604020202020204" pitchFamily="34" charset="0"/>
                <a:cs typeface="Arial" panose="020B0604020202020204" pitchFamily="34" charset="0"/>
              </a:rPr>
              <a:t>.</a:t>
            </a:r>
          </a:p>
          <a:p>
            <a:pPr marL="0" lvl="0" indent="0" eaLnBrk="0" fontAlgn="base" hangingPunct="0">
              <a:lnSpc>
                <a:spcPct val="100000"/>
              </a:lnSpc>
              <a:spcBef>
                <a:spcPct val="0"/>
              </a:spcBef>
              <a:spcAft>
                <a:spcPct val="0"/>
              </a:spcAft>
              <a:buFontTx/>
              <a:buChar char="•"/>
            </a:pPr>
            <a:r>
              <a:rPr lang="en-US" altLang="en-US" sz="2000" b="1" dirty="0" smtClean="0">
                <a:latin typeface="Arial" panose="020B0604020202020204" pitchFamily="34" charset="0"/>
                <a:cs typeface="Arial" panose="020B0604020202020204" pitchFamily="34" charset="0"/>
              </a:rPr>
              <a:t> Oceanography</a:t>
            </a:r>
            <a:r>
              <a:rPr lang="en-US" altLang="en-US" sz="2000" dirty="0">
                <a:latin typeface="Arial" panose="020B0604020202020204" pitchFamily="34" charset="0"/>
                <a:cs typeface="Arial" panose="020B0604020202020204" pitchFamily="34" charset="0"/>
              </a:rPr>
              <a:t>: Helps </a:t>
            </a:r>
            <a:r>
              <a:rPr lang="en-US" altLang="en-US" sz="2000" dirty="0">
                <a:solidFill>
                  <a:schemeClr val="accent1"/>
                </a:solidFill>
                <a:latin typeface="Arial" panose="020B0604020202020204" pitchFamily="34" charset="0"/>
                <a:cs typeface="Arial" panose="020B0604020202020204" pitchFamily="34" charset="0"/>
              </a:rPr>
              <a:t>model pressure variations with depth</a:t>
            </a:r>
            <a:r>
              <a:rPr lang="en-US" altLang="en-US" sz="2000" dirty="0" smtClean="0">
                <a:latin typeface="Arial" panose="020B0604020202020204" pitchFamily="34" charset="0"/>
                <a:cs typeface="Arial" panose="020B0604020202020204" pitchFamily="34" charset="0"/>
              </a:rPr>
              <a:t>,</a:t>
            </a:r>
          </a:p>
          <a:p>
            <a:pPr marL="0" lvl="0" indent="0" eaLnBrk="0" fontAlgn="base" hangingPunct="0">
              <a:lnSpc>
                <a:spcPct val="100000"/>
              </a:lnSpc>
              <a:spcBef>
                <a:spcPct val="0"/>
              </a:spcBef>
              <a:spcAft>
                <a:spcPct val="0"/>
              </a:spcAft>
              <a:buNone/>
            </a:pPr>
            <a:r>
              <a:rPr lang="en-US" altLang="en-US" sz="2000" dirty="0">
                <a:latin typeface="Arial" panose="020B0604020202020204" pitchFamily="34" charset="0"/>
                <a:cs typeface="Arial" panose="020B0604020202020204" pitchFamily="34" charset="0"/>
              </a:rPr>
              <a:t> </a:t>
            </a:r>
            <a:r>
              <a:rPr lang="en-US" altLang="en-US" sz="2000" dirty="0" smtClean="0">
                <a:latin typeface="Arial" panose="020B0604020202020204" pitchFamily="34" charset="0"/>
                <a:cs typeface="Arial" panose="020B0604020202020204" pitchFamily="34" charset="0"/>
              </a:rPr>
              <a:t>                                 </a:t>
            </a:r>
            <a:r>
              <a:rPr lang="en-US" altLang="en-US" sz="2000" dirty="0">
                <a:latin typeface="Arial" panose="020B0604020202020204" pitchFamily="34" charset="0"/>
                <a:cs typeface="Arial" panose="020B0604020202020204" pitchFamily="34" charset="0"/>
              </a:rPr>
              <a:t>crucial for </a:t>
            </a:r>
            <a:r>
              <a:rPr lang="en-US" altLang="en-US" sz="2000" dirty="0">
                <a:solidFill>
                  <a:schemeClr val="accent4">
                    <a:lumMod val="75000"/>
                  </a:schemeClr>
                </a:solidFill>
                <a:latin typeface="Arial" panose="020B0604020202020204" pitchFamily="34" charset="0"/>
                <a:cs typeface="Arial" panose="020B0604020202020204" pitchFamily="34" charset="0"/>
              </a:rPr>
              <a:t>submarine design </a:t>
            </a:r>
            <a:r>
              <a:rPr lang="en-US" altLang="en-US" sz="2000" dirty="0">
                <a:latin typeface="Arial" panose="020B0604020202020204" pitchFamily="34" charset="0"/>
                <a:cs typeface="Arial" panose="020B0604020202020204" pitchFamily="34" charset="0"/>
              </a:rPr>
              <a:t>and marine studies</a:t>
            </a:r>
            <a:r>
              <a:rPr lang="en-US" altLang="en-US" sz="2000" dirty="0" smtClean="0">
                <a:latin typeface="Arial" panose="020B0604020202020204" pitchFamily="34" charset="0"/>
                <a:cs typeface="Arial" panose="020B0604020202020204" pitchFamily="34" charset="0"/>
              </a:rPr>
              <a:t>.</a:t>
            </a:r>
          </a:p>
          <a:p>
            <a:pPr marL="0" lvl="0" indent="0" eaLnBrk="0" fontAlgn="base" hangingPunct="0">
              <a:lnSpc>
                <a:spcPct val="100000"/>
              </a:lnSpc>
              <a:spcBef>
                <a:spcPct val="0"/>
              </a:spcBef>
              <a:spcAft>
                <a:spcPct val="0"/>
              </a:spcAft>
              <a:buFontTx/>
              <a:buChar char="•"/>
            </a:pPr>
            <a:r>
              <a:rPr lang="en-US" altLang="en-US" sz="2000" dirty="0">
                <a:latin typeface="Arial" panose="020B0604020202020204" pitchFamily="34" charset="0"/>
                <a:cs typeface="Arial" panose="020B0604020202020204" pitchFamily="34" charset="0"/>
              </a:rPr>
              <a:t> </a:t>
            </a:r>
            <a:r>
              <a:rPr lang="en-US" altLang="en-US" sz="2000" b="1" dirty="0" smtClean="0">
                <a:latin typeface="Arial" panose="020B0604020202020204" pitchFamily="34" charset="0"/>
                <a:cs typeface="Arial" panose="020B0604020202020204" pitchFamily="34" charset="0"/>
              </a:rPr>
              <a:t>Star </a:t>
            </a:r>
            <a:r>
              <a:rPr lang="en-US" altLang="en-US" sz="2000" b="1" dirty="0">
                <a:latin typeface="Arial" panose="020B0604020202020204" pitchFamily="34" charset="0"/>
                <a:cs typeface="Arial" panose="020B0604020202020204" pitchFamily="34" charset="0"/>
              </a:rPr>
              <a:t>formation</a:t>
            </a:r>
            <a:r>
              <a:rPr lang="en-US" altLang="en-US" sz="2000" dirty="0">
                <a:latin typeface="Arial" panose="020B0604020202020204" pitchFamily="34" charset="0"/>
                <a:cs typeface="Arial" panose="020B0604020202020204" pitchFamily="34" charset="0"/>
              </a:rPr>
              <a:t>: </a:t>
            </a:r>
            <a:r>
              <a:rPr lang="en-US" altLang="en-US" sz="2000" dirty="0">
                <a:solidFill>
                  <a:schemeClr val="accent1"/>
                </a:solidFill>
                <a:latin typeface="Arial" panose="020B0604020202020204" pitchFamily="34" charset="0"/>
                <a:cs typeface="Arial" panose="020B0604020202020204" pitchFamily="34" charset="0"/>
              </a:rPr>
              <a:t>Stars like our Sun maintain their shape by balancing inward gravity with outward pressure from nuclear fusion</a:t>
            </a:r>
            <a:r>
              <a:rPr lang="en-US" altLang="en-US" sz="2000" dirty="0">
                <a:latin typeface="Arial" panose="020B0604020202020204" pitchFamily="34" charset="0"/>
                <a:cs typeface="Arial" panose="020B0604020202020204" pitchFamily="34" charset="0"/>
              </a:rPr>
              <a:t>.</a:t>
            </a:r>
          </a:p>
          <a:p>
            <a:pPr marL="0" lvl="0" indent="0" eaLnBrk="0" fontAlgn="base" hangingPunct="0">
              <a:lnSpc>
                <a:spcPct val="100000"/>
              </a:lnSpc>
              <a:spcBef>
                <a:spcPct val="0"/>
              </a:spcBef>
              <a:spcAft>
                <a:spcPct val="0"/>
              </a:spcAft>
              <a:buFontTx/>
              <a:buChar char="•"/>
            </a:pPr>
            <a:r>
              <a:rPr lang="en-US" altLang="en-US" sz="2000" b="1" dirty="0">
                <a:latin typeface="Arial" panose="020B0604020202020204" pitchFamily="34" charset="0"/>
                <a:cs typeface="Arial" panose="020B0604020202020204" pitchFamily="34" charset="0"/>
              </a:rPr>
              <a:t>Planetary shapes</a:t>
            </a:r>
            <a:r>
              <a:rPr lang="en-US" altLang="en-US" sz="2000" dirty="0">
                <a:latin typeface="Arial" panose="020B0604020202020204" pitchFamily="34" charset="0"/>
                <a:cs typeface="Arial" panose="020B0604020202020204" pitchFamily="34" charset="0"/>
              </a:rPr>
              <a:t>: Determines </a:t>
            </a:r>
            <a:r>
              <a:rPr lang="en-US" altLang="en-US" sz="2000" dirty="0">
                <a:solidFill>
                  <a:schemeClr val="accent1"/>
                </a:solidFill>
                <a:latin typeface="Arial" panose="020B0604020202020204" pitchFamily="34" charset="0"/>
                <a:cs typeface="Arial" panose="020B0604020202020204" pitchFamily="34" charset="0"/>
              </a:rPr>
              <a:t>whether celestial bodies are spherical</a:t>
            </a:r>
            <a:r>
              <a:rPr lang="en-US" altLang="en-US" sz="2000" dirty="0" smtClean="0">
                <a:latin typeface="Arial" panose="020B0604020202020204" pitchFamily="34" charset="0"/>
                <a:cs typeface="Arial" panose="020B0604020202020204" pitchFamily="34" charset="0"/>
              </a:rPr>
              <a:t>—</a:t>
            </a:r>
          </a:p>
          <a:p>
            <a:pPr marL="0" lvl="0" indent="0" eaLnBrk="0" fontAlgn="base" hangingPunct="0">
              <a:lnSpc>
                <a:spcPct val="100000"/>
              </a:lnSpc>
              <a:spcBef>
                <a:spcPct val="0"/>
              </a:spcBef>
              <a:spcAft>
                <a:spcPct val="0"/>
              </a:spcAft>
              <a:buNone/>
            </a:pPr>
            <a:r>
              <a:rPr lang="en-US" altLang="en-US" sz="2000" dirty="0">
                <a:latin typeface="Arial" panose="020B0604020202020204" pitchFamily="34" charset="0"/>
                <a:cs typeface="Arial" panose="020B0604020202020204" pitchFamily="34" charset="0"/>
              </a:rPr>
              <a:t> </a:t>
            </a:r>
            <a:r>
              <a:rPr lang="en-US" altLang="en-US" sz="2000" dirty="0" smtClean="0">
                <a:latin typeface="Arial" panose="020B0604020202020204" pitchFamily="34" charset="0"/>
                <a:cs typeface="Arial" panose="020B0604020202020204" pitchFamily="34" charset="0"/>
              </a:rPr>
              <a:t>                             key </a:t>
            </a:r>
            <a:r>
              <a:rPr lang="en-US" altLang="en-US" sz="2000" dirty="0">
                <a:latin typeface="Arial" panose="020B0604020202020204" pitchFamily="34" charset="0"/>
                <a:cs typeface="Arial" panose="020B0604020202020204" pitchFamily="34" charset="0"/>
              </a:rPr>
              <a:t>to </a:t>
            </a:r>
            <a:r>
              <a:rPr lang="en-US" altLang="en-US" sz="2000" dirty="0">
                <a:solidFill>
                  <a:schemeClr val="accent4">
                    <a:lumMod val="75000"/>
                  </a:schemeClr>
                </a:solidFill>
                <a:latin typeface="Arial" panose="020B0604020202020204" pitchFamily="34" charset="0"/>
                <a:cs typeface="Arial" panose="020B0604020202020204" pitchFamily="34" charset="0"/>
              </a:rPr>
              <a:t>classifying planets vs. dwarf planets.</a:t>
            </a:r>
          </a:p>
          <a:p>
            <a:pPr marL="0" lvl="0" indent="0" eaLnBrk="0" fontAlgn="base" hangingPunct="0">
              <a:lnSpc>
                <a:spcPct val="100000"/>
              </a:lnSpc>
              <a:spcBef>
                <a:spcPct val="0"/>
              </a:spcBef>
              <a:spcAft>
                <a:spcPct val="0"/>
              </a:spcAft>
              <a:buFontTx/>
              <a:buChar char="•"/>
            </a:pPr>
            <a:r>
              <a:rPr lang="en-US" altLang="en-US" sz="2000" b="1" dirty="0">
                <a:latin typeface="Arial" panose="020B0604020202020204" pitchFamily="34" charset="0"/>
                <a:cs typeface="Arial" panose="020B0604020202020204" pitchFamily="34" charset="0"/>
              </a:rPr>
              <a:t>Stellar evolution</a:t>
            </a:r>
            <a:r>
              <a:rPr lang="en-US" altLang="en-US" sz="2000" dirty="0">
                <a:latin typeface="Arial" panose="020B0604020202020204" pitchFamily="34" charset="0"/>
                <a:cs typeface="Arial" panose="020B0604020202020204" pitchFamily="34" charset="0"/>
              </a:rPr>
              <a:t>: Predicts </a:t>
            </a:r>
            <a:r>
              <a:rPr lang="en-US" altLang="en-US" sz="2000" dirty="0">
                <a:solidFill>
                  <a:schemeClr val="accent1"/>
                </a:solidFill>
                <a:latin typeface="Arial" panose="020B0604020202020204" pitchFamily="34" charset="0"/>
                <a:cs typeface="Arial" panose="020B0604020202020204" pitchFamily="34" charset="0"/>
              </a:rPr>
              <a:t>how stars change over time based on shifts in internal pressure and gravity</a:t>
            </a:r>
          </a:p>
          <a:p>
            <a:pPr marL="0" lvl="0" indent="0" eaLnBrk="0" fontAlgn="base" hangingPunct="0">
              <a:lnSpc>
                <a:spcPct val="100000"/>
              </a:lnSpc>
              <a:spcBef>
                <a:spcPct val="0"/>
              </a:spcBef>
              <a:spcAft>
                <a:spcPct val="0"/>
              </a:spcAft>
              <a:buNone/>
            </a:pPr>
            <a:endParaRPr lang="en-US" altLang="en-US" dirty="0">
              <a:latin typeface="Arial" panose="020B0604020202020204" pitchFamily="34" charset="0"/>
            </a:endParaRPr>
          </a:p>
          <a:p>
            <a:endParaRPr lang="en-IN" dirty="0"/>
          </a:p>
        </p:txBody>
      </p:sp>
    </p:spTree>
    <p:extLst>
      <p:ext uri="{BB962C8B-B14F-4D97-AF65-F5344CB8AC3E}">
        <p14:creationId xmlns:p14="http://schemas.microsoft.com/office/powerpoint/2010/main" val="16218391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4741" y="-271317"/>
            <a:ext cx="10515600" cy="1325563"/>
          </a:xfrm>
        </p:spPr>
        <p:txBody>
          <a:bodyPr/>
          <a:lstStyle/>
          <a:p>
            <a:r>
              <a:rPr lang="en-US" i="1" dirty="0">
                <a:solidFill>
                  <a:schemeClr val="accent1">
                    <a:lumMod val="75000"/>
                  </a:schemeClr>
                </a:solidFill>
                <a:latin typeface="+mn-lt"/>
              </a:rPr>
              <a:t>The continuity equation</a:t>
            </a:r>
            <a:endParaRPr lang="en-IN" i="1" dirty="0">
              <a:solidFill>
                <a:schemeClr val="accent1">
                  <a:lumMod val="75000"/>
                </a:schemeClr>
              </a:solidFill>
              <a:latin typeface="+mn-lt"/>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35560" y="671119"/>
                <a:ext cx="11620466" cy="6509857"/>
              </a:xfrm>
            </p:spPr>
            <p:txBody>
              <a:bodyPr>
                <a:normAutofit fontScale="92500"/>
              </a:bodyPr>
              <a:lstStyle/>
              <a:p>
                <a:r>
                  <a:rPr lang="en-US" dirty="0" smtClean="0"/>
                  <a:t> </a:t>
                </a:r>
                <a:r>
                  <a:rPr lang="en-US" b="1" dirty="0">
                    <a:solidFill>
                      <a:schemeClr val="accent1">
                        <a:lumMod val="75000"/>
                      </a:schemeClr>
                    </a:solidFill>
                  </a:rPr>
                  <a:t>The continuity </a:t>
                </a:r>
                <a:r>
                  <a:rPr lang="en-US" b="1" dirty="0" smtClean="0">
                    <a:solidFill>
                      <a:schemeClr val="accent1">
                        <a:lumMod val="75000"/>
                      </a:schemeClr>
                    </a:solidFill>
                  </a:rPr>
                  <a:t>equation tells that when a fluid is passing though one inlet pipe / channel, with different cross sectional area finally will have only one mass flow rate. </a:t>
                </a:r>
              </a:p>
              <a:p>
                <a:r>
                  <a:rPr lang="en-US" dirty="0"/>
                  <a:t>So              </a:t>
                </a:r>
                <a14:m>
                  <m:oMath xmlns:m="http://schemas.openxmlformats.org/officeDocument/2006/math">
                    <m:f>
                      <m:fPr>
                        <m:ctrlPr>
                          <a:rPr lang="en-US" b="1" i="1">
                            <a:latin typeface="Cambria Math" panose="02040503050406030204" pitchFamily="18" charset="0"/>
                          </a:rPr>
                        </m:ctrlPr>
                      </m:fPr>
                      <m:num>
                        <m:r>
                          <a:rPr lang="en-US" b="1" i="1">
                            <a:latin typeface="Cambria Math" panose="02040503050406030204" pitchFamily="18" charset="0"/>
                          </a:rPr>
                          <m:t>𝒅</m:t>
                        </m:r>
                      </m:num>
                      <m:den>
                        <m:r>
                          <a:rPr lang="en-US" b="1" i="1">
                            <a:latin typeface="Cambria Math" panose="02040503050406030204" pitchFamily="18" charset="0"/>
                          </a:rPr>
                          <m:t>𝒅𝒕</m:t>
                        </m:r>
                      </m:den>
                    </m:f>
                  </m:oMath>
                </a14:m>
                <a:r>
                  <a:rPr lang="en-US" dirty="0" smtClean="0"/>
                  <a:t>(m) =   </a:t>
                </a:r>
                <a14:m>
                  <m:oMath xmlns:m="http://schemas.openxmlformats.org/officeDocument/2006/math">
                    <m:acc>
                      <m:accPr>
                        <m:chr m:val="̇"/>
                        <m:ctrlPr>
                          <a:rPr lang="en-US" b="1" i="1" smtClean="0">
                            <a:solidFill>
                              <a:schemeClr val="accent1">
                                <a:lumMod val="75000"/>
                              </a:schemeClr>
                            </a:solidFill>
                            <a:latin typeface="Cambria Math" panose="02040503050406030204" pitchFamily="18" charset="0"/>
                          </a:rPr>
                        </m:ctrlPr>
                      </m:accPr>
                      <m:e>
                        <m:r>
                          <a:rPr lang="en-US" b="1" i="1" smtClean="0">
                            <a:solidFill>
                              <a:schemeClr val="accent1">
                                <a:lumMod val="75000"/>
                              </a:schemeClr>
                            </a:solidFill>
                            <a:latin typeface="Cambria Math" panose="02040503050406030204" pitchFamily="18" charset="0"/>
                          </a:rPr>
                          <m:t>𝒎</m:t>
                        </m:r>
                        <m:r>
                          <a:rPr lang="en-US" b="1" i="1" smtClean="0">
                            <a:solidFill>
                              <a:schemeClr val="accent1">
                                <a:lumMod val="75000"/>
                              </a:schemeClr>
                            </a:solidFill>
                            <a:latin typeface="Cambria Math" panose="02040503050406030204" pitchFamily="18" charset="0"/>
                          </a:rPr>
                          <m:t> </m:t>
                        </m:r>
                      </m:e>
                    </m:acc>
                  </m:oMath>
                </a14:m>
                <a:r>
                  <a:rPr lang="en-US" b="1" dirty="0" smtClean="0">
                    <a:solidFill>
                      <a:schemeClr val="accent1">
                        <a:lumMod val="75000"/>
                      </a:schemeClr>
                    </a:solidFill>
                  </a:rPr>
                  <a:t>=  constant </a:t>
                </a:r>
              </a:p>
              <a:p>
                <a:r>
                  <a:rPr lang="en-US" dirty="0">
                    <a:solidFill>
                      <a:schemeClr val="accent1">
                        <a:lumMod val="75000"/>
                      </a:schemeClr>
                    </a:solidFill>
                  </a:rPr>
                  <a:t> </a:t>
                </a:r>
                <a:r>
                  <a:rPr lang="en-US" dirty="0" smtClean="0">
                    <a:solidFill>
                      <a:schemeClr val="accent1">
                        <a:lumMod val="75000"/>
                      </a:schemeClr>
                    </a:solidFill>
                  </a:rPr>
                  <a:t>                                </a:t>
                </a:r>
                <a:r>
                  <a:rPr lang="el-GR" b="1" dirty="0" smtClean="0">
                    <a:solidFill>
                      <a:schemeClr val="accent1">
                        <a:lumMod val="75000"/>
                      </a:schemeClr>
                    </a:solidFill>
                  </a:rPr>
                  <a:t>ρ </a:t>
                </a:r>
                <a:r>
                  <a:rPr lang="en-IN" b="1" dirty="0">
                    <a:solidFill>
                      <a:schemeClr val="accent1">
                        <a:lumMod val="75000"/>
                      </a:schemeClr>
                    </a:solidFill>
                  </a:rPr>
                  <a:t>A v = constant </a:t>
                </a:r>
                <a:endParaRPr lang="en-IN" dirty="0">
                  <a:solidFill>
                    <a:schemeClr val="accent1">
                      <a:lumMod val="75000"/>
                    </a:schemeClr>
                  </a:solidFill>
                </a:endParaRPr>
              </a:p>
              <a:p>
                <a:r>
                  <a:rPr lang="en-US" dirty="0" smtClean="0"/>
                  <a:t>The </a:t>
                </a:r>
                <a:r>
                  <a:rPr lang="en-US" dirty="0"/>
                  <a:t>continuity equation is a fundamental concept in fluid dynamics  </a:t>
                </a:r>
                <a:r>
                  <a:rPr lang="en-US" dirty="0" smtClean="0"/>
                  <a:t>                                                 that </a:t>
                </a:r>
                <a:r>
                  <a:rPr lang="en-US" dirty="0"/>
                  <a:t>expresses the </a:t>
                </a:r>
                <a:r>
                  <a:rPr lang="en-US" b="1" dirty="0"/>
                  <a:t>principle of conservation of </a:t>
                </a:r>
                <a:r>
                  <a:rPr lang="en-US" b="1" dirty="0" smtClean="0"/>
                  <a:t>mass</a:t>
                </a:r>
                <a:r>
                  <a:rPr lang="en-US" dirty="0" smtClean="0"/>
                  <a:t>.</a:t>
                </a:r>
                <a:endParaRPr lang="en-US" dirty="0"/>
              </a:p>
              <a:p>
                <a:r>
                  <a:rPr lang="en-US" dirty="0"/>
                  <a:t>The equation of continuity is simply </a:t>
                </a:r>
                <a:r>
                  <a:rPr lang="en-US" dirty="0" smtClean="0"/>
                  <a:t>                                                                                                     </a:t>
                </a:r>
              </a:p>
              <a:p>
                <a:r>
                  <a:rPr lang="en-US" dirty="0" smtClean="0"/>
                  <a:t>  </a:t>
                </a:r>
                <a:r>
                  <a:rPr lang="en-US" b="1" dirty="0" smtClean="0"/>
                  <a:t>a </a:t>
                </a:r>
                <a:r>
                  <a:rPr lang="en-US" b="1" dirty="0"/>
                  <a:t>mass balance of a fluid flowing through a stationary volume element</a:t>
                </a:r>
                <a:r>
                  <a:rPr lang="en-US" dirty="0"/>
                  <a:t>. It states that </a:t>
                </a:r>
                <a:r>
                  <a:rPr lang="en-US" b="1" dirty="0"/>
                  <a:t>the rate of mass accumulation </a:t>
                </a:r>
                <a:r>
                  <a:rPr lang="en-US" dirty="0"/>
                  <a:t>in this volume element equals the </a:t>
                </a:r>
                <a:r>
                  <a:rPr lang="en-US" b="1" dirty="0"/>
                  <a:t>rate of mass in </a:t>
                </a:r>
                <a:r>
                  <a:rPr lang="en-US" dirty="0"/>
                  <a:t>minus </a:t>
                </a:r>
                <a:r>
                  <a:rPr lang="en-US" b="1" dirty="0"/>
                  <a:t>the rate of mass out</a:t>
                </a:r>
                <a:r>
                  <a:rPr lang="en-US" b="1" dirty="0" smtClean="0"/>
                  <a:t>.</a:t>
                </a:r>
              </a:p>
              <a:p>
                <a:pPr marL="0" indent="0">
                  <a:buNone/>
                </a:pPr>
                <a:r>
                  <a:rPr lang="en-US" b="1" dirty="0" smtClean="0"/>
                  <a:t>                             </a:t>
                </a:r>
                <a14:m>
                  <m:oMath xmlns:m="http://schemas.openxmlformats.org/officeDocument/2006/math">
                    <m:f>
                      <m:fPr>
                        <m:ctrlPr>
                          <a:rPr lang="en-US" b="1" i="1" smtClean="0">
                            <a:latin typeface="Cambria Math" panose="02040503050406030204" pitchFamily="18" charset="0"/>
                          </a:rPr>
                        </m:ctrlPr>
                      </m:fPr>
                      <m:num>
                        <m:r>
                          <a:rPr lang="en-US" b="1" i="1" smtClean="0">
                            <a:latin typeface="Cambria Math" panose="02040503050406030204" pitchFamily="18" charset="0"/>
                          </a:rPr>
                          <m:t>𝒅</m:t>
                        </m:r>
                      </m:num>
                      <m:den>
                        <m:r>
                          <a:rPr lang="en-US" b="1" i="1" smtClean="0">
                            <a:latin typeface="Cambria Math" panose="02040503050406030204" pitchFamily="18" charset="0"/>
                          </a:rPr>
                          <m:t>𝒅𝒕</m:t>
                        </m:r>
                      </m:den>
                    </m:f>
                  </m:oMath>
                </a14:m>
                <a:r>
                  <a:rPr lang="en-US" b="1" dirty="0" smtClean="0"/>
                  <a:t> (Accumulation) =  </a:t>
                </a:r>
                <a14:m>
                  <m:oMath xmlns:m="http://schemas.openxmlformats.org/officeDocument/2006/math">
                    <m:acc>
                      <m:accPr>
                        <m:chr m:val="̇"/>
                        <m:ctrlPr>
                          <a:rPr lang="en-US" i="1">
                            <a:latin typeface="Cambria Math" panose="02040503050406030204" pitchFamily="18" charset="0"/>
                          </a:rPr>
                        </m:ctrlPr>
                      </m:accPr>
                      <m:e>
                        <m:r>
                          <a:rPr lang="en-US" b="1" i="1">
                            <a:latin typeface="Cambria Math" panose="02040503050406030204" pitchFamily="18" charset="0"/>
                          </a:rPr>
                          <m:t>𝒎</m:t>
                        </m:r>
                      </m:e>
                    </m:acc>
                    <m:r>
                      <a:rPr lang="en-US" b="1" i="0" baseline="-25000" smtClean="0">
                        <a:latin typeface="Cambria Math" panose="02040503050406030204" pitchFamily="18" charset="0"/>
                      </a:rPr>
                      <m:t>𝐢𝐧</m:t>
                    </m:r>
                    <m:r>
                      <a:rPr lang="en-US" b="0" i="0" smtClean="0">
                        <a:latin typeface="Cambria Math" panose="02040503050406030204" pitchFamily="18" charset="0"/>
                      </a:rPr>
                      <m:t>−  </m:t>
                    </m:r>
                  </m:oMath>
                </a14:m>
                <a:r>
                  <a:rPr lang="en-US" dirty="0" smtClean="0"/>
                  <a:t> </a:t>
                </a:r>
                <a14:m>
                  <m:oMath xmlns:m="http://schemas.openxmlformats.org/officeDocument/2006/math">
                    <m:acc>
                      <m:accPr>
                        <m:chr m:val="̇"/>
                        <m:ctrlPr>
                          <a:rPr lang="en-US" i="1">
                            <a:latin typeface="Cambria Math" panose="02040503050406030204" pitchFamily="18" charset="0"/>
                          </a:rPr>
                        </m:ctrlPr>
                      </m:accPr>
                      <m:e>
                        <m:r>
                          <a:rPr lang="en-US" b="1" i="1">
                            <a:latin typeface="Cambria Math" panose="02040503050406030204" pitchFamily="18" charset="0"/>
                          </a:rPr>
                          <m:t>𝒎</m:t>
                        </m:r>
                      </m:e>
                    </m:acc>
                  </m:oMath>
                </a14:m>
                <a:r>
                  <a:rPr lang="en-US" b="1" baseline="-25000" dirty="0"/>
                  <a:t> </a:t>
                </a:r>
                <a14:m>
                  <m:oMath xmlns:m="http://schemas.openxmlformats.org/officeDocument/2006/math">
                    <m:r>
                      <a:rPr lang="en-US" b="1" i="1" baseline="-25000" dirty="0" smtClean="0">
                        <a:latin typeface="Cambria Math" panose="02040503050406030204" pitchFamily="18" charset="0"/>
                      </a:rPr>
                      <m:t>𝒐𝒖𝒕</m:t>
                    </m:r>
                  </m:oMath>
                </a14:m>
                <a:endParaRPr lang="en-US" b="1" dirty="0" smtClean="0"/>
              </a:p>
              <a:p>
                <a:r>
                  <a:rPr lang="en-US" dirty="0" smtClean="0"/>
                  <a:t> </a:t>
                </a:r>
                <a:r>
                  <a:rPr lang="en-US" b="1" dirty="0" smtClean="0"/>
                  <a:t>—assuming </a:t>
                </a:r>
                <a:r>
                  <a:rPr lang="en-US" b="1" dirty="0"/>
                  <a:t>there's </a:t>
                </a:r>
                <a:r>
                  <a:rPr lang="en-US" b="1" dirty="0">
                    <a:solidFill>
                      <a:schemeClr val="accent1">
                        <a:lumMod val="75000"/>
                      </a:schemeClr>
                    </a:solidFill>
                  </a:rPr>
                  <a:t>no accumulation </a:t>
                </a:r>
                <a:r>
                  <a:rPr lang="en-US" b="1" dirty="0"/>
                  <a:t>or loss of mass in between</a:t>
                </a:r>
                <a:r>
                  <a:rPr lang="en-US" b="1" dirty="0" smtClean="0"/>
                  <a:t>.                   </a:t>
                </a:r>
              </a:p>
              <a:p>
                <a:pPr marL="0" indent="0">
                  <a:buNone/>
                </a:pPr>
                <a:r>
                  <a:rPr lang="en-US" b="1" dirty="0" smtClean="0"/>
                  <a:t>                                                        </a:t>
                </a:r>
                <a14:m>
                  <m:oMath xmlns:m="http://schemas.openxmlformats.org/officeDocument/2006/math">
                    <m:acc>
                      <m:accPr>
                        <m:chr m:val="̇"/>
                        <m:ctrlPr>
                          <a:rPr lang="en-US" b="1" i="1">
                            <a:solidFill>
                              <a:schemeClr val="accent1">
                                <a:lumMod val="75000"/>
                              </a:schemeClr>
                            </a:solidFill>
                            <a:latin typeface="Cambria Math" panose="02040503050406030204" pitchFamily="18" charset="0"/>
                          </a:rPr>
                        </m:ctrlPr>
                      </m:accPr>
                      <m:e>
                        <m:r>
                          <a:rPr lang="en-US" b="1" i="1">
                            <a:solidFill>
                              <a:schemeClr val="accent1">
                                <a:lumMod val="75000"/>
                              </a:schemeClr>
                            </a:solidFill>
                            <a:latin typeface="Cambria Math" panose="02040503050406030204" pitchFamily="18" charset="0"/>
                          </a:rPr>
                          <m:t>𝒎</m:t>
                        </m:r>
                        <m:r>
                          <a:rPr lang="en-US" b="1" i="1">
                            <a:solidFill>
                              <a:schemeClr val="accent1">
                                <a:lumMod val="75000"/>
                              </a:schemeClr>
                            </a:solidFill>
                            <a:latin typeface="Cambria Math" panose="02040503050406030204" pitchFamily="18" charset="0"/>
                          </a:rPr>
                          <m:t> </m:t>
                        </m:r>
                      </m:e>
                    </m:acc>
                  </m:oMath>
                </a14:m>
                <a:r>
                  <a:rPr lang="en-US" b="1" dirty="0" smtClean="0">
                    <a:solidFill>
                      <a:schemeClr val="accent1">
                        <a:lumMod val="75000"/>
                      </a:schemeClr>
                    </a:solidFill>
                  </a:rPr>
                  <a:t>=</a:t>
                </a:r>
                <a:r>
                  <a:rPr lang="en-US" dirty="0" smtClean="0">
                    <a:solidFill>
                      <a:schemeClr val="accent1">
                        <a:lumMod val="75000"/>
                      </a:schemeClr>
                    </a:solidFill>
                  </a:rPr>
                  <a:t> </a:t>
                </a:r>
                <a:r>
                  <a:rPr lang="el-GR" b="1" dirty="0" smtClean="0">
                    <a:solidFill>
                      <a:schemeClr val="accent1">
                        <a:lumMod val="75000"/>
                      </a:schemeClr>
                    </a:solidFill>
                  </a:rPr>
                  <a:t>ρ </a:t>
                </a:r>
                <a:r>
                  <a:rPr lang="en-IN" b="1" dirty="0">
                    <a:solidFill>
                      <a:schemeClr val="accent1">
                        <a:lumMod val="75000"/>
                      </a:schemeClr>
                    </a:solidFill>
                  </a:rPr>
                  <a:t>A v = </a:t>
                </a:r>
                <a:r>
                  <a:rPr lang="en-IN" b="1" dirty="0" smtClean="0">
                    <a:solidFill>
                      <a:schemeClr val="accent1">
                        <a:lumMod val="75000"/>
                      </a:schemeClr>
                    </a:solidFill>
                  </a:rPr>
                  <a:t>constant </a:t>
                </a:r>
                <a:r>
                  <a:rPr lang="en-US" b="1" dirty="0" smtClean="0">
                    <a:solidFill>
                      <a:schemeClr val="accent1">
                        <a:lumMod val="75000"/>
                      </a:schemeClr>
                    </a:solidFill>
                  </a:rPr>
                  <a:t>                                 </a:t>
                </a:r>
                <a:endParaRPr lang="en-IN" b="1" dirty="0" smtClean="0">
                  <a:solidFill>
                    <a:schemeClr val="accent1">
                      <a:lumMod val="75000"/>
                    </a:schemeClr>
                  </a:solidFill>
                </a:endParaRPr>
              </a:p>
              <a:p>
                <a:r>
                  <a:rPr lang="en-US" dirty="0" smtClean="0"/>
                  <a:t> </a:t>
                </a:r>
                <a:r>
                  <a:rPr lang="en-US" dirty="0"/>
                  <a:t>I</a:t>
                </a:r>
                <a:r>
                  <a:rPr lang="en-US" dirty="0" smtClean="0"/>
                  <a:t>f </a:t>
                </a:r>
                <a:r>
                  <a:rPr lang="en-US" dirty="0"/>
                  <a:t>the </a:t>
                </a:r>
                <a:r>
                  <a:rPr lang="en-US" b="1" dirty="0">
                    <a:solidFill>
                      <a:schemeClr val="accent1">
                        <a:lumMod val="75000"/>
                      </a:schemeClr>
                    </a:solidFill>
                  </a:rPr>
                  <a:t>fluid is incompressible</a:t>
                </a:r>
                <a:r>
                  <a:rPr lang="en-US" dirty="0"/>
                  <a:t>, the density will remain constant for steady flow. So, ρ1 =ρ2. </a:t>
                </a:r>
              </a:p>
              <a:p>
                <a:pPr marL="0" indent="0">
                  <a:buNone/>
                </a:pPr>
                <a:r>
                  <a:rPr lang="en-US" b="1" dirty="0"/>
                  <a:t> </a:t>
                </a:r>
                <a:r>
                  <a:rPr lang="en-US" b="1" dirty="0" smtClean="0"/>
                  <a:t>           The </a:t>
                </a:r>
                <a:r>
                  <a:rPr lang="en-US" b="1" dirty="0"/>
                  <a:t>continuity equation is given as: </a:t>
                </a:r>
                <a:r>
                  <a:rPr lang="en-US" b="1" dirty="0" smtClean="0"/>
                  <a:t> </a:t>
                </a:r>
                <a:r>
                  <a:rPr lang="en-US" b="1" dirty="0" smtClean="0">
                    <a:solidFill>
                      <a:schemeClr val="accent1">
                        <a:lumMod val="75000"/>
                      </a:schemeClr>
                    </a:solidFill>
                  </a:rPr>
                  <a:t>Av </a:t>
                </a:r>
                <a:r>
                  <a:rPr lang="en-US" b="1" dirty="0">
                    <a:solidFill>
                      <a:schemeClr val="accent1">
                        <a:lumMod val="75000"/>
                      </a:schemeClr>
                    </a:solidFill>
                  </a:rPr>
                  <a:t>= Constant.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35560" y="671119"/>
                <a:ext cx="11620466" cy="6509857"/>
              </a:xfrm>
              <a:blipFill rotWithShape="0">
                <a:blip r:embed="rId2"/>
                <a:stretch>
                  <a:fillRect l="-577" t="-1217" r="-525"/>
                </a:stretch>
              </a:blipFill>
            </p:spPr>
            <p:txBody>
              <a:bodyPr/>
              <a:lstStyle/>
              <a:p>
                <a:r>
                  <a:rPr lang="en-IN">
                    <a:noFill/>
                  </a:rPr>
                  <a:t> </a:t>
                </a:r>
              </a:p>
            </p:txBody>
          </p:sp>
        </mc:Fallback>
      </mc:AlternateContent>
      <p:pic>
        <p:nvPicPr>
          <p:cNvPr id="5" name="Picture 4"/>
          <p:cNvPicPr>
            <a:picLocks noChangeAspect="1"/>
          </p:cNvPicPr>
          <p:nvPr/>
        </p:nvPicPr>
        <p:blipFill>
          <a:blip r:embed="rId3"/>
          <a:stretch>
            <a:fillRect/>
          </a:stretch>
        </p:blipFill>
        <p:spPr>
          <a:xfrm>
            <a:off x="10896863" y="5508021"/>
            <a:ext cx="1211022" cy="1144426"/>
          </a:xfrm>
          <a:prstGeom prst="rect">
            <a:avLst/>
          </a:prstGeom>
        </p:spPr>
      </p:pic>
      <p:pic>
        <p:nvPicPr>
          <p:cNvPr id="6" name="Picture 5"/>
          <p:cNvPicPr>
            <a:picLocks noChangeAspect="1"/>
          </p:cNvPicPr>
          <p:nvPr/>
        </p:nvPicPr>
        <p:blipFill>
          <a:blip r:embed="rId4"/>
          <a:stretch>
            <a:fillRect/>
          </a:stretch>
        </p:blipFill>
        <p:spPr>
          <a:xfrm>
            <a:off x="7726262" y="1447248"/>
            <a:ext cx="4077048" cy="910057"/>
          </a:xfrm>
          <a:prstGeom prst="rect">
            <a:avLst/>
          </a:prstGeom>
        </p:spPr>
      </p:pic>
      <p:pic>
        <p:nvPicPr>
          <p:cNvPr id="7" name="Picture 6"/>
          <p:cNvPicPr>
            <a:picLocks noChangeAspect="1"/>
          </p:cNvPicPr>
          <p:nvPr/>
        </p:nvPicPr>
        <p:blipFill>
          <a:blip r:embed="rId5"/>
          <a:stretch>
            <a:fillRect/>
          </a:stretch>
        </p:blipFill>
        <p:spPr>
          <a:xfrm>
            <a:off x="8767293" y="2408585"/>
            <a:ext cx="2883048" cy="1016052"/>
          </a:xfrm>
          <a:prstGeom prst="rect">
            <a:avLst/>
          </a:prstGeom>
        </p:spPr>
      </p:pic>
    </p:spTree>
    <p:extLst>
      <p:ext uri="{BB962C8B-B14F-4D97-AF65-F5344CB8AC3E}">
        <p14:creationId xmlns:p14="http://schemas.microsoft.com/office/powerpoint/2010/main" val="2961050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5648"/>
            <a:ext cx="10515600" cy="903236"/>
          </a:xfrm>
        </p:spPr>
        <p:txBody>
          <a:bodyPr/>
          <a:lstStyle/>
          <a:p>
            <a:r>
              <a:rPr lang="en-US" dirty="0" smtClean="0"/>
              <a:t>Newton’s laws of motion </a:t>
            </a:r>
            <a:endParaRPr lang="en-IN" dirty="0"/>
          </a:p>
        </p:txBody>
      </p:sp>
      <p:sp>
        <p:nvSpPr>
          <p:cNvPr id="3" name="Content Placeholder 2"/>
          <p:cNvSpPr>
            <a:spLocks noGrp="1"/>
          </p:cNvSpPr>
          <p:nvPr>
            <p:ph idx="1"/>
          </p:nvPr>
        </p:nvSpPr>
        <p:spPr>
          <a:xfrm>
            <a:off x="631722" y="727588"/>
            <a:ext cx="11206316" cy="5889522"/>
          </a:xfrm>
        </p:spPr>
        <p:txBody>
          <a:bodyPr>
            <a:normAutofit lnSpcReduction="10000"/>
          </a:bodyPr>
          <a:lstStyle/>
          <a:p>
            <a:r>
              <a:rPr lang="en-US" dirty="0" smtClean="0"/>
              <a:t> </a:t>
            </a:r>
            <a:r>
              <a:rPr lang="en-US" b="1" dirty="0"/>
              <a:t>Newton’s First Law of Motion</a:t>
            </a:r>
            <a:r>
              <a:rPr lang="en-US" dirty="0"/>
              <a:t>—also known as the </a:t>
            </a:r>
            <a:r>
              <a:rPr lang="en-US" b="1" dirty="0"/>
              <a:t>Law of Inertia</a:t>
            </a:r>
            <a:r>
              <a:rPr lang="en-US" dirty="0"/>
              <a:t>—is all about how objects behave </a:t>
            </a:r>
            <a:r>
              <a:rPr lang="en-US" dirty="0" smtClean="0"/>
              <a:t>when force </a:t>
            </a:r>
            <a:r>
              <a:rPr lang="en-US" dirty="0"/>
              <a:t>is acting on them</a:t>
            </a:r>
            <a:r>
              <a:rPr lang="en-US" dirty="0" smtClean="0"/>
              <a:t>.</a:t>
            </a:r>
          </a:p>
          <a:p>
            <a:r>
              <a:rPr lang="en-US" dirty="0"/>
              <a:t> An object at rest stays at rest, and </a:t>
            </a:r>
            <a:r>
              <a:rPr lang="en-US" dirty="0" smtClean="0"/>
              <a:t>then set into </a:t>
            </a:r>
            <a:r>
              <a:rPr lang="en-US" dirty="0"/>
              <a:t>motion continues in uniform </a:t>
            </a:r>
            <a:r>
              <a:rPr lang="en-US" dirty="0" smtClean="0"/>
              <a:t>motion, only when </a:t>
            </a:r>
            <a:r>
              <a:rPr lang="en-US" dirty="0"/>
              <a:t>an external </a:t>
            </a:r>
            <a:r>
              <a:rPr lang="en-US" dirty="0" smtClean="0"/>
              <a:t>force is applied.  </a:t>
            </a:r>
            <a:r>
              <a:rPr lang="en-US" b="1" dirty="0" smtClean="0">
                <a:solidFill>
                  <a:schemeClr val="accent1">
                    <a:lumMod val="75000"/>
                  </a:schemeClr>
                </a:solidFill>
              </a:rPr>
              <a:t>F= m a </a:t>
            </a:r>
          </a:p>
          <a:p>
            <a:r>
              <a:rPr lang="en-US" dirty="0" smtClean="0"/>
              <a:t>Where</a:t>
            </a:r>
            <a:r>
              <a:rPr lang="en-US" b="1" dirty="0" smtClean="0"/>
              <a:t> </a:t>
            </a:r>
            <a:r>
              <a:rPr lang="en-US" dirty="0" smtClean="0"/>
              <a:t>f = force ;  m= mass ; a =acceleration.</a:t>
            </a:r>
          </a:p>
          <a:p>
            <a:r>
              <a:rPr lang="en-US" dirty="0" smtClean="0"/>
              <a:t>“If </a:t>
            </a:r>
            <a:r>
              <a:rPr lang="en-US" dirty="0"/>
              <a:t>nothing messes with me, I’m sticking to what I’m doing</a:t>
            </a:r>
            <a:r>
              <a:rPr lang="en-US" dirty="0" smtClean="0"/>
              <a:t>.”</a:t>
            </a:r>
          </a:p>
          <a:p>
            <a:r>
              <a:rPr lang="en-US" dirty="0"/>
              <a:t> </a:t>
            </a:r>
            <a:r>
              <a:rPr lang="en-US" b="1" dirty="0"/>
              <a:t>An object at rest stays at rest, and an object in motion stays in motion with the same speed and direction unless acted upon by an external force</a:t>
            </a:r>
            <a:r>
              <a:rPr lang="en-US" b="1" dirty="0" smtClean="0"/>
              <a:t>.</a:t>
            </a:r>
            <a:endParaRPr lang="en-US" dirty="0"/>
          </a:p>
          <a:p>
            <a:endParaRPr lang="en-US" b="1" dirty="0">
              <a:solidFill>
                <a:schemeClr val="accent1">
                  <a:lumMod val="75000"/>
                </a:schemeClr>
              </a:solidFill>
            </a:endParaRPr>
          </a:p>
          <a:p>
            <a:r>
              <a:rPr lang="en-US" b="1" dirty="0" smtClean="0"/>
              <a:t>Newton's </a:t>
            </a:r>
            <a:r>
              <a:rPr lang="en-US" b="1" dirty="0"/>
              <a:t>second law of motion </a:t>
            </a:r>
            <a:r>
              <a:rPr lang="en-US" dirty="0"/>
              <a:t>states that “Force is equal to the rate of change of momentum. For a constant mass, force equals mass times acceleration. </a:t>
            </a:r>
          </a:p>
          <a:p>
            <a:pPr marL="0" indent="0">
              <a:buNone/>
            </a:pPr>
            <a:r>
              <a:rPr lang="en-IN" dirty="0"/>
              <a:t> </a:t>
            </a:r>
            <a:r>
              <a:rPr lang="en-IN" dirty="0" smtClean="0"/>
              <a:t>                        Force </a:t>
            </a:r>
            <a:r>
              <a:rPr lang="en-IN" dirty="0"/>
              <a:t>= mass x acceleration </a:t>
            </a:r>
          </a:p>
          <a:p>
            <a:pPr marL="0" indent="0">
              <a:buNone/>
            </a:pPr>
            <a:r>
              <a:rPr lang="en-US" dirty="0"/>
              <a:t>Acceleration as rate of change of velocity with respect to time = dv/ </a:t>
            </a:r>
            <a:r>
              <a:rPr lang="en-US" dirty="0" err="1"/>
              <a:t>dt</a:t>
            </a:r>
            <a:r>
              <a:rPr lang="en-US" dirty="0"/>
              <a:t> </a:t>
            </a:r>
          </a:p>
          <a:p>
            <a:pPr marL="0" indent="0">
              <a:buNone/>
            </a:pPr>
            <a:r>
              <a:rPr lang="en-IN" dirty="0"/>
              <a:t>Force = m(dv/ </a:t>
            </a:r>
            <a:r>
              <a:rPr lang="en-IN" dirty="0" err="1"/>
              <a:t>dt</a:t>
            </a:r>
            <a:r>
              <a:rPr lang="en-IN" dirty="0"/>
              <a:t>) </a:t>
            </a:r>
          </a:p>
          <a:p>
            <a:pPr marL="0" indent="0">
              <a:buNone/>
            </a:pPr>
            <a:r>
              <a:rPr lang="en-US" dirty="0" smtClean="0"/>
              <a:t>            = </a:t>
            </a:r>
            <a:r>
              <a:rPr lang="en-US" dirty="0"/>
              <a:t>d(mv) </a:t>
            </a:r>
            <a:r>
              <a:rPr lang="en-US" dirty="0" err="1"/>
              <a:t>dt</a:t>
            </a:r>
            <a:r>
              <a:rPr lang="en-US" dirty="0"/>
              <a:t> </a:t>
            </a:r>
            <a:r>
              <a:rPr lang="en-US" dirty="0" smtClean="0"/>
              <a:t>    </a:t>
            </a:r>
            <a:r>
              <a:rPr lang="en-US" b="1" dirty="0"/>
              <a:t>rate of change of momentum. </a:t>
            </a:r>
            <a:r>
              <a:rPr lang="en-US" dirty="0"/>
              <a:t>	</a:t>
            </a:r>
          </a:p>
          <a:p>
            <a:endParaRPr lang="en-IN" dirty="0"/>
          </a:p>
        </p:txBody>
      </p:sp>
    </p:spTree>
    <p:extLst>
      <p:ext uri="{BB962C8B-B14F-4D97-AF65-F5344CB8AC3E}">
        <p14:creationId xmlns:p14="http://schemas.microsoft.com/office/powerpoint/2010/main" val="32225131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2965"/>
            <a:ext cx="10515600" cy="1325563"/>
          </a:xfrm>
        </p:spPr>
        <p:txBody>
          <a:bodyPr/>
          <a:lstStyle/>
          <a:p>
            <a:r>
              <a:rPr lang="en-US" dirty="0">
                <a:solidFill>
                  <a:schemeClr val="accent1"/>
                </a:solidFill>
              </a:rPr>
              <a:t>Bernoulli's Principle</a:t>
            </a:r>
            <a:endParaRPr lang="en-IN" dirty="0">
              <a:solidFill>
                <a:schemeClr val="accent1"/>
              </a:solidFill>
            </a:endParaRPr>
          </a:p>
        </p:txBody>
      </p:sp>
      <p:sp>
        <p:nvSpPr>
          <p:cNvPr id="3" name="Content Placeholder 2"/>
          <p:cNvSpPr>
            <a:spLocks noGrp="1"/>
          </p:cNvSpPr>
          <p:nvPr>
            <p:ph idx="1"/>
          </p:nvPr>
        </p:nvSpPr>
        <p:spPr>
          <a:xfrm>
            <a:off x="550607" y="695366"/>
            <a:ext cx="11366090" cy="5759962"/>
          </a:xfrm>
        </p:spPr>
        <p:txBody>
          <a:bodyPr>
            <a:normAutofit/>
          </a:bodyPr>
          <a:lstStyle/>
          <a:p>
            <a:r>
              <a:rPr lang="en-US" altLang="en-US" dirty="0" smtClean="0"/>
              <a:t>Bernoulli’s </a:t>
            </a:r>
            <a:r>
              <a:rPr lang="en-US" altLang="en-US" dirty="0"/>
              <a:t>equation is based on the </a:t>
            </a:r>
            <a:r>
              <a:rPr lang="en-US" altLang="en-US" b="1" dirty="0"/>
              <a:t>law of conservation of energy</a:t>
            </a:r>
            <a:r>
              <a:rPr lang="en-US" altLang="en-US" dirty="0"/>
              <a:t>. It says:</a:t>
            </a:r>
          </a:p>
          <a:p>
            <a:pPr marL="0" lvl="0" indent="0" algn="ctr" eaLnBrk="0" fontAlgn="base" hangingPunct="0">
              <a:lnSpc>
                <a:spcPct val="100000"/>
              </a:lnSpc>
              <a:spcBef>
                <a:spcPct val="0"/>
              </a:spcBef>
              <a:spcAft>
                <a:spcPct val="0"/>
              </a:spcAft>
              <a:buNone/>
            </a:pPr>
            <a:r>
              <a:rPr lang="en-US" altLang="en-US" b="1" dirty="0" smtClean="0"/>
              <a:t>       In </a:t>
            </a:r>
            <a:r>
              <a:rPr lang="en-US" altLang="en-US" b="1" dirty="0"/>
              <a:t>a steady, ideal flow of an incompressible fluid (no friction, no heat loss</a:t>
            </a:r>
            <a:r>
              <a:rPr lang="en-US" altLang="en-US" b="1" dirty="0" smtClean="0"/>
              <a:t>),                                                                                                                                                                                                                                     the </a:t>
            </a:r>
            <a:r>
              <a:rPr lang="en-US" altLang="en-US" b="1" dirty="0"/>
              <a:t>total mechanical energy at any two points along a streamline remains constant</a:t>
            </a:r>
            <a:r>
              <a:rPr lang="en-US" altLang="en-US" b="1" dirty="0" smtClean="0"/>
              <a:t>.</a:t>
            </a:r>
            <a:endParaRPr lang="en-US" dirty="0" smtClean="0"/>
          </a:p>
          <a:p>
            <a:pPr algn="ctr"/>
            <a:r>
              <a:rPr lang="en-US" altLang="en-US" dirty="0">
                <a:solidFill>
                  <a:schemeClr val="accent4">
                    <a:lumMod val="50000"/>
                  </a:schemeClr>
                </a:solidFill>
              </a:rPr>
              <a:t> </a:t>
            </a:r>
            <a:r>
              <a:rPr lang="en-US" altLang="en-US" sz="2000" b="1" dirty="0">
                <a:solidFill>
                  <a:schemeClr val="accent4">
                    <a:lumMod val="50000"/>
                  </a:schemeClr>
                </a:solidFill>
                <a:latin typeface="Arial" panose="020B0604020202020204" pitchFamily="34" charset="0"/>
              </a:rPr>
              <a:t>W</a:t>
            </a:r>
            <a:r>
              <a:rPr lang="en-US" altLang="en-US" sz="2000" b="1" dirty="0" smtClean="0">
                <a:solidFill>
                  <a:schemeClr val="accent4">
                    <a:lumMod val="50000"/>
                  </a:schemeClr>
                </a:solidFill>
                <a:latin typeface="Arial" panose="020B0604020202020204" pitchFamily="34" charset="0"/>
              </a:rPr>
              <a:t>hy </a:t>
            </a:r>
            <a:r>
              <a:rPr lang="en-US" altLang="en-US" sz="2000" b="1" dirty="0">
                <a:solidFill>
                  <a:schemeClr val="accent4">
                    <a:lumMod val="50000"/>
                  </a:schemeClr>
                </a:solidFill>
                <a:latin typeface="Arial" panose="020B0604020202020204" pitchFamily="34" charset="0"/>
              </a:rPr>
              <a:t>Bernoulli’s equation assumes constant </a:t>
            </a:r>
            <a:r>
              <a:rPr lang="en-US" altLang="en-US" sz="2000" b="1" dirty="0" smtClean="0">
                <a:solidFill>
                  <a:schemeClr val="accent4">
                    <a:lumMod val="50000"/>
                  </a:schemeClr>
                </a:solidFill>
                <a:latin typeface="Arial" panose="020B0604020202020204" pitchFamily="34" charset="0"/>
              </a:rPr>
              <a:t>energy</a:t>
            </a:r>
            <a:r>
              <a:rPr lang="en-US" altLang="en-US" sz="2000" dirty="0">
                <a:solidFill>
                  <a:schemeClr val="accent4">
                    <a:lumMod val="50000"/>
                  </a:schemeClr>
                </a:solidFill>
                <a:latin typeface="Arial" panose="020B0604020202020204" pitchFamily="34" charset="0"/>
              </a:rPr>
              <a:t> </a:t>
            </a:r>
            <a:r>
              <a:rPr lang="en-US" altLang="en-US" sz="2000" dirty="0" smtClean="0">
                <a:solidFill>
                  <a:schemeClr val="accent4">
                    <a:lumMod val="50000"/>
                  </a:schemeClr>
                </a:solidFill>
                <a:latin typeface="Arial" panose="020B0604020202020204" pitchFamily="34" charset="0"/>
              </a:rPr>
              <a:t>?</a:t>
            </a:r>
          </a:p>
          <a:p>
            <a:pPr marL="0" indent="0" algn="ctr">
              <a:buNone/>
            </a:pPr>
            <a:r>
              <a:rPr lang="en-US" sz="2000" b="1" i="1" dirty="0" smtClean="0">
                <a:solidFill>
                  <a:schemeClr val="accent4"/>
                </a:solidFill>
              </a:rPr>
              <a:t>“Energy </a:t>
            </a:r>
            <a:r>
              <a:rPr lang="en-US" sz="2000" b="1" i="1" dirty="0">
                <a:solidFill>
                  <a:schemeClr val="accent4"/>
                </a:solidFill>
              </a:rPr>
              <a:t>can’t be created or </a:t>
            </a:r>
            <a:r>
              <a:rPr lang="en-US" sz="2000" b="1" i="1" dirty="0" smtClean="0">
                <a:solidFill>
                  <a:schemeClr val="accent4"/>
                </a:solidFill>
              </a:rPr>
              <a:t>destroyed but only </a:t>
            </a:r>
            <a:r>
              <a:rPr lang="en-US" sz="2000" b="1" i="1" dirty="0">
                <a:solidFill>
                  <a:schemeClr val="accent4"/>
                </a:solidFill>
              </a:rPr>
              <a:t>changed from one form to </a:t>
            </a:r>
            <a:r>
              <a:rPr lang="en-US" sz="2000" b="1" i="1" dirty="0" smtClean="0">
                <a:solidFill>
                  <a:schemeClr val="accent4"/>
                </a:solidFill>
              </a:rPr>
              <a:t>another” Law of conservation of energy thermodynamic first law.</a:t>
            </a:r>
            <a:endParaRPr lang="en-US" altLang="en-US" sz="2000" b="1" i="1" dirty="0">
              <a:solidFill>
                <a:schemeClr val="accent4"/>
              </a:solidFill>
              <a:latin typeface="Arial" panose="020B0604020202020204" pitchFamily="34" charset="0"/>
            </a:endParaRPr>
          </a:p>
          <a:p>
            <a:pPr marL="0" lvl="0" indent="0" algn="ctr" eaLnBrk="0" fontAlgn="base" hangingPunct="0">
              <a:lnSpc>
                <a:spcPct val="100000"/>
              </a:lnSpc>
              <a:spcBef>
                <a:spcPct val="0"/>
              </a:spcBef>
              <a:spcAft>
                <a:spcPct val="0"/>
              </a:spcAft>
              <a:buNone/>
            </a:pPr>
            <a:r>
              <a:rPr lang="en-US" altLang="en-US" sz="2000" dirty="0">
                <a:latin typeface="Arial" panose="020B0604020202020204" pitchFamily="34" charset="0"/>
              </a:rPr>
              <a:t>“</a:t>
            </a:r>
            <a:r>
              <a:rPr lang="en-US" altLang="en-US" sz="2000" b="1" dirty="0">
                <a:solidFill>
                  <a:schemeClr val="accent1">
                    <a:lumMod val="75000"/>
                  </a:schemeClr>
                </a:solidFill>
                <a:latin typeface="Arial" panose="020B0604020202020204" pitchFamily="34" charset="0"/>
              </a:rPr>
              <a:t>It’s derived under ideal conditions—steady flow, incompressible fluid, and no energy loss</a:t>
            </a:r>
            <a:r>
              <a:rPr lang="en-US" altLang="en-US" sz="2000" b="1" dirty="0" smtClean="0">
                <a:solidFill>
                  <a:schemeClr val="accent1">
                    <a:lumMod val="75000"/>
                  </a:schemeClr>
                </a:solidFill>
                <a:latin typeface="Arial" panose="020B0604020202020204" pitchFamily="34" charset="0"/>
              </a:rPr>
              <a:t>—           so </a:t>
            </a:r>
            <a:r>
              <a:rPr lang="en-US" altLang="en-US" sz="2000" b="1" dirty="0">
                <a:solidFill>
                  <a:schemeClr val="accent1">
                    <a:lumMod val="75000"/>
                  </a:schemeClr>
                </a:solidFill>
                <a:latin typeface="Arial" panose="020B0604020202020204" pitchFamily="34" charset="0"/>
              </a:rPr>
              <a:t>total mechanical energy remains conserved along a streamline</a:t>
            </a:r>
            <a:r>
              <a:rPr lang="en-US" altLang="en-US" sz="2000" b="1" dirty="0" smtClean="0">
                <a:solidFill>
                  <a:schemeClr val="accent1">
                    <a:lumMod val="75000"/>
                  </a:schemeClr>
                </a:solidFill>
                <a:latin typeface="Arial" panose="020B0604020202020204" pitchFamily="34" charset="0"/>
              </a:rPr>
              <a:t>.”</a:t>
            </a:r>
          </a:p>
          <a:p>
            <a:pPr marL="0" indent="0" algn="ctr" eaLnBrk="0" fontAlgn="base" hangingPunct="0">
              <a:lnSpc>
                <a:spcPct val="100000"/>
              </a:lnSpc>
              <a:spcBef>
                <a:spcPct val="0"/>
              </a:spcBef>
              <a:spcAft>
                <a:spcPct val="0"/>
              </a:spcAft>
              <a:buNone/>
            </a:pPr>
            <a:r>
              <a:rPr lang="en-US" b="1" i="1" dirty="0"/>
              <a:t>A fluid in motion typically has </a:t>
            </a:r>
            <a:r>
              <a:rPr lang="en-US" b="1" dirty="0"/>
              <a:t>three main types of mechanical </a:t>
            </a:r>
            <a:r>
              <a:rPr lang="en-US" b="1" dirty="0" smtClean="0"/>
              <a:t>energy</a:t>
            </a:r>
          </a:p>
          <a:p>
            <a:pPr marL="0" indent="0" algn="ctr" eaLnBrk="0" fontAlgn="base" hangingPunct="0">
              <a:lnSpc>
                <a:spcPct val="100000"/>
              </a:lnSpc>
              <a:spcBef>
                <a:spcPct val="0"/>
              </a:spcBef>
              <a:spcAft>
                <a:spcPct val="0"/>
              </a:spcAft>
              <a:buNone/>
            </a:pPr>
            <a:r>
              <a:rPr lang="en-US" b="1" dirty="0" smtClean="0"/>
              <a:t>Kinetic, Potential , Pressure Energies.</a:t>
            </a:r>
            <a:endParaRPr lang="en-US" b="1" dirty="0" smtClean="0">
              <a:solidFill>
                <a:schemeClr val="accent1">
                  <a:lumMod val="75000"/>
                </a:schemeClr>
              </a:solidFill>
            </a:endParaRPr>
          </a:p>
          <a:p>
            <a:r>
              <a:rPr lang="en-US" dirty="0" smtClean="0"/>
              <a:t> </a:t>
            </a:r>
            <a:r>
              <a:rPr lang="en-US" b="1" dirty="0">
                <a:solidFill>
                  <a:schemeClr val="accent1"/>
                </a:solidFill>
              </a:rPr>
              <a:t>Bernoulli's principle </a:t>
            </a:r>
            <a:r>
              <a:rPr lang="en-US" b="1" dirty="0">
                <a:solidFill>
                  <a:schemeClr val="accent4">
                    <a:lumMod val="50000"/>
                  </a:schemeClr>
                </a:solidFill>
              </a:rPr>
              <a:t>relates the </a:t>
            </a:r>
            <a:r>
              <a:rPr lang="en-US" b="1" i="1" dirty="0">
                <a:solidFill>
                  <a:schemeClr val="accent4">
                    <a:lumMod val="50000"/>
                  </a:schemeClr>
                </a:solidFill>
              </a:rPr>
              <a:t>pressure of a fluid </a:t>
            </a:r>
            <a:r>
              <a:rPr lang="en-US" b="1" dirty="0">
                <a:solidFill>
                  <a:schemeClr val="accent4">
                    <a:lumMod val="50000"/>
                  </a:schemeClr>
                </a:solidFill>
              </a:rPr>
              <a:t>to its </a:t>
            </a:r>
            <a:r>
              <a:rPr lang="en-US" b="1" i="1" dirty="0">
                <a:solidFill>
                  <a:schemeClr val="accent4">
                    <a:lumMod val="50000"/>
                  </a:schemeClr>
                </a:solidFill>
              </a:rPr>
              <a:t>speed</a:t>
            </a:r>
            <a:r>
              <a:rPr lang="en-US" b="1" i="1" dirty="0">
                <a:solidFill>
                  <a:schemeClr val="accent1"/>
                </a:solidFill>
              </a:rPr>
              <a:t>. </a:t>
            </a:r>
            <a:r>
              <a:rPr lang="en-US" dirty="0"/>
              <a:t>	</a:t>
            </a:r>
          </a:p>
          <a:p>
            <a:r>
              <a:rPr lang="en-US" b="1" dirty="0" smtClean="0">
                <a:solidFill>
                  <a:schemeClr val="accent1"/>
                </a:solidFill>
              </a:rPr>
              <a:t> Applications </a:t>
            </a:r>
            <a:r>
              <a:rPr lang="en-US" dirty="0" smtClean="0"/>
              <a:t> </a:t>
            </a:r>
            <a:r>
              <a:rPr lang="en-US" dirty="0"/>
              <a:t>one </a:t>
            </a:r>
            <a:r>
              <a:rPr lang="en-US" b="1" dirty="0">
                <a:solidFill>
                  <a:schemeClr val="accent4"/>
                </a:solidFill>
              </a:rPr>
              <a:t>can determine how much fluid flows through a pipe</a:t>
            </a:r>
            <a:r>
              <a:rPr lang="en-US" dirty="0"/>
              <a:t>. It enables us to </a:t>
            </a:r>
            <a:r>
              <a:rPr lang="en-US" b="1" dirty="0">
                <a:solidFill>
                  <a:schemeClr val="accent4"/>
                </a:solidFill>
              </a:rPr>
              <a:t>quantify the change in velocity and pressure </a:t>
            </a:r>
            <a:r>
              <a:rPr lang="en-US" dirty="0"/>
              <a:t>experienced by a fluid flowing from one pipe with one cross-sectional area to another with another cross-sectional area. 	</a:t>
            </a:r>
          </a:p>
          <a:p>
            <a:endParaRPr lang="en-IN" dirty="0"/>
          </a:p>
        </p:txBody>
      </p:sp>
      <p:sp>
        <p:nvSpPr>
          <p:cNvPr id="6"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4"/>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76864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4" name="Content Placeholder 3"/>
          <p:cNvPicPr>
            <a:picLocks noGrp="1" noChangeAspect="1"/>
          </p:cNvPicPr>
          <p:nvPr>
            <p:ph idx="1"/>
          </p:nvPr>
        </p:nvPicPr>
        <p:blipFill>
          <a:blip r:embed="rId2"/>
          <a:stretch>
            <a:fillRect/>
          </a:stretch>
        </p:blipFill>
        <p:spPr>
          <a:xfrm>
            <a:off x="1900186" y="268939"/>
            <a:ext cx="7858663" cy="3985404"/>
          </a:xfrm>
          <a:prstGeom prst="rect">
            <a:avLst/>
          </a:prstGeom>
        </p:spPr>
      </p:pic>
      <p:sp>
        <p:nvSpPr>
          <p:cNvPr id="3" name="Rectangle 2"/>
          <p:cNvSpPr/>
          <p:nvPr/>
        </p:nvSpPr>
        <p:spPr>
          <a:xfrm>
            <a:off x="1512813" y="4460413"/>
            <a:ext cx="9132816" cy="1569660"/>
          </a:xfrm>
          <a:prstGeom prst="rect">
            <a:avLst/>
          </a:prstGeom>
        </p:spPr>
        <p:txBody>
          <a:bodyPr wrap="square">
            <a:spAutoFit/>
          </a:bodyPr>
          <a:lstStyle/>
          <a:p>
            <a:r>
              <a:rPr lang="en-US" sz="2400" b="1" dirty="0">
                <a:solidFill>
                  <a:schemeClr val="accent1"/>
                </a:solidFill>
              </a:rPr>
              <a:t>Assumptions for </a:t>
            </a:r>
            <a:r>
              <a:rPr lang="en-US" sz="2400" b="1" dirty="0" err="1">
                <a:solidFill>
                  <a:schemeClr val="accent1"/>
                </a:solidFill>
              </a:rPr>
              <a:t>bernoulli’s</a:t>
            </a:r>
            <a:r>
              <a:rPr lang="en-US" sz="2400" b="1" dirty="0">
                <a:solidFill>
                  <a:schemeClr val="accent1"/>
                </a:solidFill>
              </a:rPr>
              <a:t>  </a:t>
            </a:r>
            <a:r>
              <a:rPr lang="en-US" sz="2400" b="1" dirty="0" err="1">
                <a:solidFill>
                  <a:schemeClr val="accent4"/>
                </a:solidFill>
              </a:rPr>
              <a:t>i</a:t>
            </a:r>
            <a:r>
              <a:rPr lang="en-US" sz="2400" b="1" dirty="0">
                <a:solidFill>
                  <a:schemeClr val="accent4"/>
                </a:solidFill>
              </a:rPr>
              <a:t>) The fluid is ideal, i.e., Viscosity is zero.</a:t>
            </a:r>
          </a:p>
          <a:p>
            <a:r>
              <a:rPr lang="en-US" sz="2400" b="1" dirty="0">
                <a:solidFill>
                  <a:schemeClr val="accent4"/>
                </a:solidFill>
              </a:rPr>
              <a:t>                                                      (ii)The flow is steady </a:t>
            </a:r>
          </a:p>
          <a:p>
            <a:r>
              <a:rPr lang="en-US" sz="2400" b="1" dirty="0">
                <a:solidFill>
                  <a:schemeClr val="accent4"/>
                </a:solidFill>
              </a:rPr>
              <a:t>                                                      (iii) The flow is incompressible. </a:t>
            </a:r>
          </a:p>
          <a:p>
            <a:r>
              <a:rPr lang="en-US" sz="2400" b="1" dirty="0">
                <a:solidFill>
                  <a:schemeClr val="accent4"/>
                </a:solidFill>
              </a:rPr>
              <a:t>                                                      (iv)The flow is </a:t>
            </a:r>
            <a:r>
              <a:rPr lang="en-US" sz="2400" b="1" dirty="0" err="1">
                <a:solidFill>
                  <a:schemeClr val="accent4"/>
                </a:solidFill>
              </a:rPr>
              <a:t>irrotational</a:t>
            </a:r>
            <a:r>
              <a:rPr lang="en-US" sz="2400" b="1" dirty="0">
                <a:solidFill>
                  <a:schemeClr val="accent4"/>
                </a:solidFill>
              </a:rPr>
              <a:t>. </a:t>
            </a:r>
            <a:r>
              <a:rPr lang="en-US" sz="2400" dirty="0"/>
              <a:t>	</a:t>
            </a:r>
          </a:p>
        </p:txBody>
      </p:sp>
    </p:spTree>
    <p:extLst>
      <p:ext uri="{BB962C8B-B14F-4D97-AF65-F5344CB8AC3E}">
        <p14:creationId xmlns:p14="http://schemas.microsoft.com/office/powerpoint/2010/main" val="13293843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82127"/>
          </a:xfrm>
        </p:spPr>
        <p:txBody>
          <a:bodyPr>
            <a:normAutofit fontScale="90000"/>
          </a:bodyPr>
          <a:lstStyle/>
          <a:p>
            <a:r>
              <a:rPr lang="en-US" dirty="0">
                <a:ln w="22225">
                  <a:solidFill>
                    <a:schemeClr val="accent2"/>
                  </a:solidFill>
                  <a:prstDash val="solid"/>
                </a:ln>
                <a:solidFill>
                  <a:schemeClr val="accent2">
                    <a:lumMod val="40000"/>
                    <a:lumOff val="60000"/>
                  </a:schemeClr>
                </a:solidFill>
              </a:rPr>
              <a:t>Bernoulli’s theorem for steady flow of an incompressible fluid. </a:t>
            </a:r>
            <a:r>
              <a:rPr lang="en-IN" dirty="0">
                <a:ln w="22225">
                  <a:solidFill>
                    <a:schemeClr val="accent2"/>
                  </a:solidFill>
                  <a:prstDash val="solid"/>
                </a:ln>
                <a:solidFill>
                  <a:schemeClr val="accent2">
                    <a:lumMod val="40000"/>
                    <a:lumOff val="60000"/>
                  </a:schemeClr>
                </a:solidFill>
              </a:rPr>
              <a:t/>
            </a:r>
            <a:br>
              <a:rPr lang="en-IN" dirty="0">
                <a:ln w="22225">
                  <a:solidFill>
                    <a:schemeClr val="accent2"/>
                  </a:solidFill>
                  <a:prstDash val="solid"/>
                </a:ln>
                <a:solidFill>
                  <a:schemeClr val="accent2">
                    <a:lumMod val="40000"/>
                    <a:lumOff val="60000"/>
                  </a:schemeClr>
                </a:solidFill>
              </a:rPr>
            </a:br>
            <a:endParaRPr lang="en-IN" dirty="0"/>
          </a:p>
        </p:txBody>
      </p:sp>
      <p:sp>
        <p:nvSpPr>
          <p:cNvPr id="3" name="Content Placeholder 2"/>
          <p:cNvSpPr>
            <a:spLocks noGrp="1"/>
          </p:cNvSpPr>
          <p:nvPr>
            <p:ph idx="1"/>
          </p:nvPr>
        </p:nvSpPr>
        <p:spPr>
          <a:xfrm>
            <a:off x="485775" y="845389"/>
            <a:ext cx="11492865" cy="5791384"/>
          </a:xfrm>
        </p:spPr>
        <p:txBody>
          <a:bodyPr/>
          <a:lstStyle/>
          <a:p>
            <a:r>
              <a:rPr lang="en-US" dirty="0" smtClean="0"/>
              <a:t> Let us consider an element of length ∆L of stream tube of constant cross section area</a:t>
            </a:r>
          </a:p>
          <a:p>
            <a:r>
              <a:rPr lang="en-US" dirty="0" smtClean="0"/>
              <a:t> </a:t>
            </a:r>
            <a:r>
              <a:rPr lang="en-US" dirty="0"/>
              <a:t>A</a:t>
            </a:r>
            <a:r>
              <a:rPr lang="en-US" dirty="0" smtClean="0"/>
              <a:t>ssume that the cross sectional area of element be A and the density of the fluid be </a:t>
            </a:r>
            <a:r>
              <a:rPr lang="el-GR" dirty="0" smtClean="0"/>
              <a:t>ρ</a:t>
            </a:r>
            <a:endParaRPr lang="en-US" dirty="0"/>
          </a:p>
          <a:p>
            <a:r>
              <a:rPr lang="en-US" dirty="0" smtClean="0"/>
              <a:t>Let </a:t>
            </a:r>
            <a:r>
              <a:rPr lang="en-US" b="1" dirty="0" smtClean="0"/>
              <a:t>U</a:t>
            </a:r>
            <a:r>
              <a:rPr lang="en-US" dirty="0" smtClean="0"/>
              <a:t> and </a:t>
            </a:r>
            <a:r>
              <a:rPr lang="en-US" b="1" dirty="0" smtClean="0"/>
              <a:t>P</a:t>
            </a:r>
            <a:r>
              <a:rPr lang="en-US" dirty="0" smtClean="0"/>
              <a:t> be the velocity and pressure at the </a:t>
            </a:r>
            <a:r>
              <a:rPr lang="en-US" b="1" dirty="0" smtClean="0"/>
              <a:t>entrance (upstream ) </a:t>
            </a:r>
            <a:r>
              <a:rPr lang="en-US" dirty="0" smtClean="0"/>
              <a:t>and</a:t>
            </a:r>
          </a:p>
          <a:p>
            <a:r>
              <a:rPr lang="en-US" dirty="0" smtClean="0"/>
              <a:t> </a:t>
            </a:r>
            <a:r>
              <a:rPr lang="en-US" b="1" dirty="0" smtClean="0"/>
              <a:t>(U+</a:t>
            </a:r>
            <a:r>
              <a:rPr lang="en-US" b="1" dirty="0"/>
              <a:t> </a:t>
            </a:r>
            <a:r>
              <a:rPr lang="en-US" b="1" dirty="0" smtClean="0"/>
              <a:t>∆U) </a:t>
            </a:r>
            <a:r>
              <a:rPr lang="en-US" dirty="0" smtClean="0"/>
              <a:t>and </a:t>
            </a:r>
            <a:r>
              <a:rPr lang="en-US" b="1" dirty="0" smtClean="0"/>
              <a:t>(P+</a:t>
            </a:r>
            <a:r>
              <a:rPr lang="en-US" b="1" dirty="0"/>
              <a:t> </a:t>
            </a:r>
            <a:r>
              <a:rPr lang="en-US" b="1" dirty="0" smtClean="0"/>
              <a:t>∆P ) </a:t>
            </a:r>
            <a:r>
              <a:rPr lang="en-US" dirty="0" smtClean="0"/>
              <a:t>are the corresponding quantities at the </a:t>
            </a:r>
            <a:r>
              <a:rPr lang="en-US" b="1" dirty="0" smtClean="0"/>
              <a:t>exit (downstream) </a:t>
            </a:r>
          </a:p>
          <a:p>
            <a:r>
              <a:rPr lang="en-US" dirty="0"/>
              <a:t>T</a:t>
            </a:r>
            <a:r>
              <a:rPr lang="en-US" dirty="0" smtClean="0"/>
              <a:t>he force acting on the element treating the element as a free body or </a:t>
            </a:r>
          </a:p>
          <a:p>
            <a:pPr marL="0" indent="0">
              <a:buNone/>
            </a:pPr>
            <a:r>
              <a:rPr lang="en-US" dirty="0" smtClean="0"/>
              <a:t>1.The force from the upstream pressure =  </a:t>
            </a:r>
            <a:r>
              <a:rPr lang="en-US" b="1" dirty="0" smtClean="0"/>
              <a:t>P</a:t>
            </a:r>
            <a:r>
              <a:rPr lang="en-US" dirty="0" smtClean="0"/>
              <a:t> </a:t>
            </a:r>
            <a:r>
              <a:rPr lang="en-US" dirty="0"/>
              <a:t>x</a:t>
            </a:r>
            <a:r>
              <a:rPr lang="en-US" dirty="0" smtClean="0"/>
              <a:t> </a:t>
            </a:r>
            <a:r>
              <a:rPr lang="en-US" b="1" dirty="0" smtClean="0"/>
              <a:t>A</a:t>
            </a:r>
            <a:r>
              <a:rPr lang="en-US" dirty="0" smtClean="0"/>
              <a:t> ( </a:t>
            </a:r>
            <a:r>
              <a:rPr lang="en-US" sz="1800" dirty="0" smtClean="0"/>
              <a:t>force acting in the direction of flow taken as positive) </a:t>
            </a:r>
            <a:r>
              <a:rPr lang="en-US" dirty="0" smtClean="0"/>
              <a:t>2.The force from downstream pressure normal to the cross section of the tube = </a:t>
            </a:r>
            <a:r>
              <a:rPr lang="en-US" b="1" dirty="0"/>
              <a:t>(P+ ∆P </a:t>
            </a:r>
            <a:r>
              <a:rPr lang="en-US" b="1" dirty="0" smtClean="0"/>
              <a:t>)A</a:t>
            </a:r>
            <a:r>
              <a:rPr lang="en-US" dirty="0" smtClean="0"/>
              <a:t> (</a:t>
            </a:r>
            <a:r>
              <a:rPr lang="en-US" sz="2000" dirty="0" smtClean="0"/>
              <a:t>that is the force opposing the flow taken as negative )</a:t>
            </a:r>
          </a:p>
          <a:p>
            <a:pPr marL="0" indent="0">
              <a:buNone/>
            </a:pPr>
            <a:r>
              <a:rPr lang="en-US" dirty="0" smtClean="0"/>
              <a:t>3. The force from the weight of a fluid that is the force of gravity acting downwards taken as negative =  weight = mass x acceleration due to gravity = </a:t>
            </a:r>
            <a:r>
              <a:rPr lang="el-GR" b="1" dirty="0" smtClean="0"/>
              <a:t>ρ</a:t>
            </a:r>
            <a:r>
              <a:rPr lang="en-US" b="1" dirty="0" smtClean="0"/>
              <a:t> A ∆L g</a:t>
            </a:r>
          </a:p>
          <a:p>
            <a:r>
              <a:rPr lang="en-US" dirty="0" smtClean="0"/>
              <a:t> The components of this force acting opposed to the direction of flow = </a:t>
            </a:r>
            <a:r>
              <a:rPr lang="el-GR" b="1" dirty="0"/>
              <a:t>ρ</a:t>
            </a:r>
            <a:r>
              <a:rPr lang="en-US" b="1" dirty="0"/>
              <a:t> A ∆L </a:t>
            </a:r>
            <a:r>
              <a:rPr lang="en-US" b="1" dirty="0" smtClean="0"/>
              <a:t>g  </a:t>
            </a:r>
            <a:r>
              <a:rPr lang="en-US" b="1" dirty="0" err="1" smtClean="0"/>
              <a:t>cosɵ</a:t>
            </a:r>
            <a:endParaRPr lang="en-US" b="1" dirty="0"/>
          </a:p>
          <a:p>
            <a:pPr marL="0" indent="0">
              <a:buNone/>
            </a:pPr>
            <a:r>
              <a:rPr lang="en-US" dirty="0" smtClean="0"/>
              <a:t> Of the three forces cited above the first one helps the flow with</a:t>
            </a:r>
          </a:p>
          <a:p>
            <a:pPr marL="0" indent="0">
              <a:buNone/>
            </a:pPr>
            <a:r>
              <a:rPr lang="en-US" dirty="0" smtClean="0"/>
              <a:t> the remaining two forces oppose the flow.</a:t>
            </a:r>
            <a:endParaRPr lang="en-IN" dirty="0"/>
          </a:p>
        </p:txBody>
      </p:sp>
    </p:spTree>
    <p:extLst>
      <p:ext uri="{BB962C8B-B14F-4D97-AF65-F5344CB8AC3E}">
        <p14:creationId xmlns:p14="http://schemas.microsoft.com/office/powerpoint/2010/main" val="16586551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9781"/>
            <a:ext cx="10515600" cy="5987182"/>
          </a:xfrm>
        </p:spPr>
        <p:txBody>
          <a:bodyPr/>
          <a:lstStyle/>
          <a:p>
            <a:r>
              <a:rPr lang="en-US" dirty="0" smtClean="0"/>
              <a:t>Rate </a:t>
            </a:r>
            <a:r>
              <a:rPr lang="en-US" dirty="0"/>
              <a:t>of change of momentum of a fluid along the fluid </a:t>
            </a:r>
            <a:r>
              <a:rPr lang="en-US" dirty="0" smtClean="0"/>
              <a:t>element = </a:t>
            </a:r>
            <a:endParaRPr lang="en-IN" dirty="0"/>
          </a:p>
          <a:p>
            <a:endParaRPr lang="en-IN" dirty="0"/>
          </a:p>
        </p:txBody>
      </p:sp>
      <p:pic>
        <p:nvPicPr>
          <p:cNvPr id="4" name="Picture 3"/>
          <p:cNvPicPr>
            <a:picLocks noChangeAspect="1"/>
          </p:cNvPicPr>
          <p:nvPr/>
        </p:nvPicPr>
        <p:blipFill>
          <a:blip r:embed="rId2"/>
          <a:stretch>
            <a:fillRect/>
          </a:stretch>
        </p:blipFill>
        <p:spPr>
          <a:xfrm>
            <a:off x="9007801" y="189781"/>
            <a:ext cx="2025384" cy="1333790"/>
          </a:xfrm>
          <a:prstGeom prst="rect">
            <a:avLst/>
          </a:prstGeom>
        </p:spPr>
      </p:pic>
      <p:pic>
        <p:nvPicPr>
          <p:cNvPr id="5" name="Picture 4"/>
          <p:cNvPicPr>
            <a:picLocks noChangeAspect="1"/>
          </p:cNvPicPr>
          <p:nvPr/>
        </p:nvPicPr>
        <p:blipFill>
          <a:blip r:embed="rId3"/>
          <a:stretch>
            <a:fillRect/>
          </a:stretch>
        </p:blipFill>
        <p:spPr>
          <a:xfrm>
            <a:off x="655608" y="1523572"/>
            <a:ext cx="11059064" cy="3902444"/>
          </a:xfrm>
          <a:prstGeom prst="rect">
            <a:avLst/>
          </a:prstGeom>
        </p:spPr>
      </p:pic>
    </p:spTree>
    <p:extLst>
      <p:ext uri="{BB962C8B-B14F-4D97-AF65-F5344CB8AC3E}">
        <p14:creationId xmlns:p14="http://schemas.microsoft.com/office/powerpoint/2010/main" val="3418552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586596" y="374957"/>
            <a:ext cx="11309230" cy="6185139"/>
          </a:xfrm>
          <a:prstGeom prst="rect">
            <a:avLst/>
          </a:prstGeom>
        </p:spPr>
      </p:pic>
      <p:pic>
        <p:nvPicPr>
          <p:cNvPr id="5" name="Picture 4"/>
          <p:cNvPicPr>
            <a:picLocks noChangeAspect="1"/>
          </p:cNvPicPr>
          <p:nvPr/>
        </p:nvPicPr>
        <p:blipFill>
          <a:blip r:embed="rId3"/>
          <a:stretch>
            <a:fillRect/>
          </a:stretch>
        </p:blipFill>
        <p:spPr>
          <a:xfrm>
            <a:off x="6864602" y="2051548"/>
            <a:ext cx="2140060" cy="552478"/>
          </a:xfrm>
          <a:prstGeom prst="rect">
            <a:avLst/>
          </a:prstGeom>
        </p:spPr>
      </p:pic>
      <p:pic>
        <p:nvPicPr>
          <p:cNvPr id="6" name="Picture 5"/>
          <p:cNvPicPr>
            <a:picLocks noChangeAspect="1"/>
          </p:cNvPicPr>
          <p:nvPr/>
        </p:nvPicPr>
        <p:blipFill>
          <a:blip r:embed="rId4"/>
          <a:stretch>
            <a:fillRect/>
          </a:stretch>
        </p:blipFill>
        <p:spPr>
          <a:xfrm>
            <a:off x="9523040" y="2051548"/>
            <a:ext cx="539778" cy="482625"/>
          </a:xfrm>
          <a:prstGeom prst="rect">
            <a:avLst/>
          </a:prstGeom>
        </p:spPr>
      </p:pic>
      <mc:AlternateContent xmlns:mc="http://schemas.openxmlformats.org/markup-compatibility/2006" xmlns:a14="http://schemas.microsoft.com/office/drawing/2010/main">
        <mc:Choice Requires="a14">
          <p:sp>
            <p:nvSpPr>
              <p:cNvPr id="7" name="TextBox 6"/>
              <p:cNvSpPr txBox="1"/>
              <p:nvPr/>
            </p:nvSpPr>
            <p:spPr>
              <a:xfrm>
                <a:off x="9150839" y="2154360"/>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rPr>
                        <m:t>=</m:t>
                      </m:r>
                    </m:oMath>
                  </m:oMathPara>
                </a14:m>
                <a:endParaRPr lang="en-IN" dirty="0"/>
              </a:p>
            </p:txBody>
          </p:sp>
        </mc:Choice>
        <mc:Fallback xmlns="">
          <p:sp>
            <p:nvSpPr>
              <p:cNvPr id="7" name="TextBox 6"/>
              <p:cNvSpPr txBox="1">
                <a:spLocks noRot="1" noChangeAspect="1" noMove="1" noResize="1" noEditPoints="1" noAdjustHandles="1" noChangeArrowheads="1" noChangeShapeType="1" noTextEdit="1"/>
              </p:cNvSpPr>
              <p:nvPr/>
            </p:nvSpPr>
            <p:spPr>
              <a:xfrm>
                <a:off x="9150839" y="2154360"/>
                <a:ext cx="226024" cy="276999"/>
              </a:xfrm>
              <a:prstGeom prst="rect">
                <a:avLst/>
              </a:prstGeom>
              <a:blipFill rotWithShape="0">
                <a:blip r:embed="rId5"/>
                <a:stretch>
                  <a:fillRect l="-10811" r="-10811"/>
                </a:stretch>
              </a:blipFill>
            </p:spPr>
            <p:txBody>
              <a:bodyPr/>
              <a:lstStyle/>
              <a:p>
                <a:r>
                  <a:rPr lang="en-IN">
                    <a:noFill/>
                  </a:rPr>
                  <a:t> </a:t>
                </a:r>
              </a:p>
            </p:txBody>
          </p:sp>
        </mc:Fallback>
      </mc:AlternateContent>
    </p:spTree>
    <p:extLst>
      <p:ext uri="{BB962C8B-B14F-4D97-AF65-F5344CB8AC3E}">
        <p14:creationId xmlns:p14="http://schemas.microsoft.com/office/powerpoint/2010/main" val="8646923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350578" y="365125"/>
            <a:ext cx="11222965" cy="5210354"/>
          </a:xfrm>
          <a:prstGeom prst="rect">
            <a:avLst/>
          </a:prstGeom>
        </p:spPr>
      </p:pic>
    </p:spTree>
    <p:extLst>
      <p:ext uri="{BB962C8B-B14F-4D97-AF65-F5344CB8AC3E}">
        <p14:creationId xmlns:p14="http://schemas.microsoft.com/office/powerpoint/2010/main" val="42165413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4105656" y="139650"/>
            <a:ext cx="4163300" cy="738173"/>
          </a:xfrm>
          <a:prstGeom prst="rect">
            <a:avLst/>
          </a:prstGeom>
        </p:spPr>
      </p:pic>
      <p:sp>
        <p:nvSpPr>
          <p:cNvPr id="3" name="Content Placeholder 2"/>
          <p:cNvSpPr>
            <a:spLocks noGrp="1"/>
          </p:cNvSpPr>
          <p:nvPr>
            <p:ph idx="1"/>
          </p:nvPr>
        </p:nvSpPr>
        <p:spPr>
          <a:xfrm>
            <a:off x="777815" y="1060704"/>
            <a:ext cx="10515600" cy="4684938"/>
          </a:xfrm>
        </p:spPr>
        <p:txBody>
          <a:bodyPr/>
          <a:lstStyle/>
          <a:p>
            <a:r>
              <a:rPr lang="en-US" dirty="0"/>
              <a:t>On dividing </a:t>
            </a:r>
            <a:r>
              <a:rPr lang="en-US" dirty="0" smtClean="0"/>
              <a:t>above equation </a:t>
            </a:r>
            <a:r>
              <a:rPr lang="en-US" dirty="0"/>
              <a:t>with “g” through out </a:t>
            </a:r>
          </a:p>
          <a:p>
            <a:r>
              <a:rPr lang="en-US" dirty="0"/>
              <a:t>Then equation 6 becomes P/ </a:t>
            </a:r>
            <a:r>
              <a:rPr lang="el-GR" dirty="0" smtClean="0"/>
              <a:t>ρ</a:t>
            </a:r>
            <a:r>
              <a:rPr lang="en-US" dirty="0" smtClean="0"/>
              <a:t>g </a:t>
            </a:r>
            <a:r>
              <a:rPr lang="en-US" dirty="0"/>
              <a:t>+ Z + u</a:t>
            </a:r>
            <a:r>
              <a:rPr lang="en-US" baseline="30000" dirty="0"/>
              <a:t>2</a:t>
            </a:r>
            <a:r>
              <a:rPr lang="en-US" dirty="0"/>
              <a:t> / 2g = Constant </a:t>
            </a:r>
            <a:r>
              <a:rPr lang="en-US" dirty="0" smtClean="0"/>
              <a:t>--------- </a:t>
            </a:r>
            <a:r>
              <a:rPr lang="en-US" dirty="0" err="1" smtClean="0"/>
              <a:t>eq</a:t>
            </a:r>
            <a:r>
              <a:rPr lang="en-US" dirty="0" smtClean="0"/>
              <a:t> (7 )</a:t>
            </a:r>
            <a:endParaRPr lang="en-US" dirty="0"/>
          </a:p>
          <a:p>
            <a:r>
              <a:rPr lang="en-US" dirty="0"/>
              <a:t>Each term in this equation represents energy per unit weight of fluid and has the dimensions of length. Hence each term is regarded as the head that is contributing to total fluid head. </a:t>
            </a:r>
            <a:endParaRPr lang="en-US" dirty="0" smtClean="0"/>
          </a:p>
          <a:p>
            <a:r>
              <a:rPr lang="en-US" dirty="0"/>
              <a:t> 	</a:t>
            </a:r>
          </a:p>
          <a:p>
            <a:endParaRPr lang="en-IN" dirty="0"/>
          </a:p>
        </p:txBody>
      </p:sp>
      <p:pic>
        <p:nvPicPr>
          <p:cNvPr id="4" name="Picture 3"/>
          <p:cNvPicPr>
            <a:picLocks noChangeAspect="1"/>
          </p:cNvPicPr>
          <p:nvPr/>
        </p:nvPicPr>
        <p:blipFill>
          <a:blip r:embed="rId3"/>
          <a:stretch>
            <a:fillRect/>
          </a:stretch>
        </p:blipFill>
        <p:spPr>
          <a:xfrm>
            <a:off x="1106424" y="3031153"/>
            <a:ext cx="10588752" cy="3210255"/>
          </a:xfrm>
          <a:prstGeom prst="rect">
            <a:avLst/>
          </a:prstGeom>
        </p:spPr>
      </p:pic>
    </p:spTree>
    <p:extLst>
      <p:ext uri="{BB962C8B-B14F-4D97-AF65-F5344CB8AC3E}">
        <p14:creationId xmlns:p14="http://schemas.microsoft.com/office/powerpoint/2010/main" val="15709015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586597" y="112144"/>
            <a:ext cx="11162580" cy="6745856"/>
          </a:xfrm>
          <a:prstGeom prst="rect">
            <a:avLst/>
          </a:prstGeom>
        </p:spPr>
      </p:pic>
    </p:spTree>
    <p:extLst>
      <p:ext uri="{BB962C8B-B14F-4D97-AF65-F5344CB8AC3E}">
        <p14:creationId xmlns:p14="http://schemas.microsoft.com/office/powerpoint/2010/main" val="42781249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1613" y="644013"/>
            <a:ext cx="11326761" cy="6213987"/>
          </a:xfrm>
        </p:spPr>
        <p:txBody>
          <a:bodyPr>
            <a:normAutofit fontScale="92500"/>
          </a:bodyPr>
          <a:lstStyle/>
          <a:p>
            <a:r>
              <a:rPr lang="en-US" dirty="0"/>
              <a:t>It states that </a:t>
            </a:r>
            <a:r>
              <a:rPr lang="en-US" b="1" dirty="0" smtClean="0">
                <a:solidFill>
                  <a:schemeClr val="accent1"/>
                </a:solidFill>
              </a:rPr>
              <a:t>the </a:t>
            </a:r>
            <a:r>
              <a:rPr lang="en-US" b="1" dirty="0">
                <a:solidFill>
                  <a:schemeClr val="accent1"/>
                </a:solidFill>
              </a:rPr>
              <a:t>total energy at any point of the fluid is </a:t>
            </a:r>
            <a:r>
              <a:rPr lang="en-US" b="1" dirty="0" smtClean="0">
                <a:solidFill>
                  <a:schemeClr val="accent1"/>
                </a:solidFill>
              </a:rPr>
              <a:t>constant</a:t>
            </a:r>
            <a:r>
              <a:rPr lang="en-US" dirty="0"/>
              <a:t> </a:t>
            </a:r>
            <a:r>
              <a:rPr lang="en-US" dirty="0" smtClean="0"/>
              <a:t>for </a:t>
            </a:r>
            <a:r>
              <a:rPr lang="en-US" dirty="0"/>
              <a:t>a steady, ideal flow of an incompressible fluid,</a:t>
            </a:r>
            <a:r>
              <a:rPr lang="en-US" dirty="0" smtClean="0"/>
              <a:t> </a:t>
            </a:r>
            <a:r>
              <a:rPr lang="en-US" b="1" dirty="0">
                <a:solidFill>
                  <a:schemeClr val="accent1"/>
                </a:solidFill>
              </a:rPr>
              <a:t>The total energy consists </a:t>
            </a:r>
            <a:r>
              <a:rPr lang="en-US" b="1" dirty="0" smtClean="0">
                <a:solidFill>
                  <a:schemeClr val="accent1"/>
                </a:solidFill>
              </a:rPr>
              <a:t>of kinetic, potential, and pressure energy</a:t>
            </a:r>
            <a:r>
              <a:rPr lang="en-US" b="1" dirty="0">
                <a:solidFill>
                  <a:schemeClr val="accent1"/>
                </a:solidFill>
              </a:rPr>
              <a:t>.</a:t>
            </a:r>
          </a:p>
          <a:p>
            <a:r>
              <a:rPr lang="en-US" sz="2600" b="1" u="sng" dirty="0">
                <a:solidFill>
                  <a:schemeClr val="accent1">
                    <a:lumMod val="75000"/>
                  </a:schemeClr>
                </a:solidFill>
              </a:rPr>
              <a:t>Pressure energy </a:t>
            </a:r>
            <a:r>
              <a:rPr lang="en-US" dirty="0"/>
              <a:t>it is the work which must be done in order to introduce a fluid into a system without changing the volume </a:t>
            </a:r>
            <a:r>
              <a:rPr lang="en-US" b="1" dirty="0">
                <a:solidFill>
                  <a:schemeClr val="accent4"/>
                </a:solidFill>
              </a:rPr>
              <a:t>it is the energy of fluid due to pressure acting on it</a:t>
            </a:r>
            <a:r>
              <a:rPr lang="en-US" dirty="0"/>
              <a:t>. </a:t>
            </a:r>
          </a:p>
          <a:p>
            <a:pPr marL="0" indent="0">
              <a:buNone/>
            </a:pPr>
            <a:r>
              <a:rPr lang="en-US" dirty="0" smtClean="0"/>
              <a:t>       </a:t>
            </a:r>
            <a:r>
              <a:rPr lang="en-US" b="1" i="1" dirty="0" smtClean="0">
                <a:solidFill>
                  <a:schemeClr val="accent1"/>
                </a:solidFill>
              </a:rPr>
              <a:t>Pressure </a:t>
            </a:r>
            <a:r>
              <a:rPr lang="en-US" b="1" i="1" dirty="0">
                <a:solidFill>
                  <a:schemeClr val="accent1"/>
                </a:solidFill>
              </a:rPr>
              <a:t>energy (flow energy) </a:t>
            </a:r>
            <a:r>
              <a:rPr lang="en-US" dirty="0" smtClean="0"/>
              <a:t>= </a:t>
            </a:r>
            <a:r>
              <a:rPr lang="en-US" dirty="0"/>
              <a:t>force x displacement = work done on a fluid </a:t>
            </a:r>
          </a:p>
          <a:p>
            <a:pPr marL="0" indent="0">
              <a:buNone/>
            </a:pPr>
            <a:r>
              <a:rPr lang="en-IN" dirty="0" smtClean="0"/>
              <a:t>                                                        =  </a:t>
            </a:r>
            <a:r>
              <a:rPr lang="en-IN" b="1" dirty="0">
                <a:solidFill>
                  <a:schemeClr val="accent1"/>
                </a:solidFill>
              </a:rPr>
              <a:t>( force x displacement ) x </a:t>
            </a:r>
            <a:r>
              <a:rPr lang="en-IN" b="1" dirty="0" smtClean="0">
                <a:solidFill>
                  <a:schemeClr val="accent1"/>
                </a:solidFill>
              </a:rPr>
              <a:t>[area / area] </a:t>
            </a:r>
            <a:endParaRPr lang="en-IN" b="1" dirty="0">
              <a:solidFill>
                <a:schemeClr val="accent1"/>
              </a:solidFill>
            </a:endParaRPr>
          </a:p>
          <a:p>
            <a:pPr marL="0" indent="0">
              <a:buNone/>
            </a:pPr>
            <a:r>
              <a:rPr lang="en-IN" dirty="0"/>
              <a:t> </a:t>
            </a:r>
            <a:r>
              <a:rPr lang="en-IN" dirty="0" smtClean="0"/>
              <a:t>                                                       = </a:t>
            </a:r>
            <a:r>
              <a:rPr lang="en-IN" dirty="0"/>
              <a:t>Pressure x </a:t>
            </a:r>
            <a:r>
              <a:rPr lang="en-IN" dirty="0" smtClean="0"/>
              <a:t>volume( </a:t>
            </a:r>
            <a:r>
              <a:rPr lang="en-IN" sz="1700" b="1" dirty="0" smtClean="0"/>
              <a:t>Since   Pressure </a:t>
            </a:r>
            <a:r>
              <a:rPr lang="en-IN" sz="1700" b="1" dirty="0"/>
              <a:t>= force/ area; volume = displacement x area ) </a:t>
            </a:r>
          </a:p>
          <a:p>
            <a:pPr marL="0" indent="0">
              <a:buNone/>
            </a:pPr>
            <a:r>
              <a:rPr lang="en-US" dirty="0" smtClean="0"/>
              <a:t>       pressure </a:t>
            </a:r>
            <a:r>
              <a:rPr lang="en-US" dirty="0"/>
              <a:t>energy per unit mass of a fluid = ( Pressure x volume ) / mass </a:t>
            </a:r>
          </a:p>
          <a:p>
            <a:pPr marL="0" indent="0">
              <a:buNone/>
            </a:pPr>
            <a:r>
              <a:rPr lang="en-IN" dirty="0" smtClean="0"/>
              <a:t>                                                                                          = </a:t>
            </a:r>
            <a:r>
              <a:rPr lang="en-IN" dirty="0"/>
              <a:t>pressure / density </a:t>
            </a:r>
          </a:p>
          <a:p>
            <a:pPr marL="0" indent="0">
              <a:buNone/>
            </a:pPr>
            <a:r>
              <a:rPr lang="en-US" b="1" i="1" dirty="0" smtClean="0">
                <a:solidFill>
                  <a:schemeClr val="accent1"/>
                </a:solidFill>
              </a:rPr>
              <a:t>     pressure </a:t>
            </a:r>
            <a:r>
              <a:rPr lang="en-US" b="1" i="1" dirty="0">
                <a:solidFill>
                  <a:schemeClr val="accent1"/>
                </a:solidFill>
              </a:rPr>
              <a:t>energy per unit mass of a fluid = P / ρ </a:t>
            </a:r>
            <a:r>
              <a:rPr lang="en-US" dirty="0"/>
              <a:t>, </a:t>
            </a:r>
            <a:r>
              <a:rPr lang="en-US" dirty="0" smtClean="0"/>
              <a:t>                   units:  </a:t>
            </a:r>
            <a:r>
              <a:rPr lang="en-US" b="1" dirty="0" smtClean="0">
                <a:solidFill>
                  <a:schemeClr val="accent1"/>
                </a:solidFill>
              </a:rPr>
              <a:t>J/Kg</a:t>
            </a:r>
            <a:r>
              <a:rPr lang="en-US" dirty="0" smtClean="0"/>
              <a:t> </a:t>
            </a:r>
            <a:r>
              <a:rPr lang="en-US" dirty="0"/>
              <a:t>in S.I system. </a:t>
            </a:r>
          </a:p>
          <a:p>
            <a:r>
              <a:rPr lang="en-US" sz="2600" b="1" u="sng" dirty="0">
                <a:solidFill>
                  <a:schemeClr val="accent1">
                    <a:lumMod val="75000"/>
                  </a:schemeClr>
                </a:solidFill>
              </a:rPr>
              <a:t>Kinetic energy </a:t>
            </a:r>
            <a:r>
              <a:rPr lang="en-US" b="1" dirty="0">
                <a:solidFill>
                  <a:schemeClr val="accent4"/>
                </a:solidFill>
              </a:rPr>
              <a:t>it is the energy of fluid by virtue of its motion </a:t>
            </a:r>
            <a:r>
              <a:rPr lang="en-US" dirty="0"/>
              <a:t>with reference to some arbitrary fixed body. </a:t>
            </a:r>
          </a:p>
          <a:p>
            <a:pPr marL="0" indent="0">
              <a:buNone/>
            </a:pPr>
            <a:r>
              <a:rPr lang="en-US" dirty="0" smtClean="0"/>
              <a:t>       The </a:t>
            </a:r>
            <a:r>
              <a:rPr lang="en-US" dirty="0"/>
              <a:t>kinetic energy of a fluid of mass M moving with velocity U is given by </a:t>
            </a:r>
            <a:endParaRPr lang="en-US" dirty="0" smtClean="0"/>
          </a:p>
          <a:p>
            <a:pPr marL="0" indent="0">
              <a:buNone/>
            </a:pPr>
            <a:r>
              <a:rPr lang="en-US" dirty="0"/>
              <a:t> </a:t>
            </a:r>
            <a:r>
              <a:rPr lang="en-US" dirty="0" smtClean="0"/>
              <a:t>                              </a:t>
            </a:r>
            <a:r>
              <a:rPr lang="en-IN" dirty="0" smtClean="0"/>
              <a:t>kinetic </a:t>
            </a:r>
            <a:r>
              <a:rPr lang="en-IN" dirty="0"/>
              <a:t>energy = ½ (mu</a:t>
            </a:r>
            <a:r>
              <a:rPr lang="en-IN" b="1" baseline="30000" dirty="0"/>
              <a:t>2</a:t>
            </a:r>
            <a:r>
              <a:rPr lang="en-IN" dirty="0"/>
              <a:t>) </a:t>
            </a:r>
          </a:p>
          <a:p>
            <a:r>
              <a:rPr lang="en-US" b="1" i="1" dirty="0">
                <a:solidFill>
                  <a:schemeClr val="accent1"/>
                </a:solidFill>
              </a:rPr>
              <a:t>kinetic energy per unit mass of fluid = ½ </a:t>
            </a:r>
            <a:r>
              <a:rPr lang="en-US" b="1" i="1" dirty="0" smtClean="0">
                <a:solidFill>
                  <a:schemeClr val="accent1"/>
                </a:solidFill>
              </a:rPr>
              <a:t>u</a:t>
            </a:r>
            <a:r>
              <a:rPr lang="en-IN" b="1" baseline="30000" dirty="0">
                <a:solidFill>
                  <a:schemeClr val="accent1"/>
                </a:solidFill>
              </a:rPr>
              <a:t>2</a:t>
            </a:r>
            <a:r>
              <a:rPr lang="en-US" b="1" i="1" dirty="0" smtClean="0">
                <a:solidFill>
                  <a:schemeClr val="accent1"/>
                </a:solidFill>
              </a:rPr>
              <a:t> </a:t>
            </a:r>
            <a:r>
              <a:rPr lang="en-US" i="1" dirty="0" smtClean="0"/>
              <a:t>,                              units:  </a:t>
            </a:r>
            <a:r>
              <a:rPr lang="en-US" b="1" dirty="0">
                <a:solidFill>
                  <a:schemeClr val="accent1"/>
                </a:solidFill>
              </a:rPr>
              <a:t>J/Kg</a:t>
            </a:r>
            <a:r>
              <a:rPr lang="en-US" dirty="0"/>
              <a:t> in S.I system </a:t>
            </a:r>
            <a:r>
              <a:rPr lang="en-IN" dirty="0"/>
              <a:t>	</a:t>
            </a:r>
          </a:p>
        </p:txBody>
      </p:sp>
      <p:sp>
        <p:nvSpPr>
          <p:cNvPr id="4" name="Rectangle 3"/>
          <p:cNvSpPr/>
          <p:nvPr/>
        </p:nvSpPr>
        <p:spPr>
          <a:xfrm>
            <a:off x="282936" y="-43969"/>
            <a:ext cx="10878876" cy="584775"/>
          </a:xfrm>
          <a:prstGeom prst="rect">
            <a:avLst/>
          </a:prstGeom>
          <a:noFill/>
        </p:spPr>
        <p:txBody>
          <a:bodyPr wrap="none" lIns="91440" tIns="45720" rIns="91440" bIns="45720">
            <a:spAutoFit/>
          </a:bodyPr>
          <a:lstStyle/>
          <a:p>
            <a:pPr algn="ctr"/>
            <a:r>
              <a:rPr lang="en-US" sz="3200" b="1" dirty="0">
                <a:ln w="22225">
                  <a:solidFill>
                    <a:schemeClr val="accent2"/>
                  </a:solidFill>
                  <a:prstDash val="solid"/>
                </a:ln>
                <a:solidFill>
                  <a:schemeClr val="accent2">
                    <a:lumMod val="40000"/>
                    <a:lumOff val="60000"/>
                  </a:schemeClr>
                </a:solidFill>
              </a:rPr>
              <a:t>Bernoulli’s theorem for steady flow of an incompressible fluid. </a:t>
            </a:r>
            <a:endParaRPr lang="en-IN" sz="3200" b="1" dirty="0">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4008079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403122"/>
                <a:ext cx="10515600" cy="6145161"/>
              </a:xfrm>
            </p:spPr>
            <p:txBody>
              <a:bodyPr>
                <a:normAutofit/>
              </a:bodyPr>
              <a:lstStyle/>
              <a:p>
                <a:r>
                  <a:rPr lang="en-US" b="1" u="sng" dirty="0" smtClean="0">
                    <a:solidFill>
                      <a:schemeClr val="accent1">
                        <a:lumMod val="75000"/>
                      </a:schemeClr>
                    </a:solidFill>
                  </a:rPr>
                  <a:t>Potential energy </a:t>
                </a:r>
                <a:r>
                  <a:rPr lang="en-US" sz="2200" b="1" dirty="0">
                    <a:solidFill>
                      <a:schemeClr val="accent4"/>
                    </a:solidFill>
                  </a:rPr>
                  <a:t>it is the energy of fluid due to its position </a:t>
                </a:r>
                <a:r>
                  <a:rPr lang="en-US" sz="2200" dirty="0"/>
                  <a:t>in the earth’s gravitational field it is equal to the work that must be done on the fluid in order to raise it to ascertain position from some arbitrary chosen datum level. </a:t>
                </a:r>
              </a:p>
              <a:p>
                <a:r>
                  <a:rPr lang="en-US" sz="2200" dirty="0"/>
                  <a:t>If the datum level the potential energy is taken as zero the potential energy of a fluid of mass </a:t>
                </a:r>
                <a:r>
                  <a:rPr lang="en-US" sz="2200" b="1" dirty="0"/>
                  <a:t>m </a:t>
                </a:r>
                <a:r>
                  <a:rPr lang="en-US" sz="2200" dirty="0"/>
                  <a:t>situated at a height </a:t>
                </a:r>
                <a:r>
                  <a:rPr lang="en-US" sz="2200" b="1" dirty="0"/>
                  <a:t>Z </a:t>
                </a:r>
                <a:r>
                  <a:rPr lang="en-US" sz="2200" dirty="0"/>
                  <a:t>above the datum level is given by </a:t>
                </a:r>
              </a:p>
              <a:p>
                <a:pPr marL="0" indent="0">
                  <a:buNone/>
                </a:pPr>
                <a:r>
                  <a:rPr lang="en-IN" sz="2200" dirty="0" smtClean="0"/>
                  <a:t>                                                   potential </a:t>
                </a:r>
                <a:r>
                  <a:rPr lang="en-IN" sz="2200" dirty="0"/>
                  <a:t>energy = </a:t>
                </a:r>
                <a:r>
                  <a:rPr lang="en-IN" sz="2200" dirty="0" err="1"/>
                  <a:t>mgZ</a:t>
                </a:r>
                <a:r>
                  <a:rPr lang="en-IN" sz="2200" dirty="0"/>
                  <a:t> </a:t>
                </a:r>
              </a:p>
              <a:p>
                <a:pPr marL="0" indent="0">
                  <a:buNone/>
                </a:pPr>
                <a:r>
                  <a:rPr lang="en-IN" sz="2200" i="1" dirty="0" smtClean="0"/>
                  <a:t>                      </a:t>
                </a:r>
                <a:r>
                  <a:rPr lang="en-IN" sz="2200" b="1" i="1" dirty="0" smtClean="0">
                    <a:solidFill>
                      <a:schemeClr val="accent1"/>
                    </a:solidFill>
                  </a:rPr>
                  <a:t>potential </a:t>
                </a:r>
                <a:r>
                  <a:rPr lang="en-IN" sz="2200" b="1" i="1" dirty="0">
                    <a:solidFill>
                      <a:schemeClr val="accent1"/>
                    </a:solidFill>
                  </a:rPr>
                  <a:t>energy per unit mass = </a:t>
                </a:r>
                <a:r>
                  <a:rPr lang="en-IN" sz="2200" b="1" i="1" dirty="0" err="1">
                    <a:solidFill>
                      <a:schemeClr val="accent1"/>
                    </a:solidFill>
                  </a:rPr>
                  <a:t>gZ</a:t>
                </a:r>
                <a:r>
                  <a:rPr lang="en-IN" sz="2200" b="1" dirty="0" smtClean="0">
                    <a:solidFill>
                      <a:schemeClr val="accent1"/>
                    </a:solidFill>
                  </a:rPr>
                  <a:t>,         </a:t>
                </a:r>
                <a:r>
                  <a:rPr lang="en-IN" sz="2200" dirty="0" smtClean="0"/>
                  <a:t>units : </a:t>
                </a:r>
                <a:r>
                  <a:rPr lang="en-IN" sz="2200" b="1" dirty="0">
                    <a:solidFill>
                      <a:schemeClr val="accent1"/>
                    </a:solidFill>
                  </a:rPr>
                  <a:t>J/Kg</a:t>
                </a:r>
                <a:r>
                  <a:rPr lang="en-IN" sz="2200" dirty="0"/>
                  <a:t> in S.I system </a:t>
                </a:r>
                <a:endParaRPr lang="en-US" sz="2200" b="1" dirty="0" smtClean="0"/>
              </a:p>
              <a:p>
                <a:r>
                  <a:rPr lang="en-US" sz="2200" b="1" dirty="0" smtClean="0"/>
                  <a:t>Total </a:t>
                </a:r>
                <a:r>
                  <a:rPr lang="en-US" sz="2200" b="1" dirty="0"/>
                  <a:t>energy = Pressure energy + kinetic energy + potential energy = Constant </a:t>
                </a:r>
                <a:r>
                  <a:rPr lang="en-US" sz="2200" dirty="0" smtClean="0"/>
                  <a:t>             </a:t>
                </a:r>
              </a:p>
              <a:p>
                <a:pPr marL="0" indent="0">
                  <a:buNone/>
                </a:pPr>
                <a:r>
                  <a:rPr lang="en-US" sz="2200" dirty="0" smtClean="0"/>
                  <a:t>  </a:t>
                </a:r>
                <a:r>
                  <a:rPr lang="en-US" sz="2200" b="1" dirty="0" smtClean="0">
                    <a:solidFill>
                      <a:schemeClr val="accent1"/>
                    </a:solidFill>
                  </a:rPr>
                  <a:t>Total </a:t>
                </a:r>
                <a:r>
                  <a:rPr lang="en-US" sz="2200" b="1" dirty="0">
                    <a:solidFill>
                      <a:schemeClr val="accent1"/>
                    </a:solidFill>
                  </a:rPr>
                  <a:t>energy at any point of fluid flow is constant </a:t>
                </a:r>
                <a:r>
                  <a:rPr lang="en-IN" sz="2200" b="1" dirty="0" smtClean="0">
                    <a:solidFill>
                      <a:schemeClr val="accent1"/>
                    </a:solidFill>
                  </a:rPr>
                  <a:t>  = </a:t>
                </a:r>
                <a14:m>
                  <m:oMath xmlns:m="http://schemas.openxmlformats.org/officeDocument/2006/math">
                    <m:f>
                      <m:fPr>
                        <m:ctrlPr>
                          <a:rPr lang="en-IN" sz="2800" b="1" i="1" smtClean="0">
                            <a:solidFill>
                              <a:schemeClr val="accent1"/>
                            </a:solidFill>
                            <a:latin typeface="Cambria Math" panose="02040503050406030204" pitchFamily="18" charset="0"/>
                          </a:rPr>
                        </m:ctrlPr>
                      </m:fPr>
                      <m:num>
                        <m:r>
                          <a:rPr lang="en-US" sz="2800" b="1" i="1" smtClean="0">
                            <a:solidFill>
                              <a:schemeClr val="accent1"/>
                            </a:solidFill>
                            <a:latin typeface="Cambria Math" panose="02040503050406030204" pitchFamily="18" charset="0"/>
                          </a:rPr>
                          <m:t>𝑷</m:t>
                        </m:r>
                      </m:num>
                      <m:den>
                        <m:r>
                          <a:rPr lang="el-GR" sz="2800" b="1" i="1" smtClean="0">
                            <a:solidFill>
                              <a:schemeClr val="accent1"/>
                            </a:solidFill>
                            <a:latin typeface="Cambria Math" panose="02040503050406030204" pitchFamily="18" charset="0"/>
                          </a:rPr>
                          <m:t>𝝆</m:t>
                        </m:r>
                      </m:den>
                    </m:f>
                  </m:oMath>
                </a14:m>
                <a:r>
                  <a:rPr lang="el-GR" sz="2200" b="1" i="1" dirty="0" smtClean="0">
                    <a:solidFill>
                      <a:schemeClr val="accent1"/>
                    </a:solidFill>
                  </a:rPr>
                  <a:t> </a:t>
                </a:r>
                <a:r>
                  <a:rPr lang="el-GR" sz="2200" b="1" dirty="0">
                    <a:solidFill>
                      <a:schemeClr val="accent1"/>
                    </a:solidFill>
                  </a:rPr>
                  <a:t>+ </a:t>
                </a:r>
                <a14:m>
                  <m:oMath xmlns:m="http://schemas.openxmlformats.org/officeDocument/2006/math">
                    <m:f>
                      <m:fPr>
                        <m:ctrlPr>
                          <a:rPr lang="en-IN" sz="3200" b="1" i="1">
                            <a:solidFill>
                              <a:schemeClr val="accent1"/>
                            </a:solidFill>
                            <a:latin typeface="Cambria Math" panose="02040503050406030204" pitchFamily="18" charset="0"/>
                          </a:rPr>
                        </m:ctrlPr>
                      </m:fPr>
                      <m:num>
                        <m:r>
                          <m:rPr>
                            <m:nor/>
                          </m:rPr>
                          <a:rPr lang="en-IN" sz="2800" b="1" i="1" dirty="0">
                            <a:solidFill>
                              <a:schemeClr val="accent1"/>
                            </a:solidFill>
                          </a:rPr>
                          <m:t>u</m:t>
                        </m:r>
                        <m:r>
                          <m:rPr>
                            <m:nor/>
                          </m:rPr>
                          <a:rPr lang="en-IN" sz="2800" b="1" i="1" baseline="30000" dirty="0">
                            <a:solidFill>
                              <a:schemeClr val="accent1"/>
                            </a:solidFill>
                          </a:rPr>
                          <m:t>2</m:t>
                        </m:r>
                      </m:num>
                      <m:den>
                        <m:r>
                          <a:rPr lang="en-US" sz="3200" b="1" i="1" smtClean="0">
                            <a:solidFill>
                              <a:schemeClr val="accent1"/>
                            </a:solidFill>
                            <a:latin typeface="Cambria Math" panose="02040503050406030204" pitchFamily="18" charset="0"/>
                          </a:rPr>
                          <m:t>𝟐</m:t>
                        </m:r>
                      </m:den>
                    </m:f>
                    <m:r>
                      <a:rPr lang="en-US" sz="3200" b="1" i="0" smtClean="0">
                        <a:solidFill>
                          <a:schemeClr val="accent1"/>
                        </a:solidFill>
                        <a:latin typeface="Cambria Math" panose="02040503050406030204" pitchFamily="18" charset="0"/>
                      </a:rPr>
                      <m:t> </m:t>
                    </m:r>
                  </m:oMath>
                </a14:m>
                <a:r>
                  <a:rPr lang="en-IN" sz="2200" b="1" i="1" dirty="0" smtClean="0">
                    <a:solidFill>
                      <a:schemeClr val="accent1"/>
                    </a:solidFill>
                  </a:rPr>
                  <a:t>+ </a:t>
                </a:r>
                <a:r>
                  <a:rPr lang="en-IN" sz="2200" b="1" i="1" dirty="0" err="1">
                    <a:solidFill>
                      <a:schemeClr val="accent1"/>
                    </a:solidFill>
                  </a:rPr>
                  <a:t>gZ</a:t>
                </a:r>
                <a:r>
                  <a:rPr lang="en-IN" sz="2200" b="1" i="1" dirty="0">
                    <a:solidFill>
                      <a:schemeClr val="accent1"/>
                    </a:solidFill>
                  </a:rPr>
                  <a:t> = </a:t>
                </a:r>
                <a:r>
                  <a:rPr lang="en-IN" sz="2200" b="1" i="1" dirty="0" smtClean="0">
                    <a:solidFill>
                      <a:schemeClr val="accent1"/>
                    </a:solidFill>
                  </a:rPr>
                  <a:t>Constant</a:t>
                </a:r>
              </a:p>
              <a:p>
                <a:pPr marL="0" indent="0">
                  <a:buNone/>
                </a:pPr>
                <a:endParaRPr lang="en-US" sz="2200" b="1" i="1" dirty="0">
                  <a:solidFill>
                    <a:schemeClr val="accent1"/>
                  </a:solidFill>
                </a:endParaRPr>
              </a:p>
              <a:p>
                <a:pPr marL="0" indent="0">
                  <a:buNone/>
                </a:pPr>
                <a:endParaRPr lang="en-US" sz="2000" b="1" dirty="0" smtClean="0"/>
              </a:p>
              <a:p>
                <a:pPr marL="0" indent="0">
                  <a:buNone/>
                </a:pPr>
                <a:endParaRPr lang="en-US" sz="2000" b="1" dirty="0"/>
              </a:p>
              <a:p>
                <a:pPr marL="0" indent="0">
                  <a:buNone/>
                </a:pPr>
                <a:endParaRPr lang="en-US" sz="2000" b="1" dirty="0" smtClean="0"/>
              </a:p>
              <a:p>
                <a:pPr marL="0" indent="0">
                  <a:buNone/>
                </a:pPr>
                <a:r>
                  <a:rPr lang="en-US" sz="2000" b="1" dirty="0" smtClean="0"/>
                  <a:t>(Pressure </a:t>
                </a:r>
                <a:r>
                  <a:rPr lang="en-US" sz="2000" b="1" dirty="0"/>
                  <a:t>head</a:t>
                </a:r>
                <a:r>
                  <a:rPr lang="en-US" sz="2000" dirty="0"/>
                  <a:t> is the height of a fluid column that would produce the same </a:t>
                </a:r>
                <a:r>
                  <a:rPr lang="en-US" sz="2000" dirty="0" smtClean="0"/>
                  <a:t>pressure)</a:t>
                </a:r>
                <a:endParaRPr lang="en-IN" sz="2200" b="1" dirty="0">
                  <a:solidFill>
                    <a:schemeClr val="accent1"/>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403122"/>
                <a:ext cx="10515600" cy="6145161"/>
              </a:xfrm>
              <a:blipFill rotWithShape="0">
                <a:blip r:embed="rId2"/>
                <a:stretch>
                  <a:fillRect l="-812" t="-1389" r="-580"/>
                </a:stretch>
              </a:blipFill>
            </p:spPr>
            <p:txBody>
              <a:bodyPr/>
              <a:lstStyle/>
              <a:p>
                <a:r>
                  <a:rPr lang="en-IN">
                    <a:noFill/>
                  </a:rPr>
                  <a:t> </a:t>
                </a:r>
              </a:p>
            </p:txBody>
          </p:sp>
        </mc:Fallback>
      </mc:AlternateContent>
      <p:graphicFrame>
        <p:nvGraphicFramePr>
          <p:cNvPr id="4" name="Table 3"/>
          <p:cNvGraphicFramePr>
            <a:graphicFrameLocks noGrp="1"/>
          </p:cNvGraphicFramePr>
          <p:nvPr>
            <p:extLst>
              <p:ext uri="{D42A27DB-BD31-4B8C-83A1-F6EECF244321}">
                <p14:modId xmlns:p14="http://schemas.microsoft.com/office/powerpoint/2010/main" val="3536435317"/>
              </p:ext>
            </p:extLst>
          </p:nvPr>
        </p:nvGraphicFramePr>
        <p:xfrm>
          <a:off x="1763552" y="4251431"/>
          <a:ext cx="8127999" cy="1483360"/>
        </p:xfrm>
        <a:graphic>
          <a:graphicData uri="http://schemas.openxmlformats.org/drawingml/2006/table">
            <a:tbl>
              <a:tblPr firstRow="1" bandRow="1">
                <a:tableStyleId>{5C22544A-7EE6-4342-B048-85BDC9FD1C3A}</a:tableStyleId>
              </a:tblPr>
              <a:tblGrid>
                <a:gridCol w="2709333"/>
                <a:gridCol w="1080627"/>
                <a:gridCol w="4338039"/>
              </a:tblGrid>
              <a:tr h="370840">
                <a:tc>
                  <a:txBody>
                    <a:bodyPr/>
                    <a:lstStyle/>
                    <a:p>
                      <a:r>
                        <a:rPr lang="en-IN" b="1" dirty="0"/>
                        <a:t>Type of Energy</a:t>
                      </a:r>
                      <a:endParaRPr lang="en-IN" dirty="0"/>
                    </a:p>
                  </a:txBody>
                  <a:tcPr anchor="ctr"/>
                </a:tc>
                <a:tc>
                  <a:txBody>
                    <a:bodyPr/>
                    <a:lstStyle/>
                    <a:p>
                      <a:r>
                        <a:rPr lang="en-IN" b="1"/>
                        <a:t>Symbol</a:t>
                      </a:r>
                      <a:endParaRPr lang="en-IN"/>
                    </a:p>
                  </a:txBody>
                  <a:tcPr anchor="ctr"/>
                </a:tc>
                <a:tc>
                  <a:txBody>
                    <a:bodyPr/>
                    <a:lstStyle/>
                    <a:p>
                      <a:r>
                        <a:rPr lang="en-IN" b="1"/>
                        <a:t>What It Represents</a:t>
                      </a:r>
                      <a:endParaRPr lang="en-IN"/>
                    </a:p>
                  </a:txBody>
                  <a:tcPr anchor="ctr"/>
                </a:tc>
              </a:tr>
              <a:tr h="370840">
                <a:tc>
                  <a:txBody>
                    <a:bodyPr/>
                    <a:lstStyle/>
                    <a:p>
                      <a:r>
                        <a:rPr lang="en-IN" b="1" dirty="0"/>
                        <a:t>Pressure Energy</a:t>
                      </a:r>
                      <a:endParaRPr lang="en-IN" dirty="0"/>
                    </a:p>
                  </a:txBody>
                  <a:tcPr anchor="ctr"/>
                </a:tc>
                <a:tc>
                  <a:txBody>
                    <a:bodyPr/>
                    <a:lstStyle/>
                    <a:p>
                      <a:r>
                        <a:rPr lang="en-IN" dirty="0" smtClean="0"/>
                        <a:t>P</a:t>
                      </a:r>
                      <a:endParaRPr lang="en-IN" dirty="0"/>
                    </a:p>
                  </a:txBody>
                  <a:tcPr anchor="ctr"/>
                </a:tc>
                <a:tc>
                  <a:txBody>
                    <a:bodyPr/>
                    <a:lstStyle/>
                    <a:p>
                      <a:r>
                        <a:rPr lang="en-US"/>
                        <a:t>Energy due to the fluid’s pressure</a:t>
                      </a:r>
                    </a:p>
                  </a:txBody>
                  <a:tcPr anchor="ctr"/>
                </a:tc>
              </a:tr>
              <a:tr h="370840">
                <a:tc>
                  <a:txBody>
                    <a:bodyPr/>
                    <a:lstStyle/>
                    <a:p>
                      <a:r>
                        <a:rPr lang="en-IN" b="1"/>
                        <a:t>Kinetic Energy</a:t>
                      </a:r>
                      <a:endParaRPr lang="en-IN"/>
                    </a:p>
                  </a:txBody>
                  <a:tcPr anchor="ctr"/>
                </a:tc>
                <a:tc>
                  <a:txBody>
                    <a:bodyPr/>
                    <a:lstStyle/>
                    <a:p>
                      <a:r>
                        <a:rPr lang="en-US" dirty="0" smtClean="0"/>
                        <a:t>(</a:t>
                      </a:r>
                      <a:r>
                        <a:rPr lang="el-GR" dirty="0" smtClean="0"/>
                        <a:t>1</a:t>
                      </a:r>
                      <a:r>
                        <a:rPr lang="en-US" dirty="0" smtClean="0"/>
                        <a:t>/</a:t>
                      </a:r>
                      <a:r>
                        <a:rPr lang="el-GR" dirty="0" smtClean="0"/>
                        <a:t>2</a:t>
                      </a:r>
                      <a:r>
                        <a:rPr lang="en-US" dirty="0" smtClean="0"/>
                        <a:t>)</a:t>
                      </a:r>
                      <a:r>
                        <a:rPr lang="el-GR" dirty="0" smtClean="0"/>
                        <a:t>ρ</a:t>
                      </a:r>
                      <a:r>
                        <a:rPr lang="en-IN" dirty="0" smtClean="0"/>
                        <a:t>v</a:t>
                      </a:r>
                      <a:r>
                        <a:rPr lang="en-IN" b="1" baseline="30000" dirty="0" smtClean="0"/>
                        <a:t>2</a:t>
                      </a:r>
                      <a:endParaRPr lang="en-IN" b="1" baseline="30000" dirty="0"/>
                    </a:p>
                  </a:txBody>
                  <a:tcPr anchor="ctr"/>
                </a:tc>
                <a:tc>
                  <a:txBody>
                    <a:bodyPr/>
                    <a:lstStyle/>
                    <a:p>
                      <a:r>
                        <a:rPr lang="en-US" dirty="0"/>
                        <a:t>Energy due to the fluid’s velocity (motion)</a:t>
                      </a:r>
                    </a:p>
                  </a:txBody>
                  <a:tcPr anchor="ctr"/>
                </a:tc>
              </a:tr>
              <a:tr h="370840">
                <a:tc>
                  <a:txBody>
                    <a:bodyPr/>
                    <a:lstStyle/>
                    <a:p>
                      <a:r>
                        <a:rPr lang="en-IN" b="1"/>
                        <a:t>Potential Energy</a:t>
                      </a:r>
                      <a:endParaRPr lang="en-IN"/>
                    </a:p>
                  </a:txBody>
                  <a:tcPr anchor="ctr"/>
                </a:tc>
                <a:tc>
                  <a:txBody>
                    <a:bodyPr/>
                    <a:lstStyle/>
                    <a:p>
                      <a:r>
                        <a:rPr lang="el-GR" dirty="0"/>
                        <a:t>ρ</a:t>
                      </a:r>
                      <a:r>
                        <a:rPr lang="en-IN" dirty="0" err="1" smtClean="0"/>
                        <a:t>gh</a:t>
                      </a:r>
                      <a:endParaRPr lang="en-IN" dirty="0"/>
                    </a:p>
                  </a:txBody>
                  <a:tcPr anchor="ctr"/>
                </a:tc>
                <a:tc>
                  <a:txBody>
                    <a:bodyPr/>
                    <a:lstStyle/>
                    <a:p>
                      <a:r>
                        <a:rPr lang="en-US" dirty="0"/>
                        <a:t>Energy due to height above a reference level</a:t>
                      </a:r>
                    </a:p>
                  </a:txBody>
                  <a:tcPr anchor="ctr"/>
                </a:tc>
              </a:tr>
            </a:tbl>
          </a:graphicData>
        </a:graphic>
      </p:graphicFrame>
    </p:spTree>
    <p:extLst>
      <p:ext uri="{BB962C8B-B14F-4D97-AF65-F5344CB8AC3E}">
        <p14:creationId xmlns:p14="http://schemas.microsoft.com/office/powerpoint/2010/main" val="1275469722"/>
      </p:ext>
    </p:extLst>
  </p:cSld>
  <p:clrMapOvr>
    <a:masterClrMapping/>
  </p:clrMapOvr>
</p:sld>
</file>

<file path=ppt/theme/theme1.xml><?xml version="1.0" encoding="utf-8"?>
<a:theme xmlns:a="http://schemas.openxmlformats.org/drawingml/2006/main" name="Office Theme">
  <a:themeElements>
    <a:clrScheme name="Red Violet">
      <a:dk1>
        <a:sysClr val="windowText" lastClr="000000"/>
      </a:dk1>
      <a:lt1>
        <a:sysClr val="window" lastClr="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7420</TotalTime>
  <Words>5123</Words>
  <Application>Microsoft Office PowerPoint</Application>
  <PresentationFormat>Widescreen</PresentationFormat>
  <Paragraphs>417</Paragraphs>
  <Slides>45</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45</vt:i4>
      </vt:variant>
    </vt:vector>
  </HeadingPairs>
  <TitlesOfParts>
    <vt:vector size="52" baseType="lpstr">
      <vt:lpstr>Arial</vt:lpstr>
      <vt:lpstr>Calibri</vt:lpstr>
      <vt:lpstr>Calibri Light</vt:lpstr>
      <vt:lpstr>Cambria Math</vt:lpstr>
      <vt:lpstr>Times New Roman</vt:lpstr>
      <vt:lpstr>Wingdings</vt:lpstr>
      <vt:lpstr>Office Theme</vt:lpstr>
      <vt:lpstr>UNIT OPERATIONS AND FLUID MECHANICS </vt:lpstr>
      <vt:lpstr>PowerPoint Presentation</vt:lpstr>
      <vt:lpstr>FLUID MECHANICS </vt:lpstr>
      <vt:lpstr>Fluid mechanics is an important area of engineering science.  </vt:lpstr>
      <vt:lpstr>Figure 7.2 Streamlines for  (a) constant fluid velocity;  (b)steady flow over a submerged object.</vt:lpstr>
      <vt:lpstr>PowerPoint Presentation</vt:lpstr>
      <vt:lpstr>Classification of Fluids </vt:lpstr>
      <vt:lpstr>Fluids are also classified on the basis of viscosity</vt:lpstr>
      <vt:lpstr>Fluids in Motion</vt:lpstr>
      <vt:lpstr>Reynolds Number</vt:lpstr>
      <vt:lpstr>PowerPoint Presentation</vt:lpstr>
      <vt:lpstr>PowerPoint Presentation</vt:lpstr>
      <vt:lpstr>Hydrodynamic Boundary Layers </vt:lpstr>
      <vt:lpstr>PowerPoint Presentation</vt:lpstr>
      <vt:lpstr>Difference between viscosity, Drag, friction. </vt:lpstr>
      <vt:lpstr>PowerPoint Presentation</vt:lpstr>
      <vt:lpstr>Boundary-Layer Separation</vt:lpstr>
      <vt:lpstr>When it occurs </vt:lpstr>
      <vt:lpstr>Viscosity </vt:lpstr>
      <vt:lpstr>Couette flow</vt:lpstr>
      <vt:lpstr>PowerPoint Presentation</vt:lpstr>
      <vt:lpstr>Viscosity Comparison Table</vt:lpstr>
      <vt:lpstr>Fluids can be classified further as  </vt:lpstr>
      <vt:lpstr>Momentum transfer</vt:lpstr>
      <vt:lpstr>Non Newtonian fluids</vt:lpstr>
      <vt:lpstr>Two-Parameter Models</vt:lpstr>
      <vt:lpstr>PowerPoint Presentation</vt:lpstr>
      <vt:lpstr>are flow curves for plastic flow</vt:lpstr>
      <vt:lpstr>PowerPoint Presentation</vt:lpstr>
      <vt:lpstr>PowerPoint Presentation</vt:lpstr>
      <vt:lpstr>Hydrostatic equilibrium</vt:lpstr>
      <vt:lpstr>Derivation of pressure head</vt:lpstr>
      <vt:lpstr>Hydrostatic equilibrium Applications</vt:lpstr>
      <vt:lpstr>The continuity equation</vt:lpstr>
      <vt:lpstr>Newton’s laws of motion </vt:lpstr>
      <vt:lpstr>Bernoulli's Principle</vt:lpstr>
      <vt:lpstr>PowerPoint Presentation</vt:lpstr>
      <vt:lpstr>Bernoulli’s theorem for steady flow of an incompressible fluid.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OPERATIONS AND FLUID MECHANICS </dc:title>
  <dc:creator>Microsoft account</dc:creator>
  <cp:lastModifiedBy>Microsoft account</cp:lastModifiedBy>
  <cp:revision>230</cp:revision>
  <dcterms:created xsi:type="dcterms:W3CDTF">2025-07-16T14:16:10Z</dcterms:created>
  <dcterms:modified xsi:type="dcterms:W3CDTF">2026-05-26T17:28:19Z</dcterms:modified>
</cp:coreProperties>
</file>